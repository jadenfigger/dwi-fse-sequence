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3BB658B-42DE-442A-99D8-BBBD18C3A753}">
  <a:tblStyle styleId="{73BB658B-42DE-442A-99D8-BBBD18C3A753}"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6" Type="http://schemas.openxmlformats.org/officeDocument/2006/relationships/slide" Target="slides/slide10.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h3aa251f47fddea1b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 name="Google Shape;25;h3aa251f47fddea1b_1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 name="Google Shape;31;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Source: FSE-DWI_09-29-2026_v16_test0.nii.gz</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Shape: (128, 128, 3, 2)</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Shell direction index: 0; None means shell mean. Index uses original volume order within each shell, not b-vector matching. When selecting a direction, shells with max b &lt;= 5 s/mm² use the first baseline volume.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Slice index (0-based): 1; voxel axis: 2; axis directions: ('R', 'A', 'S'); canonical: False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Display: transpose, origin lower, rotation 0 degrees, flip_lr=False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Reconstructed-image display zoom: 1.45x; shifts: x=0.3, y=-8.7 source pixels after rotation/flip (positive right/up). K-space full view, no translation.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FFT: fftshift(fft2(ifftshift(slice), norm="backward")); 2D in-plane transform.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K-space display: ln(1 + abs(FFT)).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Color limits: panel; lower=0, image upper percentile=100.0, FFT upper percentile=100.0. Shared limits span all slides.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Per-shell reconstructed-image upper limit overrides: [None, None]. Lower limit=0.</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Intensity and Fourier amplitude are arbitrary units; the log transform uses those numeric amplitudes.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FFT of magnitude/real NIfTI image; acquired phase unavailable. Even complex reconstructed images need not reproduce raw scanner data.</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When direction selection is disabled, b-value groups use the arithmetic mean of source image slices before FFT. When enabled, the selected volume alone supplies the reconstructed image, Fourier spectrum, and SNR. (complex mean for complex inputs). This is the FFT of the mean image, not mean raw k-space magnitude.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b = 0 s/mm²: source volume indices [0] (0-based)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b = 6000 s/mm²: source volume indices [1] (0-based)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SNR: supplied snr_utils.image_snr on the full selected magnitude slice, before zoom/translation/contrast. noise_width=16; mask_method=max_fraction; mask_level=0.5. For grouped shells this is SNR of the mean image, not mean individual SNR.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b = 0 s/mm²: {'snr': 13.947386028540903, 'signal_mean': 0.2830026573666902, 'noise_sigma': 0.020290730950414254, 'n_signal_px': 535, 'corners_suspect': False}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b = 6000 s/mm²: {'snr': 3.619667410223047, 'signal_mean': 0.07689407025463879, 'noise_sigma': 0.02124340762288448, 'n_signal_px': 320, 'corners_suspect': False}</a:t>
            </a:r>
            <a:endParaRPr/>
          </a:p>
        </p:txBody>
      </p:sp>
      <p:sp>
        <p:nvSpPr>
          <p:cNvPr id="32" name="Google Shape;32;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h3aa251f47fddea1b_1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 name="Google Shape;44;h3aa251f47fddea1b_1_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 name="Google Shape;50;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Source: FSE-DWI_09-29-2026_v16_test2.nii.gz</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Shape: (128, 128, 3, 2)</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Shell direction index: 0; None means shell mean. Index uses original volume order within each shell, not b-vector matching. When selecting a direction, shells with max b &lt;= 5 s/mm² use the first baseline volume.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Slice index (0-based): 1; voxel axis: 2; axis directions: ('R', 'A', 'S'); canonical: False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Display: transpose, origin lower, rotation 0 degrees, flip_lr=False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Reconstructed-image display zoom: 1.45x; shifts: x=0.3, y=-8.7 source pixels after rotation/flip (positive right/up). K-space full view, no translation.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FFT: fftshift(fft2(ifftshift(slice), norm="backward")); 2D in-plane transform.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K-space display: ln(1 + abs(FFT)).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Color limits: panel; lower=0, image upper percentile=100.0, FFT upper percentile=100.0. Shared limits span all slides.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Per-shell reconstructed-image upper limit overrides: [None, None]. Lower limit=0.</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Intensity and Fourier amplitude are arbitrary units; the log transform uses those numeric amplitudes.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FFT of magnitude/real NIfTI image; acquired phase unavailable. Even complex reconstructed images need not reproduce raw scanner data.</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When direction selection is disabled, b-value groups use the arithmetic mean of source image slices before FFT. When enabled, the selected volume alone supplies the reconstructed image, Fourier spectrum, and SNR. (complex mean for complex inputs). This is the FFT of the mean image, not mean raw k-space magnitude.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b = 0 s/mm²: source volume indices [0] (0-based)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b = 6000 s/mm²: source volume indices [1] (0-based)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SNR: supplied snr_utils.image_snr on the full selected magnitude slice, before zoom/translation/contrast. noise_width=16; mask_method=max_fraction; mask_level=0.5. For grouped shells this is SNR of the mean image, not mean individual SNR.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b = 0 s/mm²: {'snr': 6.181899506443754, 'signal_mean': 0.1250675469636917, 'noise_sigma': 0.020231248798743252, 'n_signal_px': 8, 'corners_suspect': False}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b = 6000 s/mm²: {'snr': 3.091169288553505, 'signal_mean': 0.061270498936330235, 'noise_sigma': 0.019821139904311554, 'n_signal_px': 666, 'corners_suspect': False}</a:t>
            </a:r>
            <a:endParaRPr/>
          </a:p>
        </p:txBody>
      </p:sp>
      <p:sp>
        <p:nvSpPr>
          <p:cNvPr id="51" name="Google Shape;51;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h3aa251f47fddea1b_1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h3aa251f47fddea1b_1_10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 name="Google Shape;69;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Source: FSE-DWI_09-29-2026_v16_test4.nii.gz</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Shape: (128, 128, 3, 2)</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Shell direction index: 0; None means shell mean. Index uses original volume order within each shell, not b-vector matching. When selecting a direction, shells with max b &lt;= 5 s/mm² use the first baseline volume.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Slice index (0-based): 1; voxel axis: 2; axis directions: ('R', 'A', 'S'); canonical: False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Display: transpose, origin lower, rotation 0 degrees, flip_lr=False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Reconstructed-image display zoom: 1.45x; shifts: x=0.3, y=-8.7 source pixels after rotation/flip (positive right/up). K-space full view, no translation.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FFT: fftshift(fft2(ifftshift(slice), norm="backward")); 2D in-plane transform.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K-space display: ln(1 + abs(FFT)).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Color limits: panel; lower=0, image upper percentile=100.0, FFT upper percentile=100.0. Shared limits span all slides.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Per-shell reconstructed-image upper limit overrides: [None, None]. Lower limit=0.</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Intensity and Fourier amplitude are arbitrary units; the log transform uses those numeric amplitudes.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FFT of magnitude/real NIfTI image; acquired phase unavailable. Even complex reconstructed images need not reproduce raw scanner data.</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When direction selection is disabled, b-value groups use the arithmetic mean of source image slices before FFT. When enabled, the selected volume alone supplies the reconstructed image, Fourier spectrum, and SNR. (complex mean for complex inputs). This is the FFT of the mean image, not mean raw k-space magnitude.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b = 0 s/mm²: source volume indices [0] (0-based)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b = 6000 s/mm²: source volume indices [1] (0-based)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SNR: supplied snr_utils.image_snr on the full selected magnitude slice, before zoom/translation/contrast. noise_width=16; mask_method=max_fraction; mask_level=0.5. For grouped shells this is SNR of the mean image, not mean individual SNR.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b = 0 s/mm²: {'snr': 7.90624326420179, 'signal_mean': 0.16238585508921566, 'noise_sigma': 0.020538939881153535, 'n_signal_px': 17, 'corners_suspect': False}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b = 6000 s/mm²: {'snr': 2.52404615061825, 'signal_mean': 0.05419175096147053, 'noise_sigma': 0.021470190213517523, 'n_signal_px': 1665, 'corners_suspect': False}</a:t>
            </a:r>
            <a:endParaRPr/>
          </a:p>
        </p:txBody>
      </p:sp>
      <p:sp>
        <p:nvSpPr>
          <p:cNvPr id="70" name="Google Shape;70;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h3aa251f47fddea1b_1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h3aa251f47fddea1b_1_1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Source: FSE-DWI_09-29-2026_v16_test3.nii.gz</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Shape: (128, 128, 3, 2)</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Shell direction index: 0; None means shell mean. Index uses original volume order within each shell, not b-vector matching. When selecting a direction, shells with max b &lt;= 5 s/mm² use the first baseline volume.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Slice index (0-based): 1; voxel axis: 2; axis directions: ('R', 'A', 'S'); canonical: False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Display: transpose, origin lower, rotation 0 degrees, flip_lr=False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Reconstructed-image display zoom: 1.45x; shifts: x=0.3, y=-8.7 source pixels after rotation/flip (positive right/up). K-space full view, no translation.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FFT: fftshift(fft2(ifftshift(slice), norm="backward")); 2D in-plane transform.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K-space display: ln(1 + abs(FFT)).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Color limits: panel; lower=0, image upper percentile=100.0, FFT upper percentile=100.0. Shared limits span all slides.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Per-shell reconstructed-image upper limit overrides: [None, None]. Lower limit=0.</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Intensity and Fourier amplitude are arbitrary units; the log transform uses those numeric amplitudes.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FFT of magnitude/real NIfTI image; acquired phase unavailable. Even complex reconstructed images need not reproduce raw scanner data.</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When direction selection is disabled, b-value groups use the arithmetic mean of source image slices before FFT. When enabled, the selected volume alone supplies the reconstructed image, Fourier spectrum, and SNR. (complex mean for complex inputs). This is the FFT of the mean image, not mean raw k-space magnitude.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b = 0 s/mm²: source volume indices [0] (0-based)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b = 6000 s/mm²: source volume indices [1] (0-based)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SNR: supplied snr_utils.image_snr on the full selected magnitude slice, before zoom/translation/contrast. noise_width=16; mask_method=max_fraction; mask_level=0.5. For grouped shells this is SNR of the mean image, not mean individual SNR.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b = 0 s/mm²: {'snr': 10.829952827690484, 'signal_mean': 0.21768605411052705, 'noise_sigma': 0.02010036955599087, 'n_signal_px': 15, 'corners_suspect': False}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b = 6000 s/mm²: {'snr': 2.853256593445526, 'signal_mean': 0.0582602731237335, 'noise_sigma': 0.020418869181821377, 'n_signal_px': 1153, 'corners_suspect': False}</a:t>
            </a:r>
            <a:endParaRPr/>
          </a:p>
        </p:txBody>
      </p:sp>
      <p:sp>
        <p:nvSpPr>
          <p:cNvPr id="89" name="Google Shape;89;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h3aa251f47fddea1b_1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h3aa251f47fddea1b_1_1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h3aa251f47fddea1b_1_1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h3aa251f47fddea1b_1_1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h3aa251f47fddea1b_1_119: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3"/>
          <p:cNvSpPr txBox="1"/>
          <p:nvPr>
            <p:ph type="title"/>
          </p:nvPr>
        </p:nvSpPr>
        <p:spPr>
          <a:xfrm>
            <a:off x="311700" y="445025"/>
            <a:ext cx="8520600" cy="572700"/>
          </a:xfrm>
          <a:prstGeom prst="rect">
            <a:avLst/>
          </a:prstGeom>
        </p:spPr>
        <p:txBody>
          <a:bodyPr anchorCtr="0" anchor="ctr" bIns="45700" lIns="91425" spcFirstLastPara="1" rIns="91425" wrap="square" tIns="45700">
            <a:normAutofit/>
          </a:bodyPr>
          <a:lstStyle>
            <a:lvl1pPr lvl="0">
              <a:spcBef>
                <a:spcPts val="0"/>
              </a:spcBef>
              <a:spcAft>
                <a:spcPts val="0"/>
              </a:spcAft>
              <a:buSzPts val="4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 type="body"/>
          </p:nvPr>
        </p:nvSpPr>
        <p:spPr>
          <a:xfrm>
            <a:off x="311700" y="1152475"/>
            <a:ext cx="8520600" cy="3416400"/>
          </a:xfrm>
          <a:prstGeom prst="rect">
            <a:avLst/>
          </a:prstGeom>
        </p:spPr>
        <p:txBody>
          <a:bodyPr anchorCtr="0" anchor="t" bIns="45700" lIns="91425" spcFirstLastPara="1" rIns="91425" wrap="square" tIns="45700">
            <a:normAutofit/>
          </a:bodyPr>
          <a:lstStyle>
            <a:lvl1pPr indent="-431800" lvl="0" marL="457200">
              <a:spcBef>
                <a:spcPts val="640"/>
              </a:spcBef>
              <a:spcAft>
                <a:spcPts val="0"/>
              </a:spcAft>
              <a:buSzPts val="3200"/>
              <a:buChar char="•"/>
              <a:defRPr/>
            </a:lvl1pPr>
            <a:lvl2pPr indent="-406400" lvl="1" marL="914400">
              <a:spcBef>
                <a:spcPts val="560"/>
              </a:spcBef>
              <a:spcAft>
                <a:spcPts val="0"/>
              </a:spcAft>
              <a:buSzPts val="2800"/>
              <a:buChar char="–"/>
              <a:defRPr/>
            </a:lvl2pPr>
            <a:lvl3pPr indent="-381000" lvl="2" marL="1371600">
              <a:spcBef>
                <a:spcPts val="480"/>
              </a:spcBef>
              <a:spcAft>
                <a:spcPts val="0"/>
              </a:spcAft>
              <a:buSzPts val="2400"/>
              <a:buChar char="•"/>
              <a:defRPr/>
            </a:lvl3pPr>
            <a:lvl4pPr indent="-355600" lvl="3" marL="1828800">
              <a:spcBef>
                <a:spcPts val="400"/>
              </a:spcBef>
              <a:spcAft>
                <a:spcPts val="0"/>
              </a:spcAft>
              <a:buSzPts val="2000"/>
              <a:buChar char="–"/>
              <a:defRPr/>
            </a:lvl4pPr>
            <a:lvl5pPr indent="-355600" lvl="4" marL="2286000">
              <a:spcBef>
                <a:spcPts val="400"/>
              </a:spcBef>
              <a:spcAft>
                <a:spcPts val="0"/>
              </a:spcAft>
              <a:buSzPts val="2000"/>
              <a:buChar char="»"/>
              <a:defRPr/>
            </a:lvl5pPr>
            <a:lvl6pPr indent="-355600" lvl="5" marL="2743200">
              <a:spcBef>
                <a:spcPts val="400"/>
              </a:spcBef>
              <a:spcAft>
                <a:spcPts val="0"/>
              </a:spcAft>
              <a:buSzPts val="2000"/>
              <a:buChar char="•"/>
              <a:defRPr/>
            </a:lvl6pPr>
            <a:lvl7pPr indent="-355600" lvl="6" marL="3200400">
              <a:spcBef>
                <a:spcPts val="400"/>
              </a:spcBef>
              <a:spcAft>
                <a:spcPts val="0"/>
              </a:spcAft>
              <a:buSzPts val="2000"/>
              <a:buChar char="•"/>
              <a:defRPr/>
            </a:lvl7pPr>
            <a:lvl8pPr indent="-355600" lvl="7" marL="3657600">
              <a:spcBef>
                <a:spcPts val="400"/>
              </a:spcBef>
              <a:spcAft>
                <a:spcPts val="0"/>
              </a:spcAft>
              <a:buSzPts val="2000"/>
              <a:buChar char="•"/>
              <a:defRPr/>
            </a:lvl8pPr>
            <a:lvl9pPr indent="-355600" lvl="8" marL="4114800">
              <a:spcBef>
                <a:spcPts val="400"/>
              </a:spcBef>
              <a:spcAft>
                <a:spcPts val="0"/>
              </a:spcAft>
              <a:buSzPts val="2000"/>
              <a:buChar char="•"/>
              <a:defRPr/>
            </a:lvl9pPr>
          </a:lstStyle>
          <a:p/>
        </p:txBody>
      </p:sp>
      <p:sp>
        <p:nvSpPr>
          <p:cNvPr id="22" name="Google Shape;22;p3"/>
          <p:cNvSpPr txBox="1"/>
          <p:nvPr>
            <p:ph idx="12" type="sldNum"/>
          </p:nvPr>
        </p:nvSpPr>
        <p:spPr>
          <a:xfrm>
            <a:off x="8472458" y="4663217"/>
            <a:ext cx="548700" cy="393600"/>
          </a:xfrm>
          <a:prstGeom prst="rect">
            <a:avLst/>
          </a:prstGeom>
        </p:spPr>
        <p:txBody>
          <a:bodyPr anchorCtr="0" anchor="ctr" bIns="45700" lIns="91425" spcFirstLastPara="1" rIns="91425" wrap="square" tIns="457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4.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10.png"/><Relationship Id="rId5" Type="http://schemas.openxmlformats.org/officeDocument/2006/relationships/image" Target="../media/image13.png"/><Relationship Id="rId6"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5.png"/><Relationship Id="rId6"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15.png"/><Relationship Id="rId5" Type="http://schemas.openxmlformats.org/officeDocument/2006/relationships/image" Target="../media/image11.png"/><Relationship Id="rId6"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 name="Shape 26"/>
        <p:cNvGrpSpPr/>
        <p:nvPr/>
      </p:nvGrpSpPr>
      <p:grpSpPr>
        <a:xfrm>
          <a:off x="0" y="0"/>
          <a:ext cx="0" cy="0"/>
          <a:chOff x="0" y="0"/>
          <a:chExt cx="0" cy="0"/>
        </a:xfrm>
      </p:grpSpPr>
      <p:graphicFrame>
        <p:nvGraphicFramePr>
          <p:cNvPr id="27" name="Google Shape;27;p4"/>
          <p:cNvGraphicFramePr/>
          <p:nvPr/>
        </p:nvGraphicFramePr>
        <p:xfrm>
          <a:off x="301942" y="528517"/>
          <a:ext cx="3000000" cy="3000000"/>
        </p:xfrm>
        <a:graphic>
          <a:graphicData uri="http://schemas.openxmlformats.org/drawingml/2006/table">
            <a:tbl>
              <a:tblPr>
                <a:noFill/>
                <a:tableStyleId>{73BB658B-42DE-442A-99D8-BBBD18C3A753}</a:tableStyleId>
              </a:tblPr>
              <a:tblGrid>
                <a:gridCol w="4466125"/>
                <a:gridCol w="4122650"/>
              </a:tblGrid>
              <a:tr h="438100">
                <a:tc>
                  <a:txBody>
                    <a:bodyPr/>
                    <a:lstStyle/>
                    <a:p>
                      <a:pPr indent="0" lvl="0" marL="0" marR="0" rtl="0" algn="l">
                        <a:spcBef>
                          <a:spcPts val="0"/>
                        </a:spcBef>
                        <a:spcAft>
                          <a:spcPts val="0"/>
                        </a:spcAft>
                        <a:buNone/>
                      </a:pPr>
                      <a:r>
                        <a:rPr lang="en-US" sz="1200">
                          <a:solidFill>
                            <a:schemeClr val="dk1"/>
                          </a:solidFill>
                          <a:latin typeface="Times New Roman"/>
                          <a:ea typeface="Times New Roman"/>
                          <a:cs typeface="Times New Roman"/>
                          <a:sym typeface="Times New Roman"/>
                        </a:rPr>
                        <a:t>Total Scan Time</a:t>
                      </a:r>
                      <a:endParaRPr sz="1200" u="none" cap="none" strike="noStrike">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c>
                  <a:txBody>
                    <a:bodyPr/>
                    <a:lstStyle/>
                    <a:p>
                      <a:pPr indent="0" lvl="0" marL="0" marR="0" rtl="0" algn="l">
                        <a:spcBef>
                          <a:spcPts val="0"/>
                        </a:spcBef>
                        <a:spcAft>
                          <a:spcPts val="0"/>
                        </a:spcAft>
                        <a:buNone/>
                      </a:pPr>
                      <a:r>
                        <a:rPr lang="en-US" sz="1200">
                          <a:solidFill>
                            <a:schemeClr val="dk1"/>
                          </a:solidFill>
                          <a:latin typeface="Times New Roman"/>
                          <a:ea typeface="Times New Roman"/>
                          <a:cs typeface="Times New Roman"/>
                          <a:sym typeface="Times New Roman"/>
                        </a:rPr>
                        <a:t>44 </a:t>
                      </a:r>
                      <a:r>
                        <a:rPr lang="en-US" sz="1200">
                          <a:solidFill>
                            <a:schemeClr val="dk1"/>
                          </a:solidFill>
                          <a:latin typeface="Times New Roman"/>
                          <a:ea typeface="Times New Roman"/>
                          <a:cs typeface="Times New Roman"/>
                          <a:sym typeface="Times New Roman"/>
                        </a:rPr>
                        <a:t>seconds </a:t>
                      </a:r>
                      <a:endParaRPr sz="1200">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r>
              <a:tr h="438100">
                <a:tc>
                  <a:txBody>
                    <a:bodyPr/>
                    <a:lstStyle/>
                    <a:p>
                      <a:pPr indent="0" lvl="0" marL="0" marR="0" rtl="0" algn="l">
                        <a:spcBef>
                          <a:spcPts val="0"/>
                        </a:spcBef>
                        <a:spcAft>
                          <a:spcPts val="0"/>
                        </a:spcAft>
                        <a:buClr>
                          <a:srgbClr val="6E767C"/>
                        </a:buClr>
                        <a:buSzPts val="1050"/>
                        <a:buFont typeface="Calibri"/>
                        <a:buNone/>
                      </a:pPr>
                      <a:r>
                        <a:rPr lang="en-US" sz="1200" u="none" cap="none" strike="noStrike">
                          <a:solidFill>
                            <a:schemeClr val="dk1"/>
                          </a:solidFill>
                          <a:latin typeface="Times New Roman"/>
                          <a:ea typeface="Times New Roman"/>
                          <a:cs typeface="Times New Roman"/>
                          <a:sym typeface="Times New Roman"/>
                        </a:rPr>
                        <a:t>TR, TE, </a:t>
                      </a:r>
                      <a:r>
                        <a:rPr lang="en-US" sz="1200">
                          <a:solidFill>
                            <a:schemeClr val="dk1"/>
                          </a:solidFill>
                          <a:latin typeface="Times New Roman"/>
                          <a:ea typeface="Times New Roman"/>
                          <a:cs typeface="Times New Roman"/>
                          <a:sym typeface="Times New Roman"/>
                        </a:rPr>
                        <a:t>esp</a:t>
                      </a:r>
                      <a:endParaRPr sz="1200" u="none" cap="none" strike="noStrike">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c>
                  <a:txBody>
                    <a:bodyPr/>
                    <a:lstStyle/>
                    <a:p>
                      <a:pPr indent="0" lvl="0" marL="0" marR="0" rtl="0" algn="l">
                        <a:spcBef>
                          <a:spcPts val="0"/>
                        </a:spcBef>
                        <a:spcAft>
                          <a:spcPts val="0"/>
                        </a:spcAft>
                        <a:buClr>
                          <a:srgbClr val="D2691E"/>
                        </a:buClr>
                        <a:buSzPts val="1050"/>
                        <a:buFont typeface="Calibri"/>
                        <a:buNone/>
                      </a:pPr>
                      <a:r>
                        <a:rPr lang="en-US" sz="1200">
                          <a:solidFill>
                            <a:schemeClr val="dk1"/>
                          </a:solidFill>
                          <a:latin typeface="Times New Roman"/>
                          <a:ea typeface="Times New Roman"/>
                          <a:cs typeface="Times New Roman"/>
                          <a:sym typeface="Times New Roman"/>
                        </a:rPr>
                        <a:t>2000 ms / 54 ms / 16 ms</a:t>
                      </a:r>
                      <a:endParaRPr sz="1200" u="none" cap="none" strike="noStrike">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r>
              <a:tr h="438100">
                <a:tc>
                  <a:txBody>
                    <a:bodyPr/>
                    <a:lstStyle/>
                    <a:p>
                      <a:pPr indent="0" lvl="0" marL="0" marR="0" rtl="0" algn="l">
                        <a:spcBef>
                          <a:spcPts val="0"/>
                        </a:spcBef>
                        <a:spcAft>
                          <a:spcPts val="0"/>
                        </a:spcAft>
                        <a:buNone/>
                      </a:pPr>
                      <a:r>
                        <a:rPr lang="en-US" sz="1200">
                          <a:solidFill>
                            <a:schemeClr val="dk1"/>
                          </a:solidFill>
                          <a:latin typeface="Times New Roman"/>
                          <a:ea typeface="Times New Roman"/>
                          <a:cs typeface="Times New Roman"/>
                          <a:sym typeface="Times New Roman"/>
                        </a:rPr>
                        <a:t>PE_order</a:t>
                      </a:r>
                      <a:endParaRPr sz="1200" u="none" cap="none" strike="noStrike">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c>
                  <a:txBody>
                    <a:bodyPr/>
                    <a:lstStyle/>
                    <a:p>
                      <a:pPr indent="0" lvl="0" marL="0" marR="0" rtl="0" algn="l">
                        <a:spcBef>
                          <a:spcPts val="0"/>
                        </a:spcBef>
                        <a:spcAft>
                          <a:spcPts val="0"/>
                        </a:spcAft>
                        <a:buNone/>
                      </a:pPr>
                      <a:r>
                        <a:rPr lang="en-US" sz="1200">
                          <a:solidFill>
                            <a:schemeClr val="dk1"/>
                          </a:solidFill>
                          <a:highlight>
                            <a:srgbClr val="FFFF00"/>
                          </a:highlight>
                          <a:latin typeface="Times New Roman"/>
                          <a:ea typeface="Times New Roman"/>
                          <a:cs typeface="Times New Roman"/>
                          <a:sym typeface="Times New Roman"/>
                        </a:rPr>
                        <a:t>1</a:t>
                      </a:r>
                      <a:endParaRPr sz="1200">
                        <a:solidFill>
                          <a:schemeClr val="dk1"/>
                        </a:solidFill>
                        <a:highlight>
                          <a:srgbClr val="FFFF00"/>
                        </a:highlight>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r>
              <a:tr h="438100">
                <a:tc>
                  <a:txBody>
                    <a:bodyPr/>
                    <a:lstStyle/>
                    <a:p>
                      <a:pPr indent="0" lvl="0" marL="0" marR="0" rtl="0" algn="l">
                        <a:spcBef>
                          <a:spcPts val="0"/>
                        </a:spcBef>
                        <a:spcAft>
                          <a:spcPts val="0"/>
                        </a:spcAft>
                        <a:buClr>
                          <a:srgbClr val="6E767C"/>
                        </a:buClr>
                        <a:buSzPts val="1050"/>
                        <a:buFont typeface="Calibri"/>
                        <a:buNone/>
                      </a:pPr>
                      <a:r>
                        <a:rPr lang="en-US" sz="1200" u="none" cap="none" strike="noStrike">
                          <a:solidFill>
                            <a:schemeClr val="dk1"/>
                          </a:solidFill>
                          <a:latin typeface="Times New Roman"/>
                          <a:ea typeface="Times New Roman"/>
                          <a:cs typeface="Times New Roman"/>
                          <a:sym typeface="Times New Roman"/>
                        </a:rPr>
                        <a:t>ETL / </a:t>
                      </a:r>
                      <a:r>
                        <a:rPr lang="en-US" sz="1200">
                          <a:solidFill>
                            <a:schemeClr val="dk1"/>
                          </a:solidFill>
                          <a:latin typeface="Times New Roman"/>
                          <a:ea typeface="Times New Roman"/>
                          <a:cs typeface="Times New Roman"/>
                          <a:sym typeface="Times New Roman"/>
                        </a:rPr>
                        <a:t>A</a:t>
                      </a:r>
                      <a:r>
                        <a:rPr lang="en-US" sz="1200" u="none" cap="none" strike="noStrike">
                          <a:solidFill>
                            <a:schemeClr val="dk1"/>
                          </a:solidFill>
                          <a:latin typeface="Times New Roman"/>
                          <a:ea typeface="Times New Roman"/>
                          <a:cs typeface="Times New Roman"/>
                          <a:sym typeface="Times New Roman"/>
                        </a:rPr>
                        <a:t>verages</a:t>
                      </a:r>
                      <a:endParaRPr sz="1200" u="none" cap="none" strike="noStrike">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c>
                  <a:txBody>
                    <a:bodyPr/>
                    <a:lstStyle/>
                    <a:p>
                      <a:pPr indent="0" lvl="0" marL="0" marR="0" rtl="0" algn="l">
                        <a:spcBef>
                          <a:spcPts val="0"/>
                        </a:spcBef>
                        <a:spcAft>
                          <a:spcPts val="0"/>
                        </a:spcAft>
                        <a:buClr>
                          <a:srgbClr val="22282B"/>
                        </a:buClr>
                        <a:buSzPts val="1050"/>
                        <a:buFont typeface="Calibri"/>
                        <a:buNone/>
                      </a:pPr>
                      <a:r>
                        <a:rPr lang="en-US" sz="1200">
                          <a:solidFill>
                            <a:schemeClr val="dk1"/>
                          </a:solidFill>
                          <a:latin typeface="Times New Roman"/>
                          <a:ea typeface="Times New Roman"/>
                          <a:cs typeface="Times New Roman"/>
                          <a:sym typeface="Times New Roman"/>
                        </a:rPr>
                        <a:t>16</a:t>
                      </a:r>
                      <a:r>
                        <a:rPr lang="en-US" sz="1200">
                          <a:solidFill>
                            <a:schemeClr val="dk1"/>
                          </a:solidFill>
                          <a:latin typeface="Times New Roman"/>
                          <a:ea typeface="Times New Roman"/>
                          <a:cs typeface="Times New Roman"/>
                          <a:sym typeface="Times New Roman"/>
                        </a:rPr>
                        <a:t> / 1</a:t>
                      </a:r>
                      <a:endParaRPr sz="1200" u="none" cap="none" strike="noStrike">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r>
              <a:tr h="438100">
                <a:tc>
                  <a:txBody>
                    <a:bodyPr/>
                    <a:lstStyle/>
                    <a:p>
                      <a:pPr indent="0" lvl="0" marL="0" marR="0" rtl="0" algn="l">
                        <a:spcBef>
                          <a:spcPts val="0"/>
                        </a:spcBef>
                        <a:spcAft>
                          <a:spcPts val="0"/>
                        </a:spcAft>
                        <a:buNone/>
                      </a:pPr>
                      <a:r>
                        <a:rPr lang="en-US" sz="1200">
                          <a:solidFill>
                            <a:schemeClr val="dk1"/>
                          </a:solidFill>
                          <a:latin typeface="Times New Roman"/>
                          <a:ea typeface="Times New Roman"/>
                          <a:cs typeface="Times New Roman"/>
                          <a:sym typeface="Times New Roman"/>
                        </a:rPr>
                        <a:t>FOV</a:t>
                      </a:r>
                      <a:endParaRPr sz="1200" u="none" cap="none" strike="noStrike">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c>
                  <a:txBody>
                    <a:bodyPr/>
                    <a:lstStyle/>
                    <a:p>
                      <a:pPr indent="0" lvl="0" marL="0" marR="0" rtl="0" algn="l">
                        <a:spcBef>
                          <a:spcPts val="0"/>
                        </a:spcBef>
                        <a:spcAft>
                          <a:spcPts val="0"/>
                        </a:spcAft>
                        <a:buNone/>
                      </a:pPr>
                      <a:r>
                        <a:rPr lang="en-US" sz="1200">
                          <a:solidFill>
                            <a:schemeClr val="dk1"/>
                          </a:solidFill>
                          <a:latin typeface="Times New Roman"/>
                          <a:ea typeface="Times New Roman"/>
                          <a:cs typeface="Times New Roman"/>
                          <a:sym typeface="Times New Roman"/>
                        </a:rPr>
                        <a:t>35</a:t>
                      </a:r>
                      <a:endParaRPr sz="1200">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r>
              <a:tr h="438100">
                <a:tc>
                  <a:txBody>
                    <a:bodyPr/>
                    <a:lstStyle/>
                    <a:p>
                      <a:pPr indent="0" lvl="0" marL="0" marR="0" rtl="0" algn="l">
                        <a:spcBef>
                          <a:spcPts val="0"/>
                        </a:spcBef>
                        <a:spcAft>
                          <a:spcPts val="0"/>
                        </a:spcAft>
                        <a:buClr>
                          <a:srgbClr val="6E767C"/>
                        </a:buClr>
                        <a:buSzPts val="1050"/>
                        <a:buFont typeface="Calibri"/>
                        <a:buNone/>
                      </a:pPr>
                      <a:r>
                        <a:rPr lang="en-US" sz="1200" u="none" cap="none" strike="noStrike">
                          <a:solidFill>
                            <a:schemeClr val="dk1"/>
                          </a:solidFill>
                          <a:latin typeface="Times New Roman"/>
                          <a:ea typeface="Times New Roman"/>
                          <a:cs typeface="Times New Roman"/>
                          <a:sym typeface="Times New Roman"/>
                        </a:rPr>
                        <a:t>b-valu</a:t>
                      </a:r>
                      <a:r>
                        <a:rPr lang="en-US" sz="1200">
                          <a:solidFill>
                            <a:schemeClr val="dk1"/>
                          </a:solidFill>
                          <a:latin typeface="Times New Roman"/>
                          <a:ea typeface="Times New Roman"/>
                          <a:cs typeface="Times New Roman"/>
                          <a:sym typeface="Times New Roman"/>
                        </a:rPr>
                        <a:t>es</a:t>
                      </a:r>
                      <a:endParaRPr sz="1200" u="none" cap="none" strike="noStrike">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c>
                  <a:txBody>
                    <a:bodyPr/>
                    <a:lstStyle/>
                    <a:p>
                      <a:pPr indent="0" lvl="0" marL="0" marR="0" rtl="0" algn="l">
                        <a:spcBef>
                          <a:spcPts val="0"/>
                        </a:spcBef>
                        <a:spcAft>
                          <a:spcPts val="0"/>
                        </a:spcAft>
                        <a:buClr>
                          <a:srgbClr val="22282B"/>
                        </a:buClr>
                        <a:buSzPts val="1050"/>
                        <a:buFont typeface="Calibri"/>
                        <a:buNone/>
                      </a:pPr>
                      <a:r>
                        <a:rPr lang="en-US" sz="1200">
                          <a:solidFill>
                            <a:schemeClr val="dk1"/>
                          </a:solidFill>
                          <a:latin typeface="Times New Roman"/>
                          <a:ea typeface="Times New Roman"/>
                          <a:cs typeface="Times New Roman"/>
                          <a:sym typeface="Times New Roman"/>
                        </a:rPr>
                        <a:t>0, 6000</a:t>
                      </a:r>
                      <a:r>
                        <a:rPr lang="en-US" sz="1200" u="none" cap="none" strike="noStrike">
                          <a:solidFill>
                            <a:schemeClr val="dk1"/>
                          </a:solidFill>
                          <a:latin typeface="Times New Roman"/>
                          <a:ea typeface="Times New Roman"/>
                          <a:cs typeface="Times New Roman"/>
                          <a:sym typeface="Times New Roman"/>
                        </a:rPr>
                        <a:t> s/mm²</a:t>
                      </a:r>
                      <a:endParaRPr sz="1200" u="none" cap="none" strike="noStrike">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r>
              <a:tr h="438100">
                <a:tc>
                  <a:txBody>
                    <a:bodyPr/>
                    <a:lstStyle/>
                    <a:p>
                      <a:pPr indent="0" lvl="0" marL="0" marR="0" rtl="0" algn="l">
                        <a:spcBef>
                          <a:spcPts val="0"/>
                        </a:spcBef>
                        <a:spcAft>
                          <a:spcPts val="0"/>
                        </a:spcAft>
                        <a:buNone/>
                      </a:pPr>
                      <a:r>
                        <a:rPr lang="en-US" sz="1200">
                          <a:solidFill>
                            <a:schemeClr val="dk1"/>
                          </a:solidFill>
                          <a:latin typeface="Times New Roman"/>
                          <a:ea typeface="Times New Roman"/>
                          <a:cs typeface="Times New Roman"/>
                          <a:sym typeface="Times New Roman"/>
                        </a:rPr>
                        <a:t>Diffusion Directions</a:t>
                      </a:r>
                      <a:endParaRPr sz="1200" u="none" cap="none" strike="noStrike">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c>
                  <a:txBody>
                    <a:bodyPr/>
                    <a:lstStyle/>
                    <a:p>
                      <a:pPr indent="0" lvl="0" marL="0" marR="0" rtl="0" algn="l">
                        <a:spcBef>
                          <a:spcPts val="0"/>
                        </a:spcBef>
                        <a:spcAft>
                          <a:spcPts val="0"/>
                        </a:spcAft>
                        <a:buNone/>
                      </a:pPr>
                      <a:r>
                        <a:rPr lang="en-US" sz="1200">
                          <a:solidFill>
                            <a:schemeClr val="dk1"/>
                          </a:solidFill>
                          <a:latin typeface="Times New Roman"/>
                          <a:ea typeface="Times New Roman"/>
                          <a:cs typeface="Times New Roman"/>
                          <a:sym typeface="Times New Roman"/>
                        </a:rPr>
                        <a:t>1 (x-axis)</a:t>
                      </a:r>
                      <a:endParaRPr sz="1200">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r>
              <a:tr h="438100">
                <a:tc>
                  <a:txBody>
                    <a:bodyPr/>
                    <a:lstStyle/>
                    <a:p>
                      <a:pPr indent="0" lvl="0" marL="0" marR="0" rtl="0" algn="l">
                        <a:spcBef>
                          <a:spcPts val="0"/>
                        </a:spcBef>
                        <a:spcAft>
                          <a:spcPts val="0"/>
                        </a:spcAft>
                        <a:buNone/>
                      </a:pPr>
                      <a:r>
                        <a:rPr lang="en-US" sz="1200">
                          <a:solidFill>
                            <a:srgbClr val="000000"/>
                          </a:solidFill>
                          <a:latin typeface="Times New Roman"/>
                          <a:ea typeface="Times New Roman"/>
                          <a:cs typeface="Times New Roman"/>
                          <a:sym typeface="Times New Roman"/>
                        </a:rPr>
                        <a:t>Small</a:t>
                      </a:r>
                      <a:r>
                        <a:rPr lang="en-US" sz="1200">
                          <a:latin typeface="Times New Roman"/>
                          <a:ea typeface="Times New Roman"/>
                          <a:cs typeface="Times New Roman"/>
                          <a:sym typeface="Times New Roman"/>
                        </a:rPr>
                        <a:t> / Big Delta</a:t>
                      </a:r>
                      <a:endParaRPr sz="1200" u="none" cap="none" strike="noStrike">
                        <a:solidFill>
                          <a:srgbClr val="000000"/>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c>
                  <a:txBody>
                    <a:bodyPr/>
                    <a:lstStyle/>
                    <a:p>
                      <a:pPr indent="0" lvl="0" marL="0" marR="0" rtl="0" algn="l">
                        <a:spcBef>
                          <a:spcPts val="0"/>
                        </a:spcBef>
                        <a:spcAft>
                          <a:spcPts val="0"/>
                        </a:spcAft>
                        <a:buNone/>
                      </a:pPr>
                      <a:r>
                        <a:rPr lang="en-US" sz="1200">
                          <a:solidFill>
                            <a:srgbClr val="000000"/>
                          </a:solidFill>
                          <a:latin typeface="Times New Roman"/>
                          <a:ea typeface="Times New Roman"/>
                          <a:cs typeface="Times New Roman"/>
                          <a:sym typeface="Times New Roman"/>
                        </a:rPr>
                        <a:t>4 ms / </a:t>
                      </a:r>
                      <a:r>
                        <a:rPr lang="en-US" sz="1200">
                          <a:latin typeface="Times New Roman"/>
                          <a:ea typeface="Times New Roman"/>
                          <a:cs typeface="Times New Roman"/>
                          <a:sym typeface="Times New Roman"/>
                        </a:rPr>
                        <a:t>4</a:t>
                      </a:r>
                      <a:r>
                        <a:rPr lang="en-US" sz="1200">
                          <a:solidFill>
                            <a:srgbClr val="000000"/>
                          </a:solidFill>
                          <a:latin typeface="Times New Roman"/>
                          <a:ea typeface="Times New Roman"/>
                          <a:cs typeface="Times New Roman"/>
                          <a:sym typeface="Times New Roman"/>
                        </a:rPr>
                        <a:t>0 ms</a:t>
                      </a:r>
                      <a:endParaRPr sz="1200">
                        <a:solidFill>
                          <a:srgbClr val="000000"/>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r>
              <a:tr h="438100">
                <a:tc>
                  <a:txBody>
                    <a:bodyPr/>
                    <a:lstStyle/>
                    <a:p>
                      <a:pPr indent="0" lvl="0" marL="0" marR="0" rtl="0" algn="l">
                        <a:spcBef>
                          <a:spcPts val="0"/>
                        </a:spcBef>
                        <a:spcAft>
                          <a:spcPts val="0"/>
                        </a:spcAft>
                        <a:buClr>
                          <a:srgbClr val="6E767C"/>
                        </a:buClr>
                        <a:buSzPts val="1050"/>
                        <a:buFont typeface="Calibri"/>
                        <a:buNone/>
                      </a:pPr>
                      <a:r>
                        <a:rPr lang="en-US" sz="1200">
                          <a:solidFill>
                            <a:schemeClr val="dk1"/>
                          </a:solidFill>
                          <a:latin typeface="Times New Roman"/>
                          <a:ea typeface="Times New Roman"/>
                          <a:cs typeface="Times New Roman"/>
                          <a:sym typeface="Times New Roman"/>
                        </a:rPr>
                        <a:t>diff_tcrush / tcrush</a:t>
                      </a:r>
                      <a:endParaRPr sz="1200" u="none" cap="none" strike="noStrike">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c>
                  <a:txBody>
                    <a:bodyPr/>
                    <a:lstStyle/>
                    <a:p>
                      <a:pPr indent="0" lvl="0" marL="0" marR="0" rtl="0" algn="l">
                        <a:spcBef>
                          <a:spcPts val="0"/>
                        </a:spcBef>
                        <a:spcAft>
                          <a:spcPts val="0"/>
                        </a:spcAft>
                        <a:buClr>
                          <a:srgbClr val="22282B"/>
                        </a:buClr>
                        <a:buSzPts val="1050"/>
                        <a:buFont typeface="Calibri"/>
                        <a:buNone/>
                      </a:pPr>
                      <a:r>
                        <a:rPr lang="en-US" sz="1200">
                          <a:solidFill>
                            <a:schemeClr val="dk1"/>
                          </a:solidFill>
                          <a:latin typeface="Times New Roman"/>
                          <a:ea typeface="Times New Roman"/>
                          <a:cs typeface="Times New Roman"/>
                          <a:sym typeface="Times New Roman"/>
                        </a:rPr>
                        <a:t>2000 us / 2000 us</a:t>
                      </a:r>
                      <a:endParaRPr sz="1200" u="none" cap="none" strike="noStrike">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r>
              <a:tr h="438100">
                <a:tc>
                  <a:txBody>
                    <a:bodyPr/>
                    <a:lstStyle/>
                    <a:p>
                      <a:pPr indent="0" lvl="0" marL="0" marR="0" rtl="0" algn="l">
                        <a:spcBef>
                          <a:spcPts val="0"/>
                        </a:spcBef>
                        <a:spcAft>
                          <a:spcPts val="0"/>
                        </a:spcAft>
                        <a:buNone/>
                      </a:pPr>
                      <a:r>
                        <a:rPr lang="en-US" sz="1200">
                          <a:solidFill>
                            <a:schemeClr val="dk1"/>
                          </a:solidFill>
                          <a:latin typeface="Times New Roman"/>
                          <a:ea typeface="Times New Roman"/>
                          <a:cs typeface="Times New Roman"/>
                          <a:sym typeface="Times New Roman"/>
                        </a:rPr>
                        <a:t>diff_tcrush_amplitude / t_crush_amplitude</a:t>
                      </a:r>
                      <a:endParaRPr sz="1200">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c>
                  <a:txBody>
                    <a:bodyPr/>
                    <a:lstStyle/>
                    <a:p>
                      <a:pPr indent="0" lvl="0" marL="0" marR="0" rtl="0" algn="l">
                        <a:spcBef>
                          <a:spcPts val="0"/>
                        </a:spcBef>
                        <a:spcAft>
                          <a:spcPts val="0"/>
                        </a:spcAft>
                        <a:buNone/>
                      </a:pPr>
                      <a:r>
                        <a:rPr lang="en-US" sz="1200">
                          <a:solidFill>
                            <a:schemeClr val="dk1"/>
                          </a:solidFill>
                          <a:latin typeface="Times New Roman"/>
                          <a:ea typeface="Times New Roman"/>
                          <a:cs typeface="Times New Roman"/>
                          <a:sym typeface="Times New Roman"/>
                        </a:rPr>
                        <a:t>2754 DAC units / 2754 </a:t>
                      </a:r>
                      <a:r>
                        <a:rPr lang="en-US" sz="1200">
                          <a:solidFill>
                            <a:schemeClr val="dk1"/>
                          </a:solidFill>
                          <a:latin typeface="Times New Roman"/>
                          <a:ea typeface="Times New Roman"/>
                          <a:cs typeface="Times New Roman"/>
                          <a:sym typeface="Times New Roman"/>
                        </a:rPr>
                        <a:t>DAC units </a:t>
                      </a:r>
                      <a:endParaRPr sz="1200">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r>
            </a:tbl>
          </a:graphicData>
        </a:graphic>
      </p:graphicFrame>
      <p:sp>
        <p:nvSpPr>
          <p:cNvPr id="28" name="Google Shape;28;p4"/>
          <p:cNvSpPr txBox="1"/>
          <p:nvPr/>
        </p:nvSpPr>
        <p:spPr>
          <a:xfrm>
            <a:off x="301975" y="0"/>
            <a:ext cx="8588700" cy="310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600">
                <a:solidFill>
                  <a:schemeClr val="dk1"/>
                </a:solidFill>
                <a:latin typeface="Times New Roman"/>
                <a:ea typeface="Times New Roman"/>
                <a:cs typeface="Times New Roman"/>
                <a:sym typeface="Times New Roman"/>
              </a:rPr>
              <a:t>Test 0 </a:t>
            </a:r>
            <a:r>
              <a:rPr lang="en-US" sz="1600">
                <a:solidFill>
                  <a:schemeClr val="dk1"/>
                </a:solidFill>
                <a:highlight>
                  <a:srgbClr val="FFFF00"/>
                </a:highlight>
                <a:latin typeface="Times New Roman"/>
                <a:ea typeface="Times New Roman"/>
                <a:cs typeface="Times New Roman"/>
                <a:sym typeface="Times New Roman"/>
              </a:rPr>
              <a:t>Centric Interleaved</a:t>
            </a:r>
            <a:r>
              <a:rPr lang="en-US" sz="1600">
                <a:solidFill>
                  <a:schemeClr val="dk1"/>
                </a:solidFill>
                <a:latin typeface="Times New Roman"/>
                <a:ea typeface="Times New Roman"/>
                <a:cs typeface="Times New Roman"/>
                <a:sym typeface="Times New Roman"/>
              </a:rPr>
              <a:t>: FSE DWI w/ Surface Coil: In-vivo Rat Brain</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p:bgPr>
    </p:bg>
    <p:spTree>
      <p:nvGrpSpPr>
        <p:cNvPr id="33" name="Shape 33"/>
        <p:cNvGrpSpPr/>
        <p:nvPr/>
      </p:nvGrpSpPr>
      <p:grpSpPr>
        <a:xfrm>
          <a:off x="0" y="0"/>
          <a:ext cx="0" cy="0"/>
          <a:chOff x="0" y="0"/>
          <a:chExt cx="0" cy="0"/>
        </a:xfrm>
      </p:grpSpPr>
      <p:sp>
        <p:nvSpPr>
          <p:cNvPr id="34" name="Google Shape;34;p5"/>
          <p:cNvSpPr txBox="1"/>
          <p:nvPr/>
        </p:nvSpPr>
        <p:spPr>
          <a:xfrm>
            <a:off x="429768" y="310896"/>
            <a:ext cx="1188720" cy="2377440"/>
          </a:xfrm>
          <a:prstGeom prst="rect">
            <a:avLst/>
          </a:prstGeom>
          <a:noFill/>
          <a:ln>
            <a:noFill/>
          </a:ln>
        </p:spPr>
        <p:txBody>
          <a:bodyPr anchorCtr="0" anchor="ctr" bIns="0" lIns="13700" spcFirstLastPara="1" rIns="13700" wrap="square" tIns="0">
            <a:spAutoFit/>
          </a:bodyPr>
          <a:lstStyle/>
          <a:p>
            <a:pPr indent="0" lvl="0" marL="0" marR="0" rtl="0" algn="r">
              <a:spcBef>
                <a:spcPts val="0"/>
              </a:spcBef>
              <a:spcAft>
                <a:spcPts val="0"/>
              </a:spcAft>
              <a:buNone/>
            </a:pPr>
            <a:r>
              <a:rPr b="1" i="0" lang="en-US" sz="1250" u="none" cap="none" strike="noStrike">
                <a:solidFill>
                  <a:srgbClr val="555555"/>
                </a:solidFill>
                <a:latin typeface="Times New Roman"/>
                <a:ea typeface="Times New Roman"/>
                <a:cs typeface="Times New Roman"/>
                <a:sym typeface="Times New Roman"/>
              </a:rPr>
              <a:t>Reconstructed</a:t>
            </a:r>
            <a:endParaRPr/>
          </a:p>
          <a:p>
            <a:pPr indent="0" lvl="0" marL="0" marR="0" rtl="0" algn="r">
              <a:spcBef>
                <a:spcPts val="0"/>
              </a:spcBef>
              <a:spcAft>
                <a:spcPts val="0"/>
              </a:spcAft>
              <a:buNone/>
            </a:pPr>
            <a:r>
              <a:rPr b="1" i="0" lang="en-US" sz="1250" u="none" cap="none" strike="noStrike">
                <a:solidFill>
                  <a:srgbClr val="555555"/>
                </a:solidFill>
                <a:latin typeface="Times New Roman"/>
                <a:ea typeface="Times New Roman"/>
                <a:cs typeface="Times New Roman"/>
                <a:sym typeface="Times New Roman"/>
              </a:rPr>
              <a:t>image</a:t>
            </a:r>
            <a:endParaRPr/>
          </a:p>
        </p:txBody>
      </p:sp>
      <p:sp>
        <p:nvSpPr>
          <p:cNvPr id="35" name="Google Shape;35;p5"/>
          <p:cNvSpPr txBox="1"/>
          <p:nvPr/>
        </p:nvSpPr>
        <p:spPr>
          <a:xfrm>
            <a:off x="429768" y="2743200"/>
            <a:ext cx="1188720" cy="2377440"/>
          </a:xfrm>
          <a:prstGeom prst="rect">
            <a:avLst/>
          </a:prstGeom>
          <a:noFill/>
          <a:ln>
            <a:noFill/>
          </a:ln>
        </p:spPr>
        <p:txBody>
          <a:bodyPr anchorCtr="0" anchor="ctr" bIns="0" lIns="13700" spcFirstLastPara="1" rIns="13700" wrap="square" tIns="0">
            <a:spAutoFit/>
          </a:bodyPr>
          <a:lstStyle/>
          <a:p>
            <a:pPr indent="0" lvl="0" marL="0" marR="0" rtl="0" algn="r">
              <a:spcBef>
                <a:spcPts val="0"/>
              </a:spcBef>
              <a:spcAft>
                <a:spcPts val="0"/>
              </a:spcAft>
              <a:buNone/>
            </a:pPr>
            <a:r>
              <a:rPr b="1" i="0" lang="en-US" sz="1250" u="none" cap="none" strike="noStrike">
                <a:solidFill>
                  <a:srgbClr val="555555"/>
                </a:solidFill>
                <a:latin typeface="Times New Roman"/>
                <a:ea typeface="Times New Roman"/>
                <a:cs typeface="Times New Roman"/>
                <a:sym typeface="Times New Roman"/>
              </a:rPr>
              <a:t>Log k-space</a:t>
            </a:r>
            <a:endParaRPr/>
          </a:p>
        </p:txBody>
      </p:sp>
      <p:sp>
        <p:nvSpPr>
          <p:cNvPr id="36" name="Google Shape;36;p5"/>
          <p:cNvSpPr txBox="1"/>
          <p:nvPr/>
        </p:nvSpPr>
        <p:spPr>
          <a:xfrm>
            <a:off x="1673352" y="9144"/>
            <a:ext cx="2862072" cy="265176"/>
          </a:xfrm>
          <a:prstGeom prst="rect">
            <a:avLst/>
          </a:prstGeom>
          <a:noFill/>
          <a:ln>
            <a:noFill/>
          </a:ln>
        </p:spPr>
        <p:txBody>
          <a:bodyPr anchorCtr="0" anchor="ctr" bIns="0" lIns="13700" spcFirstLastPara="1" rIns="13700" wrap="square" tIns="0">
            <a:spAutoFit/>
          </a:bodyPr>
          <a:lstStyle/>
          <a:p>
            <a:pPr indent="0" lvl="0" marL="0" marR="0" rtl="0" algn="ctr">
              <a:spcBef>
                <a:spcPts val="0"/>
              </a:spcBef>
              <a:spcAft>
                <a:spcPts val="0"/>
              </a:spcAft>
              <a:buNone/>
            </a:pPr>
            <a:r>
              <a:rPr b="1" i="0" lang="en-US" sz="1450" u="none" cap="none" strike="noStrike">
                <a:solidFill>
                  <a:srgbClr val="555555"/>
                </a:solidFill>
                <a:latin typeface="Times New Roman"/>
                <a:ea typeface="Times New Roman"/>
                <a:cs typeface="Times New Roman"/>
                <a:sym typeface="Times New Roman"/>
              </a:rPr>
              <a:t>b = 0 s/mm²  (SNR 13.9)</a:t>
            </a:r>
            <a:endParaRPr/>
          </a:p>
        </p:txBody>
      </p:sp>
      <p:pic>
        <p:nvPicPr>
          <p:cNvPr descr="image.png" id="37" name="Google Shape;37;p5"/>
          <p:cNvPicPr preferRelativeResize="0"/>
          <p:nvPr/>
        </p:nvPicPr>
        <p:blipFill rotWithShape="1">
          <a:blip r:embed="rId3">
            <a:alphaModFix/>
          </a:blip>
          <a:srcRect b="0" l="0" r="0" t="0"/>
          <a:stretch/>
        </p:blipFill>
        <p:spPr>
          <a:xfrm>
            <a:off x="1673352" y="310896"/>
            <a:ext cx="2862072" cy="2377440"/>
          </a:xfrm>
          <a:prstGeom prst="rect">
            <a:avLst/>
          </a:prstGeom>
          <a:noFill/>
          <a:ln>
            <a:noFill/>
          </a:ln>
        </p:spPr>
      </p:pic>
      <p:pic>
        <p:nvPicPr>
          <p:cNvPr descr="image.png" id="38" name="Google Shape;38;p5"/>
          <p:cNvPicPr preferRelativeResize="0"/>
          <p:nvPr/>
        </p:nvPicPr>
        <p:blipFill rotWithShape="1">
          <a:blip r:embed="rId4">
            <a:alphaModFix/>
          </a:blip>
          <a:srcRect b="0" l="0" r="0" t="0"/>
          <a:stretch/>
        </p:blipFill>
        <p:spPr>
          <a:xfrm>
            <a:off x="1673352" y="2743200"/>
            <a:ext cx="2862072" cy="2377440"/>
          </a:xfrm>
          <a:prstGeom prst="rect">
            <a:avLst/>
          </a:prstGeom>
          <a:noFill/>
          <a:ln>
            <a:noFill/>
          </a:ln>
        </p:spPr>
      </p:pic>
      <p:sp>
        <p:nvSpPr>
          <p:cNvPr id="39" name="Google Shape;39;p5"/>
          <p:cNvSpPr txBox="1"/>
          <p:nvPr/>
        </p:nvSpPr>
        <p:spPr>
          <a:xfrm>
            <a:off x="4608576" y="9144"/>
            <a:ext cx="2862072" cy="265176"/>
          </a:xfrm>
          <a:prstGeom prst="rect">
            <a:avLst/>
          </a:prstGeom>
          <a:noFill/>
          <a:ln>
            <a:noFill/>
          </a:ln>
        </p:spPr>
        <p:txBody>
          <a:bodyPr anchorCtr="0" anchor="ctr" bIns="0" lIns="13700" spcFirstLastPara="1" rIns="13700" wrap="square" tIns="0">
            <a:spAutoFit/>
          </a:bodyPr>
          <a:lstStyle/>
          <a:p>
            <a:pPr indent="0" lvl="0" marL="0" marR="0" rtl="0" algn="ctr">
              <a:spcBef>
                <a:spcPts val="0"/>
              </a:spcBef>
              <a:spcAft>
                <a:spcPts val="0"/>
              </a:spcAft>
              <a:buNone/>
            </a:pPr>
            <a:r>
              <a:rPr b="1" i="0" lang="en-US" sz="1450" u="none" cap="none" strike="noStrike">
                <a:solidFill>
                  <a:srgbClr val="555555"/>
                </a:solidFill>
                <a:latin typeface="Times New Roman"/>
                <a:ea typeface="Times New Roman"/>
                <a:cs typeface="Times New Roman"/>
                <a:sym typeface="Times New Roman"/>
              </a:rPr>
              <a:t>b = 6000 s/mm²  (SNR 3.6)</a:t>
            </a:r>
            <a:endParaRPr/>
          </a:p>
        </p:txBody>
      </p:sp>
      <p:pic>
        <p:nvPicPr>
          <p:cNvPr descr="image.png" id="40" name="Google Shape;40;p5"/>
          <p:cNvPicPr preferRelativeResize="0"/>
          <p:nvPr/>
        </p:nvPicPr>
        <p:blipFill rotWithShape="1">
          <a:blip r:embed="rId5">
            <a:alphaModFix/>
          </a:blip>
          <a:srcRect b="0" l="0" r="0" t="0"/>
          <a:stretch/>
        </p:blipFill>
        <p:spPr>
          <a:xfrm>
            <a:off x="4608576" y="310896"/>
            <a:ext cx="2862072" cy="2377440"/>
          </a:xfrm>
          <a:prstGeom prst="rect">
            <a:avLst/>
          </a:prstGeom>
          <a:noFill/>
          <a:ln>
            <a:noFill/>
          </a:ln>
        </p:spPr>
      </p:pic>
      <p:pic>
        <p:nvPicPr>
          <p:cNvPr descr="image.png" id="41" name="Google Shape;41;p5"/>
          <p:cNvPicPr preferRelativeResize="0"/>
          <p:nvPr/>
        </p:nvPicPr>
        <p:blipFill rotWithShape="1">
          <a:blip r:embed="rId6">
            <a:alphaModFix/>
          </a:blip>
          <a:srcRect b="0" l="0" r="0" t="0"/>
          <a:stretch/>
        </p:blipFill>
        <p:spPr>
          <a:xfrm>
            <a:off x="4608576" y="2743200"/>
            <a:ext cx="2862072" cy="237744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graphicFrame>
        <p:nvGraphicFramePr>
          <p:cNvPr id="46" name="Google Shape;46;p6"/>
          <p:cNvGraphicFramePr/>
          <p:nvPr/>
        </p:nvGraphicFramePr>
        <p:xfrm>
          <a:off x="301942" y="528517"/>
          <a:ext cx="3000000" cy="3000000"/>
        </p:xfrm>
        <a:graphic>
          <a:graphicData uri="http://schemas.openxmlformats.org/drawingml/2006/table">
            <a:tbl>
              <a:tblPr>
                <a:noFill/>
                <a:tableStyleId>{73BB658B-42DE-442A-99D8-BBBD18C3A753}</a:tableStyleId>
              </a:tblPr>
              <a:tblGrid>
                <a:gridCol w="4466125"/>
                <a:gridCol w="4122650"/>
              </a:tblGrid>
              <a:tr h="438100">
                <a:tc>
                  <a:txBody>
                    <a:bodyPr/>
                    <a:lstStyle/>
                    <a:p>
                      <a:pPr indent="0" lvl="0" marL="0" marR="0" rtl="0" algn="l">
                        <a:spcBef>
                          <a:spcPts val="0"/>
                        </a:spcBef>
                        <a:spcAft>
                          <a:spcPts val="0"/>
                        </a:spcAft>
                        <a:buNone/>
                      </a:pPr>
                      <a:r>
                        <a:rPr lang="en-US" sz="1200">
                          <a:solidFill>
                            <a:schemeClr val="dk1"/>
                          </a:solidFill>
                          <a:latin typeface="Times New Roman"/>
                          <a:ea typeface="Times New Roman"/>
                          <a:cs typeface="Times New Roman"/>
                          <a:sym typeface="Times New Roman"/>
                        </a:rPr>
                        <a:t>Total Scan Time</a:t>
                      </a:r>
                      <a:endParaRPr sz="1200" u="none" cap="none" strike="noStrike">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44 seconds </a:t>
                      </a:r>
                      <a:endParaRPr sz="1200">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r>
              <a:tr h="438100">
                <a:tc>
                  <a:txBody>
                    <a:bodyPr/>
                    <a:lstStyle/>
                    <a:p>
                      <a:pPr indent="0" lvl="0" marL="0" marR="0" rtl="0" algn="l">
                        <a:spcBef>
                          <a:spcPts val="0"/>
                        </a:spcBef>
                        <a:spcAft>
                          <a:spcPts val="0"/>
                        </a:spcAft>
                        <a:buClr>
                          <a:srgbClr val="6E767C"/>
                        </a:buClr>
                        <a:buSzPts val="1050"/>
                        <a:buFont typeface="Calibri"/>
                        <a:buNone/>
                      </a:pPr>
                      <a:r>
                        <a:rPr lang="en-US" sz="1200" u="none" cap="none" strike="noStrike">
                          <a:solidFill>
                            <a:schemeClr val="dk1"/>
                          </a:solidFill>
                          <a:latin typeface="Times New Roman"/>
                          <a:ea typeface="Times New Roman"/>
                          <a:cs typeface="Times New Roman"/>
                          <a:sym typeface="Times New Roman"/>
                        </a:rPr>
                        <a:t>TR, TE, </a:t>
                      </a:r>
                      <a:r>
                        <a:rPr lang="en-US" sz="1200">
                          <a:solidFill>
                            <a:schemeClr val="dk1"/>
                          </a:solidFill>
                          <a:latin typeface="Times New Roman"/>
                          <a:ea typeface="Times New Roman"/>
                          <a:cs typeface="Times New Roman"/>
                          <a:sym typeface="Times New Roman"/>
                        </a:rPr>
                        <a:t>esp</a:t>
                      </a:r>
                      <a:endParaRPr sz="1200" u="none" cap="none" strike="noStrike">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c>
                  <a:txBody>
                    <a:bodyPr/>
                    <a:lstStyle/>
                    <a:p>
                      <a:pPr indent="0" lvl="0" marL="0" marR="0" rtl="0" algn="l">
                        <a:spcBef>
                          <a:spcPts val="0"/>
                        </a:spcBef>
                        <a:spcAft>
                          <a:spcPts val="0"/>
                        </a:spcAft>
                        <a:buClr>
                          <a:srgbClr val="D2691E"/>
                        </a:buClr>
                        <a:buSzPts val="1050"/>
                        <a:buFont typeface="Calibri"/>
                        <a:buNone/>
                      </a:pPr>
                      <a:r>
                        <a:rPr lang="en-US" sz="1200">
                          <a:solidFill>
                            <a:schemeClr val="dk1"/>
                          </a:solidFill>
                          <a:latin typeface="Times New Roman"/>
                          <a:ea typeface="Times New Roman"/>
                          <a:cs typeface="Times New Roman"/>
                          <a:sym typeface="Times New Roman"/>
                        </a:rPr>
                        <a:t>2000 ms / 54 ms / 16 ms</a:t>
                      </a:r>
                      <a:endParaRPr sz="1200" u="none" cap="none" strike="noStrike">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r>
              <a:tr h="438100">
                <a:tc>
                  <a:txBody>
                    <a:bodyPr/>
                    <a:lstStyle/>
                    <a:p>
                      <a:pPr indent="0" lvl="0" marL="0" marR="0" rtl="0" algn="l">
                        <a:spcBef>
                          <a:spcPts val="0"/>
                        </a:spcBef>
                        <a:spcAft>
                          <a:spcPts val="0"/>
                        </a:spcAft>
                        <a:buNone/>
                      </a:pPr>
                      <a:r>
                        <a:rPr lang="en-US" sz="1200">
                          <a:solidFill>
                            <a:schemeClr val="dk1"/>
                          </a:solidFill>
                          <a:latin typeface="Times New Roman"/>
                          <a:ea typeface="Times New Roman"/>
                          <a:cs typeface="Times New Roman"/>
                          <a:sym typeface="Times New Roman"/>
                        </a:rPr>
                        <a:t>PE_order</a:t>
                      </a:r>
                      <a:endParaRPr sz="1200" u="none" cap="none" strike="noStrike">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c>
                  <a:txBody>
                    <a:bodyPr/>
                    <a:lstStyle/>
                    <a:p>
                      <a:pPr indent="0" lvl="0" marL="0" marR="0" rtl="0" algn="l">
                        <a:spcBef>
                          <a:spcPts val="0"/>
                        </a:spcBef>
                        <a:spcAft>
                          <a:spcPts val="0"/>
                        </a:spcAft>
                        <a:buNone/>
                      </a:pPr>
                      <a:r>
                        <a:rPr lang="en-US" sz="1200">
                          <a:solidFill>
                            <a:schemeClr val="dk1"/>
                          </a:solidFill>
                          <a:highlight>
                            <a:srgbClr val="FFFF00"/>
                          </a:highlight>
                          <a:latin typeface="Times New Roman"/>
                          <a:ea typeface="Times New Roman"/>
                          <a:cs typeface="Times New Roman"/>
                          <a:sym typeface="Times New Roman"/>
                        </a:rPr>
                        <a:t>6</a:t>
                      </a:r>
                      <a:endParaRPr sz="1200">
                        <a:solidFill>
                          <a:schemeClr val="dk1"/>
                        </a:solidFill>
                        <a:highlight>
                          <a:srgbClr val="FFFF00"/>
                        </a:highlight>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r>
              <a:tr h="438100">
                <a:tc>
                  <a:txBody>
                    <a:bodyPr/>
                    <a:lstStyle/>
                    <a:p>
                      <a:pPr indent="0" lvl="0" marL="0" marR="0" rtl="0" algn="l">
                        <a:spcBef>
                          <a:spcPts val="0"/>
                        </a:spcBef>
                        <a:spcAft>
                          <a:spcPts val="0"/>
                        </a:spcAft>
                        <a:buClr>
                          <a:srgbClr val="6E767C"/>
                        </a:buClr>
                        <a:buSzPts val="1050"/>
                        <a:buFont typeface="Calibri"/>
                        <a:buNone/>
                      </a:pPr>
                      <a:r>
                        <a:rPr lang="en-US" sz="1200" u="none" cap="none" strike="noStrike">
                          <a:solidFill>
                            <a:schemeClr val="dk1"/>
                          </a:solidFill>
                          <a:latin typeface="Times New Roman"/>
                          <a:ea typeface="Times New Roman"/>
                          <a:cs typeface="Times New Roman"/>
                          <a:sym typeface="Times New Roman"/>
                        </a:rPr>
                        <a:t>ETL / </a:t>
                      </a:r>
                      <a:r>
                        <a:rPr lang="en-US" sz="1200">
                          <a:solidFill>
                            <a:schemeClr val="dk1"/>
                          </a:solidFill>
                          <a:latin typeface="Times New Roman"/>
                          <a:ea typeface="Times New Roman"/>
                          <a:cs typeface="Times New Roman"/>
                          <a:sym typeface="Times New Roman"/>
                        </a:rPr>
                        <a:t>A</a:t>
                      </a:r>
                      <a:r>
                        <a:rPr lang="en-US" sz="1200" u="none" cap="none" strike="noStrike">
                          <a:solidFill>
                            <a:schemeClr val="dk1"/>
                          </a:solidFill>
                          <a:latin typeface="Times New Roman"/>
                          <a:ea typeface="Times New Roman"/>
                          <a:cs typeface="Times New Roman"/>
                          <a:sym typeface="Times New Roman"/>
                        </a:rPr>
                        <a:t>verages</a:t>
                      </a:r>
                      <a:endParaRPr sz="1200" u="none" cap="none" strike="noStrike">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c>
                  <a:txBody>
                    <a:bodyPr/>
                    <a:lstStyle/>
                    <a:p>
                      <a:pPr indent="0" lvl="0" marL="0" marR="0" rtl="0" algn="l">
                        <a:spcBef>
                          <a:spcPts val="0"/>
                        </a:spcBef>
                        <a:spcAft>
                          <a:spcPts val="0"/>
                        </a:spcAft>
                        <a:buClr>
                          <a:srgbClr val="22282B"/>
                        </a:buClr>
                        <a:buSzPts val="1050"/>
                        <a:buFont typeface="Calibri"/>
                        <a:buNone/>
                      </a:pPr>
                      <a:r>
                        <a:rPr lang="en-US" sz="1200">
                          <a:solidFill>
                            <a:schemeClr val="dk1"/>
                          </a:solidFill>
                          <a:latin typeface="Times New Roman"/>
                          <a:ea typeface="Times New Roman"/>
                          <a:cs typeface="Times New Roman"/>
                          <a:sym typeface="Times New Roman"/>
                        </a:rPr>
                        <a:t>16 / 1</a:t>
                      </a:r>
                      <a:endParaRPr sz="1200" u="none" cap="none" strike="noStrike">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r>
              <a:tr h="438100">
                <a:tc>
                  <a:txBody>
                    <a:bodyPr/>
                    <a:lstStyle/>
                    <a:p>
                      <a:pPr indent="0" lvl="0" marL="0" marR="0" rtl="0" algn="l">
                        <a:spcBef>
                          <a:spcPts val="0"/>
                        </a:spcBef>
                        <a:spcAft>
                          <a:spcPts val="0"/>
                        </a:spcAft>
                        <a:buNone/>
                      </a:pPr>
                      <a:r>
                        <a:rPr lang="en-US" sz="1200">
                          <a:solidFill>
                            <a:schemeClr val="dk1"/>
                          </a:solidFill>
                          <a:latin typeface="Times New Roman"/>
                          <a:ea typeface="Times New Roman"/>
                          <a:cs typeface="Times New Roman"/>
                          <a:sym typeface="Times New Roman"/>
                        </a:rPr>
                        <a:t>FOV</a:t>
                      </a:r>
                      <a:endParaRPr sz="1200" u="none" cap="none" strike="noStrike">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c>
                  <a:txBody>
                    <a:bodyPr/>
                    <a:lstStyle/>
                    <a:p>
                      <a:pPr indent="0" lvl="0" marL="0" marR="0" rtl="0" algn="l">
                        <a:spcBef>
                          <a:spcPts val="0"/>
                        </a:spcBef>
                        <a:spcAft>
                          <a:spcPts val="0"/>
                        </a:spcAft>
                        <a:buNone/>
                      </a:pPr>
                      <a:r>
                        <a:rPr lang="en-US" sz="1200">
                          <a:solidFill>
                            <a:schemeClr val="dk1"/>
                          </a:solidFill>
                          <a:latin typeface="Times New Roman"/>
                          <a:ea typeface="Times New Roman"/>
                          <a:cs typeface="Times New Roman"/>
                          <a:sym typeface="Times New Roman"/>
                        </a:rPr>
                        <a:t>80</a:t>
                      </a:r>
                      <a:endParaRPr sz="1200">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r>
              <a:tr h="438100">
                <a:tc>
                  <a:txBody>
                    <a:bodyPr/>
                    <a:lstStyle/>
                    <a:p>
                      <a:pPr indent="0" lvl="0" marL="0" marR="0" rtl="0" algn="l">
                        <a:spcBef>
                          <a:spcPts val="0"/>
                        </a:spcBef>
                        <a:spcAft>
                          <a:spcPts val="0"/>
                        </a:spcAft>
                        <a:buClr>
                          <a:srgbClr val="6E767C"/>
                        </a:buClr>
                        <a:buSzPts val="1050"/>
                        <a:buFont typeface="Calibri"/>
                        <a:buNone/>
                      </a:pPr>
                      <a:r>
                        <a:rPr lang="en-US" sz="1200" u="none" cap="none" strike="noStrike">
                          <a:solidFill>
                            <a:schemeClr val="dk1"/>
                          </a:solidFill>
                          <a:latin typeface="Times New Roman"/>
                          <a:ea typeface="Times New Roman"/>
                          <a:cs typeface="Times New Roman"/>
                          <a:sym typeface="Times New Roman"/>
                        </a:rPr>
                        <a:t>b-valu</a:t>
                      </a:r>
                      <a:r>
                        <a:rPr lang="en-US" sz="1200">
                          <a:solidFill>
                            <a:schemeClr val="dk1"/>
                          </a:solidFill>
                          <a:latin typeface="Times New Roman"/>
                          <a:ea typeface="Times New Roman"/>
                          <a:cs typeface="Times New Roman"/>
                          <a:sym typeface="Times New Roman"/>
                        </a:rPr>
                        <a:t>es</a:t>
                      </a:r>
                      <a:endParaRPr sz="1200" u="none" cap="none" strike="noStrike">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c>
                  <a:txBody>
                    <a:bodyPr/>
                    <a:lstStyle/>
                    <a:p>
                      <a:pPr indent="0" lvl="0" marL="0" marR="0" rtl="0" algn="l">
                        <a:spcBef>
                          <a:spcPts val="0"/>
                        </a:spcBef>
                        <a:spcAft>
                          <a:spcPts val="0"/>
                        </a:spcAft>
                        <a:buClr>
                          <a:srgbClr val="22282B"/>
                        </a:buClr>
                        <a:buSzPts val="1050"/>
                        <a:buFont typeface="Calibri"/>
                        <a:buNone/>
                      </a:pPr>
                      <a:r>
                        <a:rPr lang="en-US" sz="1200">
                          <a:solidFill>
                            <a:schemeClr val="dk1"/>
                          </a:solidFill>
                          <a:latin typeface="Times New Roman"/>
                          <a:ea typeface="Times New Roman"/>
                          <a:cs typeface="Times New Roman"/>
                          <a:sym typeface="Times New Roman"/>
                        </a:rPr>
                        <a:t>0, 6000</a:t>
                      </a:r>
                      <a:r>
                        <a:rPr lang="en-US" sz="1200" u="none" cap="none" strike="noStrike">
                          <a:solidFill>
                            <a:schemeClr val="dk1"/>
                          </a:solidFill>
                          <a:latin typeface="Times New Roman"/>
                          <a:ea typeface="Times New Roman"/>
                          <a:cs typeface="Times New Roman"/>
                          <a:sym typeface="Times New Roman"/>
                        </a:rPr>
                        <a:t> s/mm²</a:t>
                      </a:r>
                      <a:endParaRPr sz="1200" u="none" cap="none" strike="noStrike">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r>
              <a:tr h="438100">
                <a:tc>
                  <a:txBody>
                    <a:bodyPr/>
                    <a:lstStyle/>
                    <a:p>
                      <a:pPr indent="0" lvl="0" marL="0" marR="0" rtl="0" algn="l">
                        <a:spcBef>
                          <a:spcPts val="0"/>
                        </a:spcBef>
                        <a:spcAft>
                          <a:spcPts val="0"/>
                        </a:spcAft>
                        <a:buNone/>
                      </a:pPr>
                      <a:r>
                        <a:rPr lang="en-US" sz="1200">
                          <a:solidFill>
                            <a:schemeClr val="dk1"/>
                          </a:solidFill>
                          <a:latin typeface="Times New Roman"/>
                          <a:ea typeface="Times New Roman"/>
                          <a:cs typeface="Times New Roman"/>
                          <a:sym typeface="Times New Roman"/>
                        </a:rPr>
                        <a:t>Diffusion Directions</a:t>
                      </a:r>
                      <a:endParaRPr sz="1200" u="none" cap="none" strike="noStrike">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c>
                  <a:txBody>
                    <a:bodyPr/>
                    <a:lstStyle/>
                    <a:p>
                      <a:pPr indent="0" lvl="0" marL="0" marR="0" rtl="0" algn="l">
                        <a:spcBef>
                          <a:spcPts val="0"/>
                        </a:spcBef>
                        <a:spcAft>
                          <a:spcPts val="0"/>
                        </a:spcAft>
                        <a:buNone/>
                      </a:pPr>
                      <a:r>
                        <a:rPr lang="en-US" sz="1200">
                          <a:solidFill>
                            <a:schemeClr val="dk1"/>
                          </a:solidFill>
                          <a:latin typeface="Times New Roman"/>
                          <a:ea typeface="Times New Roman"/>
                          <a:cs typeface="Times New Roman"/>
                          <a:sym typeface="Times New Roman"/>
                        </a:rPr>
                        <a:t>1 (x-axis)</a:t>
                      </a:r>
                      <a:endParaRPr sz="1200">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r>
              <a:tr h="438100">
                <a:tc>
                  <a:txBody>
                    <a:bodyPr/>
                    <a:lstStyle/>
                    <a:p>
                      <a:pPr indent="0" lvl="0" marL="0" marR="0" rtl="0" algn="l">
                        <a:spcBef>
                          <a:spcPts val="0"/>
                        </a:spcBef>
                        <a:spcAft>
                          <a:spcPts val="0"/>
                        </a:spcAft>
                        <a:buNone/>
                      </a:pPr>
                      <a:r>
                        <a:rPr lang="en-US" sz="1200">
                          <a:solidFill>
                            <a:srgbClr val="000000"/>
                          </a:solidFill>
                          <a:latin typeface="Times New Roman"/>
                          <a:ea typeface="Times New Roman"/>
                          <a:cs typeface="Times New Roman"/>
                          <a:sym typeface="Times New Roman"/>
                        </a:rPr>
                        <a:t>Small</a:t>
                      </a:r>
                      <a:r>
                        <a:rPr lang="en-US" sz="1200">
                          <a:latin typeface="Times New Roman"/>
                          <a:ea typeface="Times New Roman"/>
                          <a:cs typeface="Times New Roman"/>
                          <a:sym typeface="Times New Roman"/>
                        </a:rPr>
                        <a:t> / Big Delta</a:t>
                      </a:r>
                      <a:endParaRPr sz="1200" u="none" cap="none" strike="noStrike">
                        <a:solidFill>
                          <a:srgbClr val="000000"/>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c>
                  <a:txBody>
                    <a:bodyPr/>
                    <a:lstStyle/>
                    <a:p>
                      <a:pPr indent="0" lvl="0" marL="0" marR="0" rtl="0" algn="l">
                        <a:spcBef>
                          <a:spcPts val="0"/>
                        </a:spcBef>
                        <a:spcAft>
                          <a:spcPts val="0"/>
                        </a:spcAft>
                        <a:buNone/>
                      </a:pPr>
                      <a:r>
                        <a:rPr lang="en-US" sz="1200">
                          <a:solidFill>
                            <a:srgbClr val="000000"/>
                          </a:solidFill>
                          <a:latin typeface="Times New Roman"/>
                          <a:ea typeface="Times New Roman"/>
                          <a:cs typeface="Times New Roman"/>
                          <a:sym typeface="Times New Roman"/>
                        </a:rPr>
                        <a:t>4 ms / </a:t>
                      </a:r>
                      <a:r>
                        <a:rPr lang="en-US" sz="1200">
                          <a:latin typeface="Times New Roman"/>
                          <a:ea typeface="Times New Roman"/>
                          <a:cs typeface="Times New Roman"/>
                          <a:sym typeface="Times New Roman"/>
                        </a:rPr>
                        <a:t>4</a:t>
                      </a:r>
                      <a:r>
                        <a:rPr lang="en-US" sz="1200">
                          <a:solidFill>
                            <a:srgbClr val="000000"/>
                          </a:solidFill>
                          <a:latin typeface="Times New Roman"/>
                          <a:ea typeface="Times New Roman"/>
                          <a:cs typeface="Times New Roman"/>
                          <a:sym typeface="Times New Roman"/>
                        </a:rPr>
                        <a:t>0 ms</a:t>
                      </a:r>
                      <a:endParaRPr sz="1200">
                        <a:solidFill>
                          <a:srgbClr val="000000"/>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r>
              <a:tr h="438100">
                <a:tc>
                  <a:txBody>
                    <a:bodyPr/>
                    <a:lstStyle/>
                    <a:p>
                      <a:pPr indent="0" lvl="0" marL="0" marR="0" rtl="0" algn="l">
                        <a:spcBef>
                          <a:spcPts val="0"/>
                        </a:spcBef>
                        <a:spcAft>
                          <a:spcPts val="0"/>
                        </a:spcAft>
                        <a:buClr>
                          <a:srgbClr val="6E767C"/>
                        </a:buClr>
                        <a:buSzPts val="1050"/>
                        <a:buFont typeface="Calibri"/>
                        <a:buNone/>
                      </a:pPr>
                      <a:r>
                        <a:rPr lang="en-US" sz="1200">
                          <a:solidFill>
                            <a:schemeClr val="dk1"/>
                          </a:solidFill>
                          <a:latin typeface="Times New Roman"/>
                          <a:ea typeface="Times New Roman"/>
                          <a:cs typeface="Times New Roman"/>
                          <a:sym typeface="Times New Roman"/>
                        </a:rPr>
                        <a:t>diff_tcrush / tcrush</a:t>
                      </a:r>
                      <a:endParaRPr sz="1200" u="none" cap="none" strike="noStrike">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c>
                  <a:txBody>
                    <a:bodyPr/>
                    <a:lstStyle/>
                    <a:p>
                      <a:pPr indent="0" lvl="0" marL="0" marR="0" rtl="0" algn="l">
                        <a:spcBef>
                          <a:spcPts val="0"/>
                        </a:spcBef>
                        <a:spcAft>
                          <a:spcPts val="0"/>
                        </a:spcAft>
                        <a:buClr>
                          <a:srgbClr val="22282B"/>
                        </a:buClr>
                        <a:buSzPts val="1050"/>
                        <a:buFont typeface="Calibri"/>
                        <a:buNone/>
                      </a:pPr>
                      <a:r>
                        <a:rPr lang="en-US" sz="1200">
                          <a:solidFill>
                            <a:schemeClr val="dk1"/>
                          </a:solidFill>
                          <a:latin typeface="Times New Roman"/>
                          <a:ea typeface="Times New Roman"/>
                          <a:cs typeface="Times New Roman"/>
                          <a:sym typeface="Times New Roman"/>
                        </a:rPr>
                        <a:t>2000 us / 2000 us</a:t>
                      </a:r>
                      <a:endParaRPr sz="1200" u="none" cap="none" strike="noStrike">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r>
              <a:tr h="438100">
                <a:tc>
                  <a:txBody>
                    <a:bodyPr/>
                    <a:lstStyle/>
                    <a:p>
                      <a:pPr indent="0" lvl="0" marL="0" marR="0" rtl="0" algn="l">
                        <a:spcBef>
                          <a:spcPts val="0"/>
                        </a:spcBef>
                        <a:spcAft>
                          <a:spcPts val="0"/>
                        </a:spcAft>
                        <a:buNone/>
                      </a:pPr>
                      <a:r>
                        <a:rPr lang="en-US" sz="1200">
                          <a:solidFill>
                            <a:schemeClr val="dk1"/>
                          </a:solidFill>
                          <a:latin typeface="Times New Roman"/>
                          <a:ea typeface="Times New Roman"/>
                          <a:cs typeface="Times New Roman"/>
                          <a:sym typeface="Times New Roman"/>
                        </a:rPr>
                        <a:t>diff_tcrush_amplitude / t_crush_amplitude</a:t>
                      </a:r>
                      <a:endParaRPr sz="1200">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c>
                  <a:txBody>
                    <a:bodyPr/>
                    <a:lstStyle/>
                    <a:p>
                      <a:pPr indent="0" lvl="0" marL="0" marR="0" rtl="0" algn="l">
                        <a:spcBef>
                          <a:spcPts val="0"/>
                        </a:spcBef>
                        <a:spcAft>
                          <a:spcPts val="0"/>
                        </a:spcAft>
                        <a:buNone/>
                      </a:pPr>
                      <a:r>
                        <a:rPr lang="en-US" sz="1200">
                          <a:solidFill>
                            <a:schemeClr val="dk1"/>
                          </a:solidFill>
                          <a:latin typeface="Times New Roman"/>
                          <a:ea typeface="Times New Roman"/>
                          <a:cs typeface="Times New Roman"/>
                          <a:sym typeface="Times New Roman"/>
                        </a:rPr>
                        <a:t>2754 DAC units / 2754 DAC units </a:t>
                      </a:r>
                      <a:endParaRPr sz="1200">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r>
            </a:tbl>
          </a:graphicData>
        </a:graphic>
      </p:graphicFrame>
      <p:sp>
        <p:nvSpPr>
          <p:cNvPr id="47" name="Google Shape;47;p6"/>
          <p:cNvSpPr txBox="1"/>
          <p:nvPr/>
        </p:nvSpPr>
        <p:spPr>
          <a:xfrm>
            <a:off x="301975" y="0"/>
            <a:ext cx="8588700" cy="310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600">
                <a:solidFill>
                  <a:schemeClr val="dk1"/>
                </a:solidFill>
                <a:latin typeface="Times New Roman"/>
                <a:ea typeface="Times New Roman"/>
                <a:cs typeface="Times New Roman"/>
                <a:sym typeface="Times New Roman"/>
              </a:rPr>
              <a:t>Test 2 </a:t>
            </a:r>
            <a:r>
              <a:rPr lang="en-US" sz="1600">
                <a:solidFill>
                  <a:schemeClr val="dk1"/>
                </a:solidFill>
                <a:highlight>
                  <a:srgbClr val="FFFF00"/>
                </a:highlight>
                <a:latin typeface="Times New Roman"/>
                <a:ea typeface="Times New Roman"/>
                <a:cs typeface="Times New Roman"/>
                <a:sym typeface="Times New Roman"/>
              </a:rPr>
              <a:t>Reverse Centric Interleaved</a:t>
            </a:r>
            <a:r>
              <a:rPr lang="en-US" sz="1600">
                <a:solidFill>
                  <a:schemeClr val="dk1"/>
                </a:solidFill>
                <a:latin typeface="Times New Roman"/>
                <a:ea typeface="Times New Roman"/>
                <a:cs typeface="Times New Roman"/>
                <a:sym typeface="Times New Roman"/>
              </a:rPr>
              <a:t>: FSE DWI w/ Surface Coil: In-vivo Rat Brain</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p:bgPr>
    </p:bg>
    <p:spTree>
      <p:nvGrpSpPr>
        <p:cNvPr id="52" name="Shape 52"/>
        <p:cNvGrpSpPr/>
        <p:nvPr/>
      </p:nvGrpSpPr>
      <p:grpSpPr>
        <a:xfrm>
          <a:off x="0" y="0"/>
          <a:ext cx="0" cy="0"/>
          <a:chOff x="0" y="0"/>
          <a:chExt cx="0" cy="0"/>
        </a:xfrm>
      </p:grpSpPr>
      <p:sp>
        <p:nvSpPr>
          <p:cNvPr id="53" name="Google Shape;53;p7"/>
          <p:cNvSpPr txBox="1"/>
          <p:nvPr/>
        </p:nvSpPr>
        <p:spPr>
          <a:xfrm>
            <a:off x="429768" y="310896"/>
            <a:ext cx="1188720" cy="2377440"/>
          </a:xfrm>
          <a:prstGeom prst="rect">
            <a:avLst/>
          </a:prstGeom>
          <a:noFill/>
          <a:ln>
            <a:noFill/>
          </a:ln>
        </p:spPr>
        <p:txBody>
          <a:bodyPr anchorCtr="0" anchor="ctr" bIns="0" lIns="13700" spcFirstLastPara="1" rIns="13700" wrap="square" tIns="0">
            <a:spAutoFit/>
          </a:bodyPr>
          <a:lstStyle/>
          <a:p>
            <a:pPr indent="0" lvl="0" marL="0" marR="0" rtl="0" algn="r">
              <a:spcBef>
                <a:spcPts val="0"/>
              </a:spcBef>
              <a:spcAft>
                <a:spcPts val="0"/>
              </a:spcAft>
              <a:buNone/>
            </a:pPr>
            <a:r>
              <a:rPr b="1" i="0" lang="en-US" sz="1250" u="none" cap="none" strike="noStrike">
                <a:solidFill>
                  <a:srgbClr val="555555"/>
                </a:solidFill>
                <a:latin typeface="Times New Roman"/>
                <a:ea typeface="Times New Roman"/>
                <a:cs typeface="Times New Roman"/>
                <a:sym typeface="Times New Roman"/>
              </a:rPr>
              <a:t>Reconstructed</a:t>
            </a:r>
            <a:endParaRPr/>
          </a:p>
          <a:p>
            <a:pPr indent="0" lvl="0" marL="0" marR="0" rtl="0" algn="r">
              <a:spcBef>
                <a:spcPts val="0"/>
              </a:spcBef>
              <a:spcAft>
                <a:spcPts val="0"/>
              </a:spcAft>
              <a:buNone/>
            </a:pPr>
            <a:r>
              <a:rPr b="1" i="0" lang="en-US" sz="1250" u="none" cap="none" strike="noStrike">
                <a:solidFill>
                  <a:srgbClr val="555555"/>
                </a:solidFill>
                <a:latin typeface="Times New Roman"/>
                <a:ea typeface="Times New Roman"/>
                <a:cs typeface="Times New Roman"/>
                <a:sym typeface="Times New Roman"/>
              </a:rPr>
              <a:t>image</a:t>
            </a:r>
            <a:endParaRPr/>
          </a:p>
        </p:txBody>
      </p:sp>
      <p:sp>
        <p:nvSpPr>
          <p:cNvPr id="54" name="Google Shape;54;p7"/>
          <p:cNvSpPr txBox="1"/>
          <p:nvPr/>
        </p:nvSpPr>
        <p:spPr>
          <a:xfrm>
            <a:off x="429768" y="2743200"/>
            <a:ext cx="1188720" cy="2377440"/>
          </a:xfrm>
          <a:prstGeom prst="rect">
            <a:avLst/>
          </a:prstGeom>
          <a:noFill/>
          <a:ln>
            <a:noFill/>
          </a:ln>
        </p:spPr>
        <p:txBody>
          <a:bodyPr anchorCtr="0" anchor="ctr" bIns="0" lIns="13700" spcFirstLastPara="1" rIns="13700" wrap="square" tIns="0">
            <a:spAutoFit/>
          </a:bodyPr>
          <a:lstStyle/>
          <a:p>
            <a:pPr indent="0" lvl="0" marL="0" marR="0" rtl="0" algn="r">
              <a:spcBef>
                <a:spcPts val="0"/>
              </a:spcBef>
              <a:spcAft>
                <a:spcPts val="0"/>
              </a:spcAft>
              <a:buNone/>
            </a:pPr>
            <a:r>
              <a:rPr b="1" i="0" lang="en-US" sz="1250" u="none" cap="none" strike="noStrike">
                <a:solidFill>
                  <a:srgbClr val="555555"/>
                </a:solidFill>
                <a:latin typeface="Times New Roman"/>
                <a:ea typeface="Times New Roman"/>
                <a:cs typeface="Times New Roman"/>
                <a:sym typeface="Times New Roman"/>
              </a:rPr>
              <a:t>Log k-space</a:t>
            </a:r>
            <a:endParaRPr/>
          </a:p>
        </p:txBody>
      </p:sp>
      <p:sp>
        <p:nvSpPr>
          <p:cNvPr id="55" name="Google Shape;55;p7"/>
          <p:cNvSpPr txBox="1"/>
          <p:nvPr/>
        </p:nvSpPr>
        <p:spPr>
          <a:xfrm>
            <a:off x="1673352" y="9144"/>
            <a:ext cx="2862072" cy="265176"/>
          </a:xfrm>
          <a:prstGeom prst="rect">
            <a:avLst/>
          </a:prstGeom>
          <a:noFill/>
          <a:ln>
            <a:noFill/>
          </a:ln>
        </p:spPr>
        <p:txBody>
          <a:bodyPr anchorCtr="0" anchor="ctr" bIns="0" lIns="13700" spcFirstLastPara="1" rIns="13700" wrap="square" tIns="0">
            <a:spAutoFit/>
          </a:bodyPr>
          <a:lstStyle/>
          <a:p>
            <a:pPr indent="0" lvl="0" marL="0" marR="0" rtl="0" algn="ctr">
              <a:spcBef>
                <a:spcPts val="0"/>
              </a:spcBef>
              <a:spcAft>
                <a:spcPts val="0"/>
              </a:spcAft>
              <a:buNone/>
            </a:pPr>
            <a:r>
              <a:rPr b="1" i="0" lang="en-US" sz="1450" u="none" cap="none" strike="noStrike">
                <a:solidFill>
                  <a:srgbClr val="555555"/>
                </a:solidFill>
                <a:latin typeface="Times New Roman"/>
                <a:ea typeface="Times New Roman"/>
                <a:cs typeface="Times New Roman"/>
                <a:sym typeface="Times New Roman"/>
              </a:rPr>
              <a:t>b = 0 s/mm²  (SNR 6.2)</a:t>
            </a:r>
            <a:endParaRPr/>
          </a:p>
        </p:txBody>
      </p:sp>
      <p:pic>
        <p:nvPicPr>
          <p:cNvPr descr="image.png" id="56" name="Google Shape;56;p7"/>
          <p:cNvPicPr preferRelativeResize="0"/>
          <p:nvPr/>
        </p:nvPicPr>
        <p:blipFill rotWithShape="1">
          <a:blip r:embed="rId3">
            <a:alphaModFix/>
          </a:blip>
          <a:srcRect b="0" l="0" r="0" t="0"/>
          <a:stretch/>
        </p:blipFill>
        <p:spPr>
          <a:xfrm>
            <a:off x="1673352" y="310896"/>
            <a:ext cx="2862072" cy="2377440"/>
          </a:xfrm>
          <a:prstGeom prst="rect">
            <a:avLst/>
          </a:prstGeom>
          <a:noFill/>
          <a:ln>
            <a:noFill/>
          </a:ln>
        </p:spPr>
      </p:pic>
      <p:pic>
        <p:nvPicPr>
          <p:cNvPr descr="image.png" id="57" name="Google Shape;57;p7"/>
          <p:cNvPicPr preferRelativeResize="0"/>
          <p:nvPr/>
        </p:nvPicPr>
        <p:blipFill rotWithShape="1">
          <a:blip r:embed="rId4">
            <a:alphaModFix/>
          </a:blip>
          <a:srcRect b="0" l="0" r="0" t="0"/>
          <a:stretch/>
        </p:blipFill>
        <p:spPr>
          <a:xfrm>
            <a:off x="1673352" y="2743200"/>
            <a:ext cx="2862072" cy="2377440"/>
          </a:xfrm>
          <a:prstGeom prst="rect">
            <a:avLst/>
          </a:prstGeom>
          <a:noFill/>
          <a:ln>
            <a:noFill/>
          </a:ln>
        </p:spPr>
      </p:pic>
      <p:sp>
        <p:nvSpPr>
          <p:cNvPr id="58" name="Google Shape;58;p7"/>
          <p:cNvSpPr txBox="1"/>
          <p:nvPr/>
        </p:nvSpPr>
        <p:spPr>
          <a:xfrm>
            <a:off x="4608576" y="9144"/>
            <a:ext cx="2862072" cy="265176"/>
          </a:xfrm>
          <a:prstGeom prst="rect">
            <a:avLst/>
          </a:prstGeom>
          <a:noFill/>
          <a:ln>
            <a:noFill/>
          </a:ln>
        </p:spPr>
        <p:txBody>
          <a:bodyPr anchorCtr="0" anchor="ctr" bIns="0" lIns="13700" spcFirstLastPara="1" rIns="13700" wrap="square" tIns="0">
            <a:spAutoFit/>
          </a:bodyPr>
          <a:lstStyle/>
          <a:p>
            <a:pPr indent="0" lvl="0" marL="0" marR="0" rtl="0" algn="ctr">
              <a:spcBef>
                <a:spcPts val="0"/>
              </a:spcBef>
              <a:spcAft>
                <a:spcPts val="0"/>
              </a:spcAft>
              <a:buNone/>
            </a:pPr>
            <a:r>
              <a:rPr b="1" i="0" lang="en-US" sz="1450" u="none" cap="none" strike="noStrike">
                <a:solidFill>
                  <a:srgbClr val="555555"/>
                </a:solidFill>
                <a:latin typeface="Times New Roman"/>
                <a:ea typeface="Times New Roman"/>
                <a:cs typeface="Times New Roman"/>
                <a:sym typeface="Times New Roman"/>
              </a:rPr>
              <a:t>b = 6000 s/mm²  (SNR 3.1)</a:t>
            </a:r>
            <a:endParaRPr/>
          </a:p>
        </p:txBody>
      </p:sp>
      <p:pic>
        <p:nvPicPr>
          <p:cNvPr descr="image.png" id="59" name="Google Shape;59;p7"/>
          <p:cNvPicPr preferRelativeResize="0"/>
          <p:nvPr/>
        </p:nvPicPr>
        <p:blipFill rotWithShape="1">
          <a:blip r:embed="rId5">
            <a:alphaModFix/>
          </a:blip>
          <a:srcRect b="0" l="0" r="0" t="0"/>
          <a:stretch/>
        </p:blipFill>
        <p:spPr>
          <a:xfrm>
            <a:off x="4608576" y="310896"/>
            <a:ext cx="2862072" cy="2377440"/>
          </a:xfrm>
          <a:prstGeom prst="rect">
            <a:avLst/>
          </a:prstGeom>
          <a:noFill/>
          <a:ln>
            <a:noFill/>
          </a:ln>
        </p:spPr>
      </p:pic>
      <p:pic>
        <p:nvPicPr>
          <p:cNvPr descr="image.png" id="60" name="Google Shape;60;p7"/>
          <p:cNvPicPr preferRelativeResize="0"/>
          <p:nvPr/>
        </p:nvPicPr>
        <p:blipFill rotWithShape="1">
          <a:blip r:embed="rId6">
            <a:alphaModFix/>
          </a:blip>
          <a:srcRect b="0" l="0" r="0" t="0"/>
          <a:stretch/>
        </p:blipFill>
        <p:spPr>
          <a:xfrm>
            <a:off x="4608576" y="2743200"/>
            <a:ext cx="2862072" cy="237744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graphicFrame>
        <p:nvGraphicFramePr>
          <p:cNvPr id="65" name="Google Shape;65;p8"/>
          <p:cNvGraphicFramePr/>
          <p:nvPr/>
        </p:nvGraphicFramePr>
        <p:xfrm>
          <a:off x="301942" y="528517"/>
          <a:ext cx="3000000" cy="3000000"/>
        </p:xfrm>
        <a:graphic>
          <a:graphicData uri="http://schemas.openxmlformats.org/drawingml/2006/table">
            <a:tbl>
              <a:tblPr>
                <a:noFill/>
                <a:tableStyleId>{73BB658B-42DE-442A-99D8-BBBD18C3A753}</a:tableStyleId>
              </a:tblPr>
              <a:tblGrid>
                <a:gridCol w="4466125"/>
                <a:gridCol w="4122650"/>
              </a:tblGrid>
              <a:tr h="438100">
                <a:tc>
                  <a:txBody>
                    <a:bodyPr/>
                    <a:lstStyle/>
                    <a:p>
                      <a:pPr indent="0" lvl="0" marL="0" marR="0" rtl="0" algn="l">
                        <a:spcBef>
                          <a:spcPts val="0"/>
                        </a:spcBef>
                        <a:spcAft>
                          <a:spcPts val="0"/>
                        </a:spcAft>
                        <a:buNone/>
                      </a:pPr>
                      <a:r>
                        <a:rPr lang="en-US" sz="1200">
                          <a:solidFill>
                            <a:schemeClr val="dk1"/>
                          </a:solidFill>
                          <a:latin typeface="Times New Roman"/>
                          <a:ea typeface="Times New Roman"/>
                          <a:cs typeface="Times New Roman"/>
                          <a:sym typeface="Times New Roman"/>
                        </a:rPr>
                        <a:t>Total Scan Time</a:t>
                      </a:r>
                      <a:endParaRPr sz="1200" u="none" cap="none" strike="noStrike">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44 seconds </a:t>
                      </a:r>
                      <a:endParaRPr sz="1200">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r>
              <a:tr h="438100">
                <a:tc>
                  <a:txBody>
                    <a:bodyPr/>
                    <a:lstStyle/>
                    <a:p>
                      <a:pPr indent="0" lvl="0" marL="0" marR="0" rtl="0" algn="l">
                        <a:spcBef>
                          <a:spcPts val="0"/>
                        </a:spcBef>
                        <a:spcAft>
                          <a:spcPts val="0"/>
                        </a:spcAft>
                        <a:buClr>
                          <a:srgbClr val="6E767C"/>
                        </a:buClr>
                        <a:buSzPts val="1050"/>
                        <a:buFont typeface="Calibri"/>
                        <a:buNone/>
                      </a:pPr>
                      <a:r>
                        <a:rPr lang="en-US" sz="1200" u="none" cap="none" strike="noStrike">
                          <a:solidFill>
                            <a:schemeClr val="dk1"/>
                          </a:solidFill>
                          <a:latin typeface="Times New Roman"/>
                          <a:ea typeface="Times New Roman"/>
                          <a:cs typeface="Times New Roman"/>
                          <a:sym typeface="Times New Roman"/>
                        </a:rPr>
                        <a:t>TR, TE, </a:t>
                      </a:r>
                      <a:r>
                        <a:rPr lang="en-US" sz="1200">
                          <a:solidFill>
                            <a:schemeClr val="dk1"/>
                          </a:solidFill>
                          <a:latin typeface="Times New Roman"/>
                          <a:ea typeface="Times New Roman"/>
                          <a:cs typeface="Times New Roman"/>
                          <a:sym typeface="Times New Roman"/>
                        </a:rPr>
                        <a:t>esp</a:t>
                      </a:r>
                      <a:endParaRPr sz="1200" u="none" cap="none" strike="noStrike">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c>
                  <a:txBody>
                    <a:bodyPr/>
                    <a:lstStyle/>
                    <a:p>
                      <a:pPr indent="0" lvl="0" marL="0" marR="0" rtl="0" algn="l">
                        <a:spcBef>
                          <a:spcPts val="0"/>
                        </a:spcBef>
                        <a:spcAft>
                          <a:spcPts val="0"/>
                        </a:spcAft>
                        <a:buClr>
                          <a:srgbClr val="D2691E"/>
                        </a:buClr>
                        <a:buSzPts val="1050"/>
                        <a:buFont typeface="Calibri"/>
                        <a:buNone/>
                      </a:pPr>
                      <a:r>
                        <a:rPr lang="en-US" sz="1200">
                          <a:solidFill>
                            <a:schemeClr val="dk1"/>
                          </a:solidFill>
                          <a:latin typeface="Times New Roman"/>
                          <a:ea typeface="Times New Roman"/>
                          <a:cs typeface="Times New Roman"/>
                          <a:sym typeface="Times New Roman"/>
                        </a:rPr>
                        <a:t>2000 ms / 54 ms / 16 ms</a:t>
                      </a:r>
                      <a:endParaRPr sz="1200" u="none" cap="none" strike="noStrike">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r>
              <a:tr h="438100">
                <a:tc>
                  <a:txBody>
                    <a:bodyPr/>
                    <a:lstStyle/>
                    <a:p>
                      <a:pPr indent="0" lvl="0" marL="0" marR="0" rtl="0" algn="l">
                        <a:spcBef>
                          <a:spcPts val="0"/>
                        </a:spcBef>
                        <a:spcAft>
                          <a:spcPts val="0"/>
                        </a:spcAft>
                        <a:buNone/>
                      </a:pPr>
                      <a:r>
                        <a:rPr lang="en-US" sz="1200">
                          <a:solidFill>
                            <a:schemeClr val="dk1"/>
                          </a:solidFill>
                          <a:latin typeface="Times New Roman"/>
                          <a:ea typeface="Times New Roman"/>
                          <a:cs typeface="Times New Roman"/>
                          <a:sym typeface="Times New Roman"/>
                        </a:rPr>
                        <a:t>PE_order</a:t>
                      </a:r>
                      <a:endParaRPr sz="1200" u="none" cap="none" strike="noStrike">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c>
                  <a:txBody>
                    <a:bodyPr/>
                    <a:lstStyle/>
                    <a:p>
                      <a:pPr indent="0" lvl="0" marL="0" marR="0" rtl="0" algn="l">
                        <a:spcBef>
                          <a:spcPts val="0"/>
                        </a:spcBef>
                        <a:spcAft>
                          <a:spcPts val="0"/>
                        </a:spcAft>
                        <a:buNone/>
                      </a:pPr>
                      <a:r>
                        <a:rPr lang="en-US" sz="1200">
                          <a:solidFill>
                            <a:schemeClr val="dk1"/>
                          </a:solidFill>
                          <a:highlight>
                            <a:srgbClr val="FFFF00"/>
                          </a:highlight>
                          <a:latin typeface="Times New Roman"/>
                          <a:ea typeface="Times New Roman"/>
                          <a:cs typeface="Times New Roman"/>
                          <a:sym typeface="Times New Roman"/>
                        </a:rPr>
                        <a:t>7</a:t>
                      </a:r>
                      <a:endParaRPr sz="1200">
                        <a:solidFill>
                          <a:schemeClr val="dk1"/>
                        </a:solidFill>
                        <a:highlight>
                          <a:srgbClr val="FFFF00"/>
                        </a:highlight>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r>
              <a:tr h="438100">
                <a:tc>
                  <a:txBody>
                    <a:bodyPr/>
                    <a:lstStyle/>
                    <a:p>
                      <a:pPr indent="0" lvl="0" marL="0" marR="0" rtl="0" algn="l">
                        <a:spcBef>
                          <a:spcPts val="0"/>
                        </a:spcBef>
                        <a:spcAft>
                          <a:spcPts val="0"/>
                        </a:spcAft>
                        <a:buClr>
                          <a:srgbClr val="6E767C"/>
                        </a:buClr>
                        <a:buSzPts val="1050"/>
                        <a:buFont typeface="Calibri"/>
                        <a:buNone/>
                      </a:pPr>
                      <a:r>
                        <a:rPr lang="en-US" sz="1200" u="none" cap="none" strike="noStrike">
                          <a:solidFill>
                            <a:schemeClr val="dk1"/>
                          </a:solidFill>
                          <a:latin typeface="Times New Roman"/>
                          <a:ea typeface="Times New Roman"/>
                          <a:cs typeface="Times New Roman"/>
                          <a:sym typeface="Times New Roman"/>
                        </a:rPr>
                        <a:t>ETL / </a:t>
                      </a:r>
                      <a:r>
                        <a:rPr lang="en-US" sz="1200">
                          <a:solidFill>
                            <a:schemeClr val="dk1"/>
                          </a:solidFill>
                          <a:latin typeface="Times New Roman"/>
                          <a:ea typeface="Times New Roman"/>
                          <a:cs typeface="Times New Roman"/>
                          <a:sym typeface="Times New Roman"/>
                        </a:rPr>
                        <a:t>A</a:t>
                      </a:r>
                      <a:r>
                        <a:rPr lang="en-US" sz="1200" u="none" cap="none" strike="noStrike">
                          <a:solidFill>
                            <a:schemeClr val="dk1"/>
                          </a:solidFill>
                          <a:latin typeface="Times New Roman"/>
                          <a:ea typeface="Times New Roman"/>
                          <a:cs typeface="Times New Roman"/>
                          <a:sym typeface="Times New Roman"/>
                        </a:rPr>
                        <a:t>verages</a:t>
                      </a:r>
                      <a:endParaRPr sz="1200" u="none" cap="none" strike="noStrike">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c>
                  <a:txBody>
                    <a:bodyPr/>
                    <a:lstStyle/>
                    <a:p>
                      <a:pPr indent="0" lvl="0" marL="0" marR="0" rtl="0" algn="l">
                        <a:spcBef>
                          <a:spcPts val="0"/>
                        </a:spcBef>
                        <a:spcAft>
                          <a:spcPts val="0"/>
                        </a:spcAft>
                        <a:buClr>
                          <a:srgbClr val="22282B"/>
                        </a:buClr>
                        <a:buSzPts val="1050"/>
                        <a:buFont typeface="Calibri"/>
                        <a:buNone/>
                      </a:pPr>
                      <a:r>
                        <a:rPr lang="en-US" sz="1200">
                          <a:solidFill>
                            <a:schemeClr val="dk1"/>
                          </a:solidFill>
                          <a:latin typeface="Times New Roman"/>
                          <a:ea typeface="Times New Roman"/>
                          <a:cs typeface="Times New Roman"/>
                          <a:sym typeface="Times New Roman"/>
                        </a:rPr>
                        <a:t>1 / 1</a:t>
                      </a:r>
                      <a:endParaRPr sz="1200" u="none" cap="none" strike="noStrike">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r>
              <a:tr h="438100">
                <a:tc>
                  <a:txBody>
                    <a:bodyPr/>
                    <a:lstStyle/>
                    <a:p>
                      <a:pPr indent="0" lvl="0" marL="0" marR="0" rtl="0" algn="l">
                        <a:spcBef>
                          <a:spcPts val="0"/>
                        </a:spcBef>
                        <a:spcAft>
                          <a:spcPts val="0"/>
                        </a:spcAft>
                        <a:buNone/>
                      </a:pPr>
                      <a:r>
                        <a:rPr lang="en-US" sz="1200">
                          <a:solidFill>
                            <a:schemeClr val="dk1"/>
                          </a:solidFill>
                          <a:latin typeface="Times New Roman"/>
                          <a:ea typeface="Times New Roman"/>
                          <a:cs typeface="Times New Roman"/>
                          <a:sym typeface="Times New Roman"/>
                        </a:rPr>
                        <a:t>FOV</a:t>
                      </a:r>
                      <a:endParaRPr sz="1200" u="none" cap="none" strike="noStrike">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c>
                  <a:txBody>
                    <a:bodyPr/>
                    <a:lstStyle/>
                    <a:p>
                      <a:pPr indent="0" lvl="0" marL="0" marR="0" rtl="0" algn="l">
                        <a:spcBef>
                          <a:spcPts val="0"/>
                        </a:spcBef>
                        <a:spcAft>
                          <a:spcPts val="0"/>
                        </a:spcAft>
                        <a:buNone/>
                      </a:pPr>
                      <a:r>
                        <a:rPr lang="en-US" sz="1200">
                          <a:solidFill>
                            <a:schemeClr val="dk1"/>
                          </a:solidFill>
                          <a:latin typeface="Times New Roman"/>
                          <a:ea typeface="Times New Roman"/>
                          <a:cs typeface="Times New Roman"/>
                          <a:sym typeface="Times New Roman"/>
                        </a:rPr>
                        <a:t>80</a:t>
                      </a:r>
                      <a:endParaRPr sz="1200">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r>
              <a:tr h="438100">
                <a:tc>
                  <a:txBody>
                    <a:bodyPr/>
                    <a:lstStyle/>
                    <a:p>
                      <a:pPr indent="0" lvl="0" marL="0" marR="0" rtl="0" algn="l">
                        <a:spcBef>
                          <a:spcPts val="0"/>
                        </a:spcBef>
                        <a:spcAft>
                          <a:spcPts val="0"/>
                        </a:spcAft>
                        <a:buClr>
                          <a:srgbClr val="6E767C"/>
                        </a:buClr>
                        <a:buSzPts val="1050"/>
                        <a:buFont typeface="Calibri"/>
                        <a:buNone/>
                      </a:pPr>
                      <a:r>
                        <a:rPr lang="en-US" sz="1200" u="none" cap="none" strike="noStrike">
                          <a:solidFill>
                            <a:schemeClr val="dk1"/>
                          </a:solidFill>
                          <a:latin typeface="Times New Roman"/>
                          <a:ea typeface="Times New Roman"/>
                          <a:cs typeface="Times New Roman"/>
                          <a:sym typeface="Times New Roman"/>
                        </a:rPr>
                        <a:t>b-valu</a:t>
                      </a:r>
                      <a:r>
                        <a:rPr lang="en-US" sz="1200">
                          <a:solidFill>
                            <a:schemeClr val="dk1"/>
                          </a:solidFill>
                          <a:latin typeface="Times New Roman"/>
                          <a:ea typeface="Times New Roman"/>
                          <a:cs typeface="Times New Roman"/>
                          <a:sym typeface="Times New Roman"/>
                        </a:rPr>
                        <a:t>es</a:t>
                      </a:r>
                      <a:endParaRPr sz="1200" u="none" cap="none" strike="noStrike">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c>
                  <a:txBody>
                    <a:bodyPr/>
                    <a:lstStyle/>
                    <a:p>
                      <a:pPr indent="0" lvl="0" marL="0" marR="0" rtl="0" algn="l">
                        <a:spcBef>
                          <a:spcPts val="0"/>
                        </a:spcBef>
                        <a:spcAft>
                          <a:spcPts val="0"/>
                        </a:spcAft>
                        <a:buClr>
                          <a:srgbClr val="22282B"/>
                        </a:buClr>
                        <a:buSzPts val="1050"/>
                        <a:buFont typeface="Calibri"/>
                        <a:buNone/>
                      </a:pPr>
                      <a:r>
                        <a:rPr lang="en-US" sz="1200">
                          <a:solidFill>
                            <a:schemeClr val="dk1"/>
                          </a:solidFill>
                          <a:latin typeface="Times New Roman"/>
                          <a:ea typeface="Times New Roman"/>
                          <a:cs typeface="Times New Roman"/>
                          <a:sym typeface="Times New Roman"/>
                        </a:rPr>
                        <a:t>0, 6000</a:t>
                      </a:r>
                      <a:r>
                        <a:rPr lang="en-US" sz="1200" u="none" cap="none" strike="noStrike">
                          <a:solidFill>
                            <a:schemeClr val="dk1"/>
                          </a:solidFill>
                          <a:latin typeface="Times New Roman"/>
                          <a:ea typeface="Times New Roman"/>
                          <a:cs typeface="Times New Roman"/>
                          <a:sym typeface="Times New Roman"/>
                        </a:rPr>
                        <a:t> s/mm²</a:t>
                      </a:r>
                      <a:endParaRPr sz="1200" u="none" cap="none" strike="noStrike">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r>
              <a:tr h="438100">
                <a:tc>
                  <a:txBody>
                    <a:bodyPr/>
                    <a:lstStyle/>
                    <a:p>
                      <a:pPr indent="0" lvl="0" marL="0" marR="0" rtl="0" algn="l">
                        <a:spcBef>
                          <a:spcPts val="0"/>
                        </a:spcBef>
                        <a:spcAft>
                          <a:spcPts val="0"/>
                        </a:spcAft>
                        <a:buNone/>
                      </a:pPr>
                      <a:r>
                        <a:rPr lang="en-US" sz="1200">
                          <a:solidFill>
                            <a:schemeClr val="dk1"/>
                          </a:solidFill>
                          <a:latin typeface="Times New Roman"/>
                          <a:ea typeface="Times New Roman"/>
                          <a:cs typeface="Times New Roman"/>
                          <a:sym typeface="Times New Roman"/>
                        </a:rPr>
                        <a:t>Diffusion Directions</a:t>
                      </a:r>
                      <a:endParaRPr sz="1200" u="none" cap="none" strike="noStrike">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c>
                  <a:txBody>
                    <a:bodyPr/>
                    <a:lstStyle/>
                    <a:p>
                      <a:pPr indent="0" lvl="0" marL="0" marR="0" rtl="0" algn="l">
                        <a:spcBef>
                          <a:spcPts val="0"/>
                        </a:spcBef>
                        <a:spcAft>
                          <a:spcPts val="0"/>
                        </a:spcAft>
                        <a:buNone/>
                      </a:pPr>
                      <a:r>
                        <a:rPr lang="en-US" sz="1200">
                          <a:solidFill>
                            <a:schemeClr val="dk1"/>
                          </a:solidFill>
                          <a:latin typeface="Times New Roman"/>
                          <a:ea typeface="Times New Roman"/>
                          <a:cs typeface="Times New Roman"/>
                          <a:sym typeface="Times New Roman"/>
                        </a:rPr>
                        <a:t>1 (x-axis)</a:t>
                      </a:r>
                      <a:endParaRPr sz="1200">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r>
              <a:tr h="438100">
                <a:tc>
                  <a:txBody>
                    <a:bodyPr/>
                    <a:lstStyle/>
                    <a:p>
                      <a:pPr indent="0" lvl="0" marL="0" marR="0" rtl="0" algn="l">
                        <a:spcBef>
                          <a:spcPts val="0"/>
                        </a:spcBef>
                        <a:spcAft>
                          <a:spcPts val="0"/>
                        </a:spcAft>
                        <a:buNone/>
                      </a:pPr>
                      <a:r>
                        <a:rPr lang="en-US" sz="1200">
                          <a:solidFill>
                            <a:srgbClr val="000000"/>
                          </a:solidFill>
                          <a:latin typeface="Times New Roman"/>
                          <a:ea typeface="Times New Roman"/>
                          <a:cs typeface="Times New Roman"/>
                          <a:sym typeface="Times New Roman"/>
                        </a:rPr>
                        <a:t>Small</a:t>
                      </a:r>
                      <a:r>
                        <a:rPr lang="en-US" sz="1200">
                          <a:latin typeface="Times New Roman"/>
                          <a:ea typeface="Times New Roman"/>
                          <a:cs typeface="Times New Roman"/>
                          <a:sym typeface="Times New Roman"/>
                        </a:rPr>
                        <a:t> / Big Delta</a:t>
                      </a:r>
                      <a:endParaRPr sz="1200" u="none" cap="none" strike="noStrike">
                        <a:solidFill>
                          <a:srgbClr val="000000"/>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c>
                  <a:txBody>
                    <a:bodyPr/>
                    <a:lstStyle/>
                    <a:p>
                      <a:pPr indent="0" lvl="0" marL="0" marR="0" rtl="0" algn="l">
                        <a:spcBef>
                          <a:spcPts val="0"/>
                        </a:spcBef>
                        <a:spcAft>
                          <a:spcPts val="0"/>
                        </a:spcAft>
                        <a:buNone/>
                      </a:pPr>
                      <a:r>
                        <a:rPr lang="en-US" sz="1200">
                          <a:solidFill>
                            <a:srgbClr val="000000"/>
                          </a:solidFill>
                          <a:latin typeface="Times New Roman"/>
                          <a:ea typeface="Times New Roman"/>
                          <a:cs typeface="Times New Roman"/>
                          <a:sym typeface="Times New Roman"/>
                        </a:rPr>
                        <a:t>4 ms / </a:t>
                      </a:r>
                      <a:r>
                        <a:rPr lang="en-US" sz="1200">
                          <a:latin typeface="Times New Roman"/>
                          <a:ea typeface="Times New Roman"/>
                          <a:cs typeface="Times New Roman"/>
                          <a:sym typeface="Times New Roman"/>
                        </a:rPr>
                        <a:t>4</a:t>
                      </a:r>
                      <a:r>
                        <a:rPr lang="en-US" sz="1200">
                          <a:solidFill>
                            <a:srgbClr val="000000"/>
                          </a:solidFill>
                          <a:latin typeface="Times New Roman"/>
                          <a:ea typeface="Times New Roman"/>
                          <a:cs typeface="Times New Roman"/>
                          <a:sym typeface="Times New Roman"/>
                        </a:rPr>
                        <a:t>0 ms</a:t>
                      </a:r>
                      <a:endParaRPr sz="1200">
                        <a:solidFill>
                          <a:srgbClr val="000000"/>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r>
              <a:tr h="438100">
                <a:tc>
                  <a:txBody>
                    <a:bodyPr/>
                    <a:lstStyle/>
                    <a:p>
                      <a:pPr indent="0" lvl="0" marL="0" marR="0" rtl="0" algn="l">
                        <a:spcBef>
                          <a:spcPts val="0"/>
                        </a:spcBef>
                        <a:spcAft>
                          <a:spcPts val="0"/>
                        </a:spcAft>
                        <a:buClr>
                          <a:srgbClr val="6E767C"/>
                        </a:buClr>
                        <a:buSzPts val="1050"/>
                        <a:buFont typeface="Calibri"/>
                        <a:buNone/>
                      </a:pPr>
                      <a:r>
                        <a:rPr lang="en-US" sz="1200">
                          <a:solidFill>
                            <a:schemeClr val="dk1"/>
                          </a:solidFill>
                          <a:latin typeface="Times New Roman"/>
                          <a:ea typeface="Times New Roman"/>
                          <a:cs typeface="Times New Roman"/>
                          <a:sym typeface="Times New Roman"/>
                        </a:rPr>
                        <a:t>diff_tcrush / tcrush</a:t>
                      </a:r>
                      <a:endParaRPr sz="1200" u="none" cap="none" strike="noStrike">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c>
                  <a:txBody>
                    <a:bodyPr/>
                    <a:lstStyle/>
                    <a:p>
                      <a:pPr indent="0" lvl="0" marL="0" marR="0" rtl="0" algn="l">
                        <a:spcBef>
                          <a:spcPts val="0"/>
                        </a:spcBef>
                        <a:spcAft>
                          <a:spcPts val="0"/>
                        </a:spcAft>
                        <a:buClr>
                          <a:srgbClr val="22282B"/>
                        </a:buClr>
                        <a:buSzPts val="1050"/>
                        <a:buFont typeface="Calibri"/>
                        <a:buNone/>
                      </a:pPr>
                      <a:r>
                        <a:rPr lang="en-US" sz="1200">
                          <a:solidFill>
                            <a:schemeClr val="dk1"/>
                          </a:solidFill>
                          <a:latin typeface="Times New Roman"/>
                          <a:ea typeface="Times New Roman"/>
                          <a:cs typeface="Times New Roman"/>
                          <a:sym typeface="Times New Roman"/>
                        </a:rPr>
                        <a:t>2000 us / 2000 us</a:t>
                      </a:r>
                      <a:endParaRPr sz="1200" u="none" cap="none" strike="noStrike">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r>
              <a:tr h="438100">
                <a:tc>
                  <a:txBody>
                    <a:bodyPr/>
                    <a:lstStyle/>
                    <a:p>
                      <a:pPr indent="0" lvl="0" marL="0" marR="0" rtl="0" algn="l">
                        <a:spcBef>
                          <a:spcPts val="0"/>
                        </a:spcBef>
                        <a:spcAft>
                          <a:spcPts val="0"/>
                        </a:spcAft>
                        <a:buNone/>
                      </a:pPr>
                      <a:r>
                        <a:rPr lang="en-US" sz="1200">
                          <a:solidFill>
                            <a:schemeClr val="dk1"/>
                          </a:solidFill>
                          <a:latin typeface="Times New Roman"/>
                          <a:ea typeface="Times New Roman"/>
                          <a:cs typeface="Times New Roman"/>
                          <a:sym typeface="Times New Roman"/>
                        </a:rPr>
                        <a:t>diff_tcrush_amplitude / t_crush_amplitude</a:t>
                      </a:r>
                      <a:endParaRPr sz="1200">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c>
                  <a:txBody>
                    <a:bodyPr/>
                    <a:lstStyle/>
                    <a:p>
                      <a:pPr indent="0" lvl="0" marL="0" marR="0" rtl="0" algn="l">
                        <a:spcBef>
                          <a:spcPts val="0"/>
                        </a:spcBef>
                        <a:spcAft>
                          <a:spcPts val="0"/>
                        </a:spcAft>
                        <a:buNone/>
                      </a:pPr>
                      <a:r>
                        <a:rPr lang="en-US" sz="1200">
                          <a:solidFill>
                            <a:schemeClr val="dk1"/>
                          </a:solidFill>
                          <a:latin typeface="Times New Roman"/>
                          <a:ea typeface="Times New Roman"/>
                          <a:cs typeface="Times New Roman"/>
                          <a:sym typeface="Times New Roman"/>
                        </a:rPr>
                        <a:t>2754 DAC units / 2754 DAC units </a:t>
                      </a:r>
                      <a:endParaRPr sz="1200">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r>
            </a:tbl>
          </a:graphicData>
        </a:graphic>
      </p:graphicFrame>
      <p:sp>
        <p:nvSpPr>
          <p:cNvPr id="66" name="Google Shape;66;p8"/>
          <p:cNvSpPr txBox="1"/>
          <p:nvPr/>
        </p:nvSpPr>
        <p:spPr>
          <a:xfrm>
            <a:off x="301975" y="0"/>
            <a:ext cx="8588700" cy="310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600">
                <a:solidFill>
                  <a:schemeClr val="dk1"/>
                </a:solidFill>
                <a:latin typeface="Times New Roman"/>
                <a:ea typeface="Times New Roman"/>
                <a:cs typeface="Times New Roman"/>
                <a:sym typeface="Times New Roman"/>
              </a:rPr>
              <a:t>Test 2 </a:t>
            </a:r>
            <a:r>
              <a:rPr lang="en-US" sz="1600">
                <a:solidFill>
                  <a:schemeClr val="dk1"/>
                </a:solidFill>
                <a:highlight>
                  <a:srgbClr val="FFFF00"/>
                </a:highlight>
                <a:latin typeface="Times New Roman"/>
                <a:ea typeface="Times New Roman"/>
                <a:cs typeface="Times New Roman"/>
                <a:sym typeface="Times New Roman"/>
              </a:rPr>
              <a:t>Linear Interleaved:</a:t>
            </a:r>
            <a:r>
              <a:rPr lang="en-US" sz="1600">
                <a:solidFill>
                  <a:schemeClr val="dk1"/>
                </a:solidFill>
                <a:latin typeface="Times New Roman"/>
                <a:ea typeface="Times New Roman"/>
                <a:cs typeface="Times New Roman"/>
                <a:sym typeface="Times New Roman"/>
              </a:rPr>
              <a:t> FSE DWI w/ Surface Coil: In-vivo Rat Brain</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p:bgPr>
    </p:bg>
    <p:spTree>
      <p:nvGrpSpPr>
        <p:cNvPr id="71" name="Shape 71"/>
        <p:cNvGrpSpPr/>
        <p:nvPr/>
      </p:nvGrpSpPr>
      <p:grpSpPr>
        <a:xfrm>
          <a:off x="0" y="0"/>
          <a:ext cx="0" cy="0"/>
          <a:chOff x="0" y="0"/>
          <a:chExt cx="0" cy="0"/>
        </a:xfrm>
      </p:grpSpPr>
      <p:sp>
        <p:nvSpPr>
          <p:cNvPr id="72" name="Google Shape;72;p9"/>
          <p:cNvSpPr txBox="1"/>
          <p:nvPr/>
        </p:nvSpPr>
        <p:spPr>
          <a:xfrm>
            <a:off x="429768" y="310896"/>
            <a:ext cx="1188720" cy="2377440"/>
          </a:xfrm>
          <a:prstGeom prst="rect">
            <a:avLst/>
          </a:prstGeom>
          <a:noFill/>
          <a:ln>
            <a:noFill/>
          </a:ln>
        </p:spPr>
        <p:txBody>
          <a:bodyPr anchorCtr="0" anchor="ctr" bIns="0" lIns="13700" spcFirstLastPara="1" rIns="13700" wrap="square" tIns="0">
            <a:spAutoFit/>
          </a:bodyPr>
          <a:lstStyle/>
          <a:p>
            <a:pPr indent="0" lvl="0" marL="0" marR="0" rtl="0" algn="r">
              <a:spcBef>
                <a:spcPts val="0"/>
              </a:spcBef>
              <a:spcAft>
                <a:spcPts val="0"/>
              </a:spcAft>
              <a:buNone/>
            </a:pPr>
            <a:r>
              <a:rPr b="1" i="0" lang="en-US" sz="1250" u="none" cap="none" strike="noStrike">
                <a:solidFill>
                  <a:srgbClr val="555555"/>
                </a:solidFill>
                <a:latin typeface="Times New Roman"/>
                <a:ea typeface="Times New Roman"/>
                <a:cs typeface="Times New Roman"/>
                <a:sym typeface="Times New Roman"/>
              </a:rPr>
              <a:t>Reconstructed</a:t>
            </a:r>
            <a:endParaRPr/>
          </a:p>
          <a:p>
            <a:pPr indent="0" lvl="0" marL="0" marR="0" rtl="0" algn="r">
              <a:spcBef>
                <a:spcPts val="0"/>
              </a:spcBef>
              <a:spcAft>
                <a:spcPts val="0"/>
              </a:spcAft>
              <a:buNone/>
            </a:pPr>
            <a:r>
              <a:rPr b="1" i="0" lang="en-US" sz="1250" u="none" cap="none" strike="noStrike">
                <a:solidFill>
                  <a:srgbClr val="555555"/>
                </a:solidFill>
                <a:latin typeface="Times New Roman"/>
                <a:ea typeface="Times New Roman"/>
                <a:cs typeface="Times New Roman"/>
                <a:sym typeface="Times New Roman"/>
              </a:rPr>
              <a:t>image</a:t>
            </a:r>
            <a:endParaRPr/>
          </a:p>
        </p:txBody>
      </p:sp>
      <p:sp>
        <p:nvSpPr>
          <p:cNvPr id="73" name="Google Shape;73;p9"/>
          <p:cNvSpPr txBox="1"/>
          <p:nvPr/>
        </p:nvSpPr>
        <p:spPr>
          <a:xfrm>
            <a:off x="429768" y="2743200"/>
            <a:ext cx="1188720" cy="2377440"/>
          </a:xfrm>
          <a:prstGeom prst="rect">
            <a:avLst/>
          </a:prstGeom>
          <a:noFill/>
          <a:ln>
            <a:noFill/>
          </a:ln>
        </p:spPr>
        <p:txBody>
          <a:bodyPr anchorCtr="0" anchor="ctr" bIns="0" lIns="13700" spcFirstLastPara="1" rIns="13700" wrap="square" tIns="0">
            <a:spAutoFit/>
          </a:bodyPr>
          <a:lstStyle/>
          <a:p>
            <a:pPr indent="0" lvl="0" marL="0" marR="0" rtl="0" algn="r">
              <a:spcBef>
                <a:spcPts val="0"/>
              </a:spcBef>
              <a:spcAft>
                <a:spcPts val="0"/>
              </a:spcAft>
              <a:buNone/>
            </a:pPr>
            <a:r>
              <a:rPr b="1" i="0" lang="en-US" sz="1250" u="none" cap="none" strike="noStrike">
                <a:solidFill>
                  <a:srgbClr val="555555"/>
                </a:solidFill>
                <a:latin typeface="Times New Roman"/>
                <a:ea typeface="Times New Roman"/>
                <a:cs typeface="Times New Roman"/>
                <a:sym typeface="Times New Roman"/>
              </a:rPr>
              <a:t>Log k-space</a:t>
            </a:r>
            <a:endParaRPr/>
          </a:p>
        </p:txBody>
      </p:sp>
      <p:sp>
        <p:nvSpPr>
          <p:cNvPr id="74" name="Google Shape;74;p9"/>
          <p:cNvSpPr txBox="1"/>
          <p:nvPr/>
        </p:nvSpPr>
        <p:spPr>
          <a:xfrm>
            <a:off x="1673352" y="9144"/>
            <a:ext cx="2862072" cy="265176"/>
          </a:xfrm>
          <a:prstGeom prst="rect">
            <a:avLst/>
          </a:prstGeom>
          <a:noFill/>
          <a:ln>
            <a:noFill/>
          </a:ln>
        </p:spPr>
        <p:txBody>
          <a:bodyPr anchorCtr="0" anchor="ctr" bIns="0" lIns="13700" spcFirstLastPara="1" rIns="13700" wrap="square" tIns="0">
            <a:spAutoFit/>
          </a:bodyPr>
          <a:lstStyle/>
          <a:p>
            <a:pPr indent="0" lvl="0" marL="0" marR="0" rtl="0" algn="ctr">
              <a:spcBef>
                <a:spcPts val="0"/>
              </a:spcBef>
              <a:spcAft>
                <a:spcPts val="0"/>
              </a:spcAft>
              <a:buNone/>
            </a:pPr>
            <a:r>
              <a:rPr b="1" i="0" lang="en-US" sz="1450" u="none" cap="none" strike="noStrike">
                <a:solidFill>
                  <a:srgbClr val="555555"/>
                </a:solidFill>
                <a:latin typeface="Times New Roman"/>
                <a:ea typeface="Times New Roman"/>
                <a:cs typeface="Times New Roman"/>
                <a:sym typeface="Times New Roman"/>
              </a:rPr>
              <a:t>b = 0 s/mm²  (SNR 7.9)</a:t>
            </a:r>
            <a:endParaRPr/>
          </a:p>
        </p:txBody>
      </p:sp>
      <p:pic>
        <p:nvPicPr>
          <p:cNvPr descr="image.png" id="75" name="Google Shape;75;p9"/>
          <p:cNvPicPr preferRelativeResize="0"/>
          <p:nvPr/>
        </p:nvPicPr>
        <p:blipFill rotWithShape="1">
          <a:blip r:embed="rId3">
            <a:alphaModFix/>
          </a:blip>
          <a:srcRect b="0" l="0" r="0" t="0"/>
          <a:stretch/>
        </p:blipFill>
        <p:spPr>
          <a:xfrm>
            <a:off x="1673352" y="310896"/>
            <a:ext cx="2862072" cy="2377440"/>
          </a:xfrm>
          <a:prstGeom prst="rect">
            <a:avLst/>
          </a:prstGeom>
          <a:noFill/>
          <a:ln>
            <a:noFill/>
          </a:ln>
        </p:spPr>
      </p:pic>
      <p:pic>
        <p:nvPicPr>
          <p:cNvPr descr="image.png" id="76" name="Google Shape;76;p9"/>
          <p:cNvPicPr preferRelativeResize="0"/>
          <p:nvPr/>
        </p:nvPicPr>
        <p:blipFill rotWithShape="1">
          <a:blip r:embed="rId4">
            <a:alphaModFix/>
          </a:blip>
          <a:srcRect b="0" l="0" r="0" t="0"/>
          <a:stretch/>
        </p:blipFill>
        <p:spPr>
          <a:xfrm>
            <a:off x="1673352" y="2743200"/>
            <a:ext cx="2862072" cy="2377440"/>
          </a:xfrm>
          <a:prstGeom prst="rect">
            <a:avLst/>
          </a:prstGeom>
          <a:noFill/>
          <a:ln>
            <a:noFill/>
          </a:ln>
        </p:spPr>
      </p:pic>
      <p:sp>
        <p:nvSpPr>
          <p:cNvPr id="77" name="Google Shape;77;p9"/>
          <p:cNvSpPr txBox="1"/>
          <p:nvPr/>
        </p:nvSpPr>
        <p:spPr>
          <a:xfrm>
            <a:off x="4608576" y="9144"/>
            <a:ext cx="2862072" cy="265176"/>
          </a:xfrm>
          <a:prstGeom prst="rect">
            <a:avLst/>
          </a:prstGeom>
          <a:noFill/>
          <a:ln>
            <a:noFill/>
          </a:ln>
        </p:spPr>
        <p:txBody>
          <a:bodyPr anchorCtr="0" anchor="ctr" bIns="0" lIns="13700" spcFirstLastPara="1" rIns="13700" wrap="square" tIns="0">
            <a:spAutoFit/>
          </a:bodyPr>
          <a:lstStyle/>
          <a:p>
            <a:pPr indent="0" lvl="0" marL="0" marR="0" rtl="0" algn="ctr">
              <a:spcBef>
                <a:spcPts val="0"/>
              </a:spcBef>
              <a:spcAft>
                <a:spcPts val="0"/>
              </a:spcAft>
              <a:buNone/>
            </a:pPr>
            <a:r>
              <a:rPr b="1" i="0" lang="en-US" sz="1450" u="none" cap="none" strike="noStrike">
                <a:solidFill>
                  <a:srgbClr val="555555"/>
                </a:solidFill>
                <a:latin typeface="Times New Roman"/>
                <a:ea typeface="Times New Roman"/>
                <a:cs typeface="Times New Roman"/>
                <a:sym typeface="Times New Roman"/>
              </a:rPr>
              <a:t>b = 6000 s/mm²  (SNR 2.5)</a:t>
            </a:r>
            <a:endParaRPr/>
          </a:p>
        </p:txBody>
      </p:sp>
      <p:pic>
        <p:nvPicPr>
          <p:cNvPr descr="image.png" id="78" name="Google Shape;78;p9"/>
          <p:cNvPicPr preferRelativeResize="0"/>
          <p:nvPr/>
        </p:nvPicPr>
        <p:blipFill rotWithShape="1">
          <a:blip r:embed="rId5">
            <a:alphaModFix/>
          </a:blip>
          <a:srcRect b="0" l="0" r="0" t="0"/>
          <a:stretch/>
        </p:blipFill>
        <p:spPr>
          <a:xfrm>
            <a:off x="4608576" y="310896"/>
            <a:ext cx="2862072" cy="2377440"/>
          </a:xfrm>
          <a:prstGeom prst="rect">
            <a:avLst/>
          </a:prstGeom>
          <a:noFill/>
          <a:ln>
            <a:noFill/>
          </a:ln>
        </p:spPr>
      </p:pic>
      <p:pic>
        <p:nvPicPr>
          <p:cNvPr descr="image.png" id="79" name="Google Shape;79;p9"/>
          <p:cNvPicPr preferRelativeResize="0"/>
          <p:nvPr/>
        </p:nvPicPr>
        <p:blipFill rotWithShape="1">
          <a:blip r:embed="rId6">
            <a:alphaModFix/>
          </a:blip>
          <a:srcRect b="0" l="0" r="0" t="0"/>
          <a:stretch/>
        </p:blipFill>
        <p:spPr>
          <a:xfrm>
            <a:off x="4608576" y="2743200"/>
            <a:ext cx="2862072" cy="237744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graphicFrame>
        <p:nvGraphicFramePr>
          <p:cNvPr id="84" name="Google Shape;84;p10"/>
          <p:cNvGraphicFramePr/>
          <p:nvPr/>
        </p:nvGraphicFramePr>
        <p:xfrm>
          <a:off x="301942" y="528517"/>
          <a:ext cx="3000000" cy="3000000"/>
        </p:xfrm>
        <a:graphic>
          <a:graphicData uri="http://schemas.openxmlformats.org/drawingml/2006/table">
            <a:tbl>
              <a:tblPr>
                <a:noFill/>
                <a:tableStyleId>{73BB658B-42DE-442A-99D8-BBBD18C3A753}</a:tableStyleId>
              </a:tblPr>
              <a:tblGrid>
                <a:gridCol w="4466125"/>
                <a:gridCol w="4122650"/>
              </a:tblGrid>
              <a:tr h="438100">
                <a:tc>
                  <a:txBody>
                    <a:bodyPr/>
                    <a:lstStyle/>
                    <a:p>
                      <a:pPr indent="0" lvl="0" marL="0" marR="0" rtl="0" algn="l">
                        <a:spcBef>
                          <a:spcPts val="0"/>
                        </a:spcBef>
                        <a:spcAft>
                          <a:spcPts val="0"/>
                        </a:spcAft>
                        <a:buNone/>
                      </a:pPr>
                      <a:r>
                        <a:rPr lang="en-US" sz="1200">
                          <a:solidFill>
                            <a:schemeClr val="dk1"/>
                          </a:solidFill>
                          <a:latin typeface="Times New Roman"/>
                          <a:ea typeface="Times New Roman"/>
                          <a:cs typeface="Times New Roman"/>
                          <a:sym typeface="Times New Roman"/>
                        </a:rPr>
                        <a:t>Total Scan Time</a:t>
                      </a:r>
                      <a:endParaRPr sz="1200" u="none" cap="none" strike="noStrike">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44 seconds </a:t>
                      </a:r>
                      <a:endParaRPr sz="1200">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r>
              <a:tr h="438100">
                <a:tc>
                  <a:txBody>
                    <a:bodyPr/>
                    <a:lstStyle/>
                    <a:p>
                      <a:pPr indent="0" lvl="0" marL="0" marR="0" rtl="0" algn="l">
                        <a:spcBef>
                          <a:spcPts val="0"/>
                        </a:spcBef>
                        <a:spcAft>
                          <a:spcPts val="0"/>
                        </a:spcAft>
                        <a:buClr>
                          <a:srgbClr val="6E767C"/>
                        </a:buClr>
                        <a:buSzPts val="1050"/>
                        <a:buFont typeface="Calibri"/>
                        <a:buNone/>
                      </a:pPr>
                      <a:r>
                        <a:rPr lang="en-US" sz="1200" u="none" cap="none" strike="noStrike">
                          <a:solidFill>
                            <a:schemeClr val="dk1"/>
                          </a:solidFill>
                          <a:latin typeface="Times New Roman"/>
                          <a:ea typeface="Times New Roman"/>
                          <a:cs typeface="Times New Roman"/>
                          <a:sym typeface="Times New Roman"/>
                        </a:rPr>
                        <a:t>TR, TE, </a:t>
                      </a:r>
                      <a:r>
                        <a:rPr lang="en-US" sz="1200">
                          <a:solidFill>
                            <a:schemeClr val="dk1"/>
                          </a:solidFill>
                          <a:latin typeface="Times New Roman"/>
                          <a:ea typeface="Times New Roman"/>
                          <a:cs typeface="Times New Roman"/>
                          <a:sym typeface="Times New Roman"/>
                        </a:rPr>
                        <a:t>esp</a:t>
                      </a:r>
                      <a:endParaRPr sz="1200" u="none" cap="none" strike="noStrike">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c>
                  <a:txBody>
                    <a:bodyPr/>
                    <a:lstStyle/>
                    <a:p>
                      <a:pPr indent="0" lvl="0" marL="0" marR="0" rtl="0" algn="l">
                        <a:spcBef>
                          <a:spcPts val="0"/>
                        </a:spcBef>
                        <a:spcAft>
                          <a:spcPts val="0"/>
                        </a:spcAft>
                        <a:buClr>
                          <a:srgbClr val="D2691E"/>
                        </a:buClr>
                        <a:buSzPts val="1050"/>
                        <a:buFont typeface="Calibri"/>
                        <a:buNone/>
                      </a:pPr>
                      <a:r>
                        <a:rPr lang="en-US" sz="1200">
                          <a:solidFill>
                            <a:schemeClr val="dk1"/>
                          </a:solidFill>
                          <a:latin typeface="Times New Roman"/>
                          <a:ea typeface="Times New Roman"/>
                          <a:cs typeface="Times New Roman"/>
                          <a:sym typeface="Times New Roman"/>
                        </a:rPr>
                        <a:t>2000 ms / 54 ms / 16 ms</a:t>
                      </a:r>
                      <a:endParaRPr sz="1200" u="none" cap="none" strike="noStrike">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r>
              <a:tr h="438100">
                <a:tc>
                  <a:txBody>
                    <a:bodyPr/>
                    <a:lstStyle/>
                    <a:p>
                      <a:pPr indent="0" lvl="0" marL="0" marR="0" rtl="0" algn="l">
                        <a:spcBef>
                          <a:spcPts val="0"/>
                        </a:spcBef>
                        <a:spcAft>
                          <a:spcPts val="0"/>
                        </a:spcAft>
                        <a:buNone/>
                      </a:pPr>
                      <a:r>
                        <a:rPr lang="en-US" sz="1200">
                          <a:solidFill>
                            <a:schemeClr val="dk1"/>
                          </a:solidFill>
                          <a:latin typeface="Times New Roman"/>
                          <a:ea typeface="Times New Roman"/>
                          <a:cs typeface="Times New Roman"/>
                          <a:sym typeface="Times New Roman"/>
                        </a:rPr>
                        <a:t>PE_order</a:t>
                      </a:r>
                      <a:endParaRPr sz="1200" u="none" cap="none" strike="noStrike">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c>
                  <a:txBody>
                    <a:bodyPr/>
                    <a:lstStyle/>
                    <a:p>
                      <a:pPr indent="0" lvl="0" marL="0" marR="0" rtl="0" algn="l">
                        <a:spcBef>
                          <a:spcPts val="0"/>
                        </a:spcBef>
                        <a:spcAft>
                          <a:spcPts val="0"/>
                        </a:spcAft>
                        <a:buNone/>
                      </a:pPr>
                      <a:r>
                        <a:rPr lang="en-US" sz="1200">
                          <a:solidFill>
                            <a:schemeClr val="dk1"/>
                          </a:solidFill>
                          <a:highlight>
                            <a:srgbClr val="FFFF00"/>
                          </a:highlight>
                          <a:latin typeface="Times New Roman"/>
                          <a:ea typeface="Times New Roman"/>
                          <a:cs typeface="Times New Roman"/>
                          <a:sym typeface="Times New Roman"/>
                        </a:rPr>
                        <a:t>6</a:t>
                      </a:r>
                      <a:endParaRPr sz="1200">
                        <a:solidFill>
                          <a:schemeClr val="dk1"/>
                        </a:solidFill>
                        <a:highlight>
                          <a:srgbClr val="FFFF00"/>
                        </a:highlight>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r>
              <a:tr h="438100">
                <a:tc>
                  <a:txBody>
                    <a:bodyPr/>
                    <a:lstStyle/>
                    <a:p>
                      <a:pPr indent="0" lvl="0" marL="0" marR="0" rtl="0" algn="l">
                        <a:spcBef>
                          <a:spcPts val="0"/>
                        </a:spcBef>
                        <a:spcAft>
                          <a:spcPts val="0"/>
                        </a:spcAft>
                        <a:buClr>
                          <a:srgbClr val="6E767C"/>
                        </a:buClr>
                        <a:buSzPts val="1050"/>
                        <a:buFont typeface="Calibri"/>
                        <a:buNone/>
                      </a:pPr>
                      <a:r>
                        <a:rPr lang="en-US" sz="1200" u="none" cap="none" strike="noStrike">
                          <a:solidFill>
                            <a:schemeClr val="dk1"/>
                          </a:solidFill>
                          <a:latin typeface="Times New Roman"/>
                          <a:ea typeface="Times New Roman"/>
                          <a:cs typeface="Times New Roman"/>
                          <a:sym typeface="Times New Roman"/>
                        </a:rPr>
                        <a:t>ETL / </a:t>
                      </a:r>
                      <a:r>
                        <a:rPr lang="en-US" sz="1200">
                          <a:solidFill>
                            <a:schemeClr val="dk1"/>
                          </a:solidFill>
                          <a:latin typeface="Times New Roman"/>
                          <a:ea typeface="Times New Roman"/>
                          <a:cs typeface="Times New Roman"/>
                          <a:sym typeface="Times New Roman"/>
                        </a:rPr>
                        <a:t>A</a:t>
                      </a:r>
                      <a:r>
                        <a:rPr lang="en-US" sz="1200" u="none" cap="none" strike="noStrike">
                          <a:solidFill>
                            <a:schemeClr val="dk1"/>
                          </a:solidFill>
                          <a:latin typeface="Times New Roman"/>
                          <a:ea typeface="Times New Roman"/>
                          <a:cs typeface="Times New Roman"/>
                          <a:sym typeface="Times New Roman"/>
                        </a:rPr>
                        <a:t>verages</a:t>
                      </a:r>
                      <a:endParaRPr sz="1200" u="none" cap="none" strike="noStrike">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c>
                  <a:txBody>
                    <a:bodyPr/>
                    <a:lstStyle/>
                    <a:p>
                      <a:pPr indent="0" lvl="0" marL="0" marR="0" rtl="0" algn="l">
                        <a:spcBef>
                          <a:spcPts val="0"/>
                        </a:spcBef>
                        <a:spcAft>
                          <a:spcPts val="0"/>
                        </a:spcAft>
                        <a:buClr>
                          <a:srgbClr val="22282B"/>
                        </a:buClr>
                        <a:buSzPts val="1050"/>
                        <a:buFont typeface="Calibri"/>
                        <a:buNone/>
                      </a:pPr>
                      <a:r>
                        <a:rPr lang="en-US" sz="1200">
                          <a:solidFill>
                            <a:schemeClr val="dk1"/>
                          </a:solidFill>
                          <a:highlight>
                            <a:srgbClr val="FFFF00"/>
                          </a:highlight>
                          <a:latin typeface="Times New Roman"/>
                          <a:ea typeface="Times New Roman"/>
                          <a:cs typeface="Times New Roman"/>
                          <a:sym typeface="Times New Roman"/>
                        </a:rPr>
                        <a:t>8</a:t>
                      </a:r>
                      <a:r>
                        <a:rPr lang="en-US" sz="1200">
                          <a:solidFill>
                            <a:schemeClr val="dk1"/>
                          </a:solidFill>
                          <a:latin typeface="Times New Roman"/>
                          <a:ea typeface="Times New Roman"/>
                          <a:cs typeface="Times New Roman"/>
                          <a:sym typeface="Times New Roman"/>
                        </a:rPr>
                        <a:t> / 1</a:t>
                      </a:r>
                      <a:endParaRPr sz="1200" u="none" cap="none" strike="noStrike">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r>
              <a:tr h="438100">
                <a:tc>
                  <a:txBody>
                    <a:bodyPr/>
                    <a:lstStyle/>
                    <a:p>
                      <a:pPr indent="0" lvl="0" marL="0" marR="0" rtl="0" algn="l">
                        <a:spcBef>
                          <a:spcPts val="0"/>
                        </a:spcBef>
                        <a:spcAft>
                          <a:spcPts val="0"/>
                        </a:spcAft>
                        <a:buNone/>
                      </a:pPr>
                      <a:r>
                        <a:rPr lang="en-US" sz="1200">
                          <a:solidFill>
                            <a:schemeClr val="dk1"/>
                          </a:solidFill>
                          <a:latin typeface="Times New Roman"/>
                          <a:ea typeface="Times New Roman"/>
                          <a:cs typeface="Times New Roman"/>
                          <a:sym typeface="Times New Roman"/>
                        </a:rPr>
                        <a:t>FOV</a:t>
                      </a:r>
                      <a:endParaRPr sz="1200" u="none" cap="none" strike="noStrike">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c>
                  <a:txBody>
                    <a:bodyPr/>
                    <a:lstStyle/>
                    <a:p>
                      <a:pPr indent="0" lvl="0" marL="0" marR="0" rtl="0" algn="l">
                        <a:spcBef>
                          <a:spcPts val="0"/>
                        </a:spcBef>
                        <a:spcAft>
                          <a:spcPts val="0"/>
                        </a:spcAft>
                        <a:buNone/>
                      </a:pPr>
                      <a:r>
                        <a:rPr lang="en-US" sz="1200">
                          <a:solidFill>
                            <a:schemeClr val="dk1"/>
                          </a:solidFill>
                          <a:latin typeface="Times New Roman"/>
                          <a:ea typeface="Times New Roman"/>
                          <a:cs typeface="Times New Roman"/>
                          <a:sym typeface="Times New Roman"/>
                        </a:rPr>
                        <a:t>80</a:t>
                      </a:r>
                      <a:endParaRPr sz="1200">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r>
              <a:tr h="438100">
                <a:tc>
                  <a:txBody>
                    <a:bodyPr/>
                    <a:lstStyle/>
                    <a:p>
                      <a:pPr indent="0" lvl="0" marL="0" marR="0" rtl="0" algn="l">
                        <a:spcBef>
                          <a:spcPts val="0"/>
                        </a:spcBef>
                        <a:spcAft>
                          <a:spcPts val="0"/>
                        </a:spcAft>
                        <a:buClr>
                          <a:srgbClr val="6E767C"/>
                        </a:buClr>
                        <a:buSzPts val="1050"/>
                        <a:buFont typeface="Calibri"/>
                        <a:buNone/>
                      </a:pPr>
                      <a:r>
                        <a:rPr lang="en-US" sz="1200" u="none" cap="none" strike="noStrike">
                          <a:solidFill>
                            <a:schemeClr val="dk1"/>
                          </a:solidFill>
                          <a:latin typeface="Times New Roman"/>
                          <a:ea typeface="Times New Roman"/>
                          <a:cs typeface="Times New Roman"/>
                          <a:sym typeface="Times New Roman"/>
                        </a:rPr>
                        <a:t>b-valu</a:t>
                      </a:r>
                      <a:r>
                        <a:rPr lang="en-US" sz="1200">
                          <a:solidFill>
                            <a:schemeClr val="dk1"/>
                          </a:solidFill>
                          <a:latin typeface="Times New Roman"/>
                          <a:ea typeface="Times New Roman"/>
                          <a:cs typeface="Times New Roman"/>
                          <a:sym typeface="Times New Roman"/>
                        </a:rPr>
                        <a:t>es</a:t>
                      </a:r>
                      <a:endParaRPr sz="1200" u="none" cap="none" strike="noStrike">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c>
                  <a:txBody>
                    <a:bodyPr/>
                    <a:lstStyle/>
                    <a:p>
                      <a:pPr indent="0" lvl="0" marL="0" marR="0" rtl="0" algn="l">
                        <a:spcBef>
                          <a:spcPts val="0"/>
                        </a:spcBef>
                        <a:spcAft>
                          <a:spcPts val="0"/>
                        </a:spcAft>
                        <a:buClr>
                          <a:srgbClr val="22282B"/>
                        </a:buClr>
                        <a:buSzPts val="1050"/>
                        <a:buFont typeface="Calibri"/>
                        <a:buNone/>
                      </a:pPr>
                      <a:r>
                        <a:rPr lang="en-US" sz="1200">
                          <a:solidFill>
                            <a:schemeClr val="dk1"/>
                          </a:solidFill>
                          <a:latin typeface="Times New Roman"/>
                          <a:ea typeface="Times New Roman"/>
                          <a:cs typeface="Times New Roman"/>
                          <a:sym typeface="Times New Roman"/>
                        </a:rPr>
                        <a:t>0, 6000</a:t>
                      </a:r>
                      <a:r>
                        <a:rPr lang="en-US" sz="1200" u="none" cap="none" strike="noStrike">
                          <a:solidFill>
                            <a:schemeClr val="dk1"/>
                          </a:solidFill>
                          <a:latin typeface="Times New Roman"/>
                          <a:ea typeface="Times New Roman"/>
                          <a:cs typeface="Times New Roman"/>
                          <a:sym typeface="Times New Roman"/>
                        </a:rPr>
                        <a:t> s/mm²</a:t>
                      </a:r>
                      <a:endParaRPr sz="1200" u="none" cap="none" strike="noStrike">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r>
              <a:tr h="438100">
                <a:tc>
                  <a:txBody>
                    <a:bodyPr/>
                    <a:lstStyle/>
                    <a:p>
                      <a:pPr indent="0" lvl="0" marL="0" marR="0" rtl="0" algn="l">
                        <a:spcBef>
                          <a:spcPts val="0"/>
                        </a:spcBef>
                        <a:spcAft>
                          <a:spcPts val="0"/>
                        </a:spcAft>
                        <a:buNone/>
                      </a:pPr>
                      <a:r>
                        <a:rPr lang="en-US" sz="1200">
                          <a:solidFill>
                            <a:schemeClr val="dk1"/>
                          </a:solidFill>
                          <a:latin typeface="Times New Roman"/>
                          <a:ea typeface="Times New Roman"/>
                          <a:cs typeface="Times New Roman"/>
                          <a:sym typeface="Times New Roman"/>
                        </a:rPr>
                        <a:t>Diffusion Directions</a:t>
                      </a:r>
                      <a:endParaRPr sz="1200" u="none" cap="none" strike="noStrike">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c>
                  <a:txBody>
                    <a:bodyPr/>
                    <a:lstStyle/>
                    <a:p>
                      <a:pPr indent="0" lvl="0" marL="0" marR="0" rtl="0" algn="l">
                        <a:spcBef>
                          <a:spcPts val="0"/>
                        </a:spcBef>
                        <a:spcAft>
                          <a:spcPts val="0"/>
                        </a:spcAft>
                        <a:buNone/>
                      </a:pPr>
                      <a:r>
                        <a:rPr lang="en-US" sz="1200">
                          <a:solidFill>
                            <a:schemeClr val="dk1"/>
                          </a:solidFill>
                          <a:latin typeface="Times New Roman"/>
                          <a:ea typeface="Times New Roman"/>
                          <a:cs typeface="Times New Roman"/>
                          <a:sym typeface="Times New Roman"/>
                        </a:rPr>
                        <a:t>1 (x-axis)</a:t>
                      </a:r>
                      <a:endParaRPr sz="1200">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r>
              <a:tr h="438100">
                <a:tc>
                  <a:txBody>
                    <a:bodyPr/>
                    <a:lstStyle/>
                    <a:p>
                      <a:pPr indent="0" lvl="0" marL="0" marR="0" rtl="0" algn="l">
                        <a:spcBef>
                          <a:spcPts val="0"/>
                        </a:spcBef>
                        <a:spcAft>
                          <a:spcPts val="0"/>
                        </a:spcAft>
                        <a:buNone/>
                      </a:pPr>
                      <a:r>
                        <a:rPr lang="en-US" sz="1200">
                          <a:solidFill>
                            <a:srgbClr val="000000"/>
                          </a:solidFill>
                          <a:latin typeface="Times New Roman"/>
                          <a:ea typeface="Times New Roman"/>
                          <a:cs typeface="Times New Roman"/>
                          <a:sym typeface="Times New Roman"/>
                        </a:rPr>
                        <a:t>Small</a:t>
                      </a:r>
                      <a:r>
                        <a:rPr lang="en-US" sz="1200">
                          <a:latin typeface="Times New Roman"/>
                          <a:ea typeface="Times New Roman"/>
                          <a:cs typeface="Times New Roman"/>
                          <a:sym typeface="Times New Roman"/>
                        </a:rPr>
                        <a:t> / Big Delta</a:t>
                      </a:r>
                      <a:endParaRPr sz="1200" u="none" cap="none" strike="noStrike">
                        <a:solidFill>
                          <a:srgbClr val="000000"/>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c>
                  <a:txBody>
                    <a:bodyPr/>
                    <a:lstStyle/>
                    <a:p>
                      <a:pPr indent="0" lvl="0" marL="0" marR="0" rtl="0" algn="l">
                        <a:spcBef>
                          <a:spcPts val="0"/>
                        </a:spcBef>
                        <a:spcAft>
                          <a:spcPts val="0"/>
                        </a:spcAft>
                        <a:buNone/>
                      </a:pPr>
                      <a:r>
                        <a:rPr lang="en-US" sz="1200">
                          <a:solidFill>
                            <a:srgbClr val="000000"/>
                          </a:solidFill>
                          <a:latin typeface="Times New Roman"/>
                          <a:ea typeface="Times New Roman"/>
                          <a:cs typeface="Times New Roman"/>
                          <a:sym typeface="Times New Roman"/>
                        </a:rPr>
                        <a:t>4 ms / </a:t>
                      </a:r>
                      <a:r>
                        <a:rPr lang="en-US" sz="1200">
                          <a:latin typeface="Times New Roman"/>
                          <a:ea typeface="Times New Roman"/>
                          <a:cs typeface="Times New Roman"/>
                          <a:sym typeface="Times New Roman"/>
                        </a:rPr>
                        <a:t>4</a:t>
                      </a:r>
                      <a:r>
                        <a:rPr lang="en-US" sz="1200">
                          <a:solidFill>
                            <a:srgbClr val="000000"/>
                          </a:solidFill>
                          <a:latin typeface="Times New Roman"/>
                          <a:ea typeface="Times New Roman"/>
                          <a:cs typeface="Times New Roman"/>
                          <a:sym typeface="Times New Roman"/>
                        </a:rPr>
                        <a:t>0 ms</a:t>
                      </a:r>
                      <a:endParaRPr sz="1200">
                        <a:solidFill>
                          <a:srgbClr val="000000"/>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r>
              <a:tr h="438100">
                <a:tc>
                  <a:txBody>
                    <a:bodyPr/>
                    <a:lstStyle/>
                    <a:p>
                      <a:pPr indent="0" lvl="0" marL="0" marR="0" rtl="0" algn="l">
                        <a:spcBef>
                          <a:spcPts val="0"/>
                        </a:spcBef>
                        <a:spcAft>
                          <a:spcPts val="0"/>
                        </a:spcAft>
                        <a:buClr>
                          <a:srgbClr val="6E767C"/>
                        </a:buClr>
                        <a:buSzPts val="1050"/>
                        <a:buFont typeface="Calibri"/>
                        <a:buNone/>
                      </a:pPr>
                      <a:r>
                        <a:rPr lang="en-US" sz="1200">
                          <a:solidFill>
                            <a:schemeClr val="dk1"/>
                          </a:solidFill>
                          <a:latin typeface="Times New Roman"/>
                          <a:ea typeface="Times New Roman"/>
                          <a:cs typeface="Times New Roman"/>
                          <a:sym typeface="Times New Roman"/>
                        </a:rPr>
                        <a:t>diff_tcrush / tcrush</a:t>
                      </a:r>
                      <a:endParaRPr sz="1200" u="none" cap="none" strike="noStrike">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c>
                  <a:txBody>
                    <a:bodyPr/>
                    <a:lstStyle/>
                    <a:p>
                      <a:pPr indent="0" lvl="0" marL="0" marR="0" rtl="0" algn="l">
                        <a:spcBef>
                          <a:spcPts val="0"/>
                        </a:spcBef>
                        <a:spcAft>
                          <a:spcPts val="0"/>
                        </a:spcAft>
                        <a:buClr>
                          <a:srgbClr val="22282B"/>
                        </a:buClr>
                        <a:buSzPts val="1050"/>
                        <a:buFont typeface="Calibri"/>
                        <a:buNone/>
                      </a:pPr>
                      <a:r>
                        <a:rPr lang="en-US" sz="1200">
                          <a:solidFill>
                            <a:schemeClr val="dk1"/>
                          </a:solidFill>
                          <a:latin typeface="Times New Roman"/>
                          <a:ea typeface="Times New Roman"/>
                          <a:cs typeface="Times New Roman"/>
                          <a:sym typeface="Times New Roman"/>
                        </a:rPr>
                        <a:t>2000 us / 2000 us</a:t>
                      </a:r>
                      <a:endParaRPr sz="1200" u="none" cap="none" strike="noStrike">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r>
              <a:tr h="438100">
                <a:tc>
                  <a:txBody>
                    <a:bodyPr/>
                    <a:lstStyle/>
                    <a:p>
                      <a:pPr indent="0" lvl="0" marL="0" marR="0" rtl="0" algn="l">
                        <a:spcBef>
                          <a:spcPts val="0"/>
                        </a:spcBef>
                        <a:spcAft>
                          <a:spcPts val="0"/>
                        </a:spcAft>
                        <a:buNone/>
                      </a:pPr>
                      <a:r>
                        <a:rPr lang="en-US" sz="1200">
                          <a:solidFill>
                            <a:schemeClr val="dk1"/>
                          </a:solidFill>
                          <a:latin typeface="Times New Roman"/>
                          <a:ea typeface="Times New Roman"/>
                          <a:cs typeface="Times New Roman"/>
                          <a:sym typeface="Times New Roman"/>
                        </a:rPr>
                        <a:t>diff_tcrush_amplitude / t_crush_amplitude</a:t>
                      </a:r>
                      <a:endParaRPr sz="1200">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c>
                  <a:txBody>
                    <a:bodyPr/>
                    <a:lstStyle/>
                    <a:p>
                      <a:pPr indent="0" lvl="0" marL="0" marR="0" rtl="0" algn="l">
                        <a:spcBef>
                          <a:spcPts val="0"/>
                        </a:spcBef>
                        <a:spcAft>
                          <a:spcPts val="0"/>
                        </a:spcAft>
                        <a:buNone/>
                      </a:pPr>
                      <a:r>
                        <a:rPr lang="en-US" sz="1200">
                          <a:solidFill>
                            <a:schemeClr val="dk1"/>
                          </a:solidFill>
                          <a:latin typeface="Times New Roman"/>
                          <a:ea typeface="Times New Roman"/>
                          <a:cs typeface="Times New Roman"/>
                          <a:sym typeface="Times New Roman"/>
                        </a:rPr>
                        <a:t>2754 DAC units / 2754 DAC units </a:t>
                      </a:r>
                      <a:endParaRPr sz="1200">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r>
            </a:tbl>
          </a:graphicData>
        </a:graphic>
      </p:graphicFrame>
      <p:sp>
        <p:nvSpPr>
          <p:cNvPr id="85" name="Google Shape;85;p10"/>
          <p:cNvSpPr txBox="1"/>
          <p:nvPr/>
        </p:nvSpPr>
        <p:spPr>
          <a:xfrm>
            <a:off x="301975" y="0"/>
            <a:ext cx="8588700" cy="310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600">
                <a:solidFill>
                  <a:schemeClr val="dk1"/>
                </a:solidFill>
                <a:latin typeface="Times New Roman"/>
                <a:ea typeface="Times New Roman"/>
                <a:cs typeface="Times New Roman"/>
                <a:sym typeface="Times New Roman"/>
              </a:rPr>
              <a:t>Test 3 </a:t>
            </a:r>
            <a:r>
              <a:rPr lang="en-US" sz="1600">
                <a:solidFill>
                  <a:schemeClr val="dk1"/>
                </a:solidFill>
                <a:highlight>
                  <a:srgbClr val="FFFF00"/>
                </a:highlight>
                <a:latin typeface="Times New Roman"/>
                <a:ea typeface="Times New Roman"/>
                <a:cs typeface="Times New Roman"/>
                <a:sym typeface="Times New Roman"/>
              </a:rPr>
              <a:t>Reverse Centric Interleaved</a:t>
            </a:r>
            <a:r>
              <a:rPr lang="en-US" sz="1600">
                <a:solidFill>
                  <a:schemeClr val="dk1"/>
                </a:solidFill>
                <a:latin typeface="Times New Roman"/>
                <a:ea typeface="Times New Roman"/>
                <a:cs typeface="Times New Roman"/>
                <a:sym typeface="Times New Roman"/>
              </a:rPr>
              <a:t>: FSE DWI w/ Surface Coil: In-vivo Rat Brain</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p:bgPr>
    </p:bg>
    <p:spTree>
      <p:nvGrpSpPr>
        <p:cNvPr id="90" name="Shape 90"/>
        <p:cNvGrpSpPr/>
        <p:nvPr/>
      </p:nvGrpSpPr>
      <p:grpSpPr>
        <a:xfrm>
          <a:off x="0" y="0"/>
          <a:ext cx="0" cy="0"/>
          <a:chOff x="0" y="0"/>
          <a:chExt cx="0" cy="0"/>
        </a:xfrm>
      </p:grpSpPr>
      <p:sp>
        <p:nvSpPr>
          <p:cNvPr id="91" name="Google Shape;91;p11"/>
          <p:cNvSpPr txBox="1"/>
          <p:nvPr/>
        </p:nvSpPr>
        <p:spPr>
          <a:xfrm>
            <a:off x="429768" y="310896"/>
            <a:ext cx="1188600" cy="2377500"/>
          </a:xfrm>
          <a:prstGeom prst="rect">
            <a:avLst/>
          </a:prstGeom>
          <a:noFill/>
          <a:ln>
            <a:noFill/>
          </a:ln>
        </p:spPr>
        <p:txBody>
          <a:bodyPr anchorCtr="0" anchor="ctr" bIns="0" lIns="13700" spcFirstLastPara="1" rIns="13700" wrap="square" tIns="0">
            <a:spAutoFit/>
          </a:bodyPr>
          <a:lstStyle/>
          <a:p>
            <a:pPr indent="0" lvl="0" marL="0" marR="0" rtl="0" algn="r">
              <a:spcBef>
                <a:spcPts val="0"/>
              </a:spcBef>
              <a:spcAft>
                <a:spcPts val="0"/>
              </a:spcAft>
              <a:buNone/>
            </a:pPr>
            <a:r>
              <a:rPr b="1" i="0" lang="en-US" sz="1250" u="none" cap="none" strike="noStrike">
                <a:solidFill>
                  <a:srgbClr val="555555"/>
                </a:solidFill>
                <a:latin typeface="Times New Roman"/>
                <a:ea typeface="Times New Roman"/>
                <a:cs typeface="Times New Roman"/>
                <a:sym typeface="Times New Roman"/>
              </a:rPr>
              <a:t>Reconstructed</a:t>
            </a:r>
            <a:endParaRPr/>
          </a:p>
          <a:p>
            <a:pPr indent="0" lvl="0" marL="0" marR="0" rtl="0" algn="r">
              <a:spcBef>
                <a:spcPts val="0"/>
              </a:spcBef>
              <a:spcAft>
                <a:spcPts val="0"/>
              </a:spcAft>
              <a:buNone/>
            </a:pPr>
            <a:r>
              <a:rPr b="1" i="0" lang="en-US" sz="1250" u="none" cap="none" strike="noStrike">
                <a:solidFill>
                  <a:srgbClr val="555555"/>
                </a:solidFill>
                <a:latin typeface="Times New Roman"/>
                <a:ea typeface="Times New Roman"/>
                <a:cs typeface="Times New Roman"/>
                <a:sym typeface="Times New Roman"/>
              </a:rPr>
              <a:t>image</a:t>
            </a:r>
            <a:endParaRPr/>
          </a:p>
        </p:txBody>
      </p:sp>
      <p:sp>
        <p:nvSpPr>
          <p:cNvPr id="92" name="Google Shape;92;p11"/>
          <p:cNvSpPr txBox="1"/>
          <p:nvPr/>
        </p:nvSpPr>
        <p:spPr>
          <a:xfrm>
            <a:off x="429768" y="2743200"/>
            <a:ext cx="1188600" cy="2377500"/>
          </a:xfrm>
          <a:prstGeom prst="rect">
            <a:avLst/>
          </a:prstGeom>
          <a:noFill/>
          <a:ln>
            <a:noFill/>
          </a:ln>
        </p:spPr>
        <p:txBody>
          <a:bodyPr anchorCtr="0" anchor="ctr" bIns="0" lIns="13700" spcFirstLastPara="1" rIns="13700" wrap="square" tIns="0">
            <a:spAutoFit/>
          </a:bodyPr>
          <a:lstStyle/>
          <a:p>
            <a:pPr indent="0" lvl="0" marL="0" marR="0" rtl="0" algn="r">
              <a:spcBef>
                <a:spcPts val="0"/>
              </a:spcBef>
              <a:spcAft>
                <a:spcPts val="0"/>
              </a:spcAft>
              <a:buNone/>
            </a:pPr>
            <a:r>
              <a:rPr b="1" i="0" lang="en-US" sz="1250" u="none" cap="none" strike="noStrike">
                <a:solidFill>
                  <a:srgbClr val="555555"/>
                </a:solidFill>
                <a:latin typeface="Times New Roman"/>
                <a:ea typeface="Times New Roman"/>
                <a:cs typeface="Times New Roman"/>
                <a:sym typeface="Times New Roman"/>
              </a:rPr>
              <a:t>Log k-space</a:t>
            </a:r>
            <a:endParaRPr/>
          </a:p>
        </p:txBody>
      </p:sp>
      <p:sp>
        <p:nvSpPr>
          <p:cNvPr id="93" name="Google Shape;93;p11"/>
          <p:cNvSpPr txBox="1"/>
          <p:nvPr/>
        </p:nvSpPr>
        <p:spPr>
          <a:xfrm>
            <a:off x="1673352" y="9144"/>
            <a:ext cx="2862000" cy="265200"/>
          </a:xfrm>
          <a:prstGeom prst="rect">
            <a:avLst/>
          </a:prstGeom>
          <a:noFill/>
          <a:ln>
            <a:noFill/>
          </a:ln>
        </p:spPr>
        <p:txBody>
          <a:bodyPr anchorCtr="0" anchor="ctr" bIns="0" lIns="13700" spcFirstLastPara="1" rIns="13700" wrap="square" tIns="0">
            <a:spAutoFit/>
          </a:bodyPr>
          <a:lstStyle/>
          <a:p>
            <a:pPr indent="0" lvl="0" marL="0" marR="0" rtl="0" algn="ctr">
              <a:spcBef>
                <a:spcPts val="0"/>
              </a:spcBef>
              <a:spcAft>
                <a:spcPts val="0"/>
              </a:spcAft>
              <a:buNone/>
            </a:pPr>
            <a:r>
              <a:rPr b="1" i="0" lang="en-US" sz="1450" u="none" cap="none" strike="noStrike">
                <a:solidFill>
                  <a:srgbClr val="555555"/>
                </a:solidFill>
                <a:latin typeface="Times New Roman"/>
                <a:ea typeface="Times New Roman"/>
                <a:cs typeface="Times New Roman"/>
                <a:sym typeface="Times New Roman"/>
              </a:rPr>
              <a:t>b = 0 s/mm²  (SNR 10.8)</a:t>
            </a:r>
            <a:endParaRPr/>
          </a:p>
        </p:txBody>
      </p:sp>
      <p:pic>
        <p:nvPicPr>
          <p:cNvPr descr="image.png" id="94" name="Google Shape;94;p11"/>
          <p:cNvPicPr preferRelativeResize="0"/>
          <p:nvPr/>
        </p:nvPicPr>
        <p:blipFill rotWithShape="1">
          <a:blip r:embed="rId3">
            <a:alphaModFix/>
          </a:blip>
          <a:srcRect b="0" l="0" r="0" t="0"/>
          <a:stretch/>
        </p:blipFill>
        <p:spPr>
          <a:xfrm>
            <a:off x="1673352" y="310896"/>
            <a:ext cx="2862071" cy="2377439"/>
          </a:xfrm>
          <a:prstGeom prst="rect">
            <a:avLst/>
          </a:prstGeom>
          <a:noFill/>
          <a:ln>
            <a:noFill/>
          </a:ln>
        </p:spPr>
      </p:pic>
      <p:pic>
        <p:nvPicPr>
          <p:cNvPr descr="image.png" id="95" name="Google Shape;95;p11"/>
          <p:cNvPicPr preferRelativeResize="0"/>
          <p:nvPr/>
        </p:nvPicPr>
        <p:blipFill rotWithShape="1">
          <a:blip r:embed="rId4">
            <a:alphaModFix/>
          </a:blip>
          <a:srcRect b="0" l="0" r="0" t="0"/>
          <a:stretch/>
        </p:blipFill>
        <p:spPr>
          <a:xfrm>
            <a:off x="1673352" y="2743200"/>
            <a:ext cx="2862071" cy="2377439"/>
          </a:xfrm>
          <a:prstGeom prst="rect">
            <a:avLst/>
          </a:prstGeom>
          <a:noFill/>
          <a:ln>
            <a:noFill/>
          </a:ln>
        </p:spPr>
      </p:pic>
      <p:sp>
        <p:nvSpPr>
          <p:cNvPr id="96" name="Google Shape;96;p11"/>
          <p:cNvSpPr txBox="1"/>
          <p:nvPr/>
        </p:nvSpPr>
        <p:spPr>
          <a:xfrm>
            <a:off x="4608576" y="9144"/>
            <a:ext cx="2862000" cy="265200"/>
          </a:xfrm>
          <a:prstGeom prst="rect">
            <a:avLst/>
          </a:prstGeom>
          <a:noFill/>
          <a:ln>
            <a:noFill/>
          </a:ln>
        </p:spPr>
        <p:txBody>
          <a:bodyPr anchorCtr="0" anchor="ctr" bIns="0" lIns="13700" spcFirstLastPara="1" rIns="13700" wrap="square" tIns="0">
            <a:spAutoFit/>
          </a:bodyPr>
          <a:lstStyle/>
          <a:p>
            <a:pPr indent="0" lvl="0" marL="0" marR="0" rtl="0" algn="ctr">
              <a:spcBef>
                <a:spcPts val="0"/>
              </a:spcBef>
              <a:spcAft>
                <a:spcPts val="0"/>
              </a:spcAft>
              <a:buNone/>
            </a:pPr>
            <a:r>
              <a:rPr b="1" i="0" lang="en-US" sz="1450" u="none" cap="none" strike="noStrike">
                <a:solidFill>
                  <a:srgbClr val="555555"/>
                </a:solidFill>
                <a:latin typeface="Times New Roman"/>
                <a:ea typeface="Times New Roman"/>
                <a:cs typeface="Times New Roman"/>
                <a:sym typeface="Times New Roman"/>
              </a:rPr>
              <a:t>b = 6000 s/mm²  (SNR 2.9)</a:t>
            </a:r>
            <a:endParaRPr/>
          </a:p>
        </p:txBody>
      </p:sp>
      <p:pic>
        <p:nvPicPr>
          <p:cNvPr descr="image.png" id="97" name="Google Shape;97;p11"/>
          <p:cNvPicPr preferRelativeResize="0"/>
          <p:nvPr/>
        </p:nvPicPr>
        <p:blipFill rotWithShape="1">
          <a:blip r:embed="rId5">
            <a:alphaModFix/>
          </a:blip>
          <a:srcRect b="0" l="0" r="0" t="0"/>
          <a:stretch/>
        </p:blipFill>
        <p:spPr>
          <a:xfrm>
            <a:off x="4608576" y="310896"/>
            <a:ext cx="2862071" cy="2377439"/>
          </a:xfrm>
          <a:prstGeom prst="rect">
            <a:avLst/>
          </a:prstGeom>
          <a:noFill/>
          <a:ln>
            <a:noFill/>
          </a:ln>
        </p:spPr>
      </p:pic>
      <p:pic>
        <p:nvPicPr>
          <p:cNvPr descr="image.png" id="98" name="Google Shape;98;p11"/>
          <p:cNvPicPr preferRelativeResize="0"/>
          <p:nvPr/>
        </p:nvPicPr>
        <p:blipFill rotWithShape="1">
          <a:blip r:embed="rId6">
            <a:alphaModFix/>
          </a:blip>
          <a:srcRect b="0" l="0" r="0" t="0"/>
          <a:stretch/>
        </p:blipFill>
        <p:spPr>
          <a:xfrm>
            <a:off x="4608576" y="2743200"/>
            <a:ext cx="2862071" cy="237743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graphicFrame>
        <p:nvGraphicFramePr>
          <p:cNvPr id="103" name="Google Shape;103;p12"/>
          <p:cNvGraphicFramePr/>
          <p:nvPr/>
        </p:nvGraphicFramePr>
        <p:xfrm>
          <a:off x="301942" y="528517"/>
          <a:ext cx="3000000" cy="3000000"/>
        </p:xfrm>
        <a:graphic>
          <a:graphicData uri="http://schemas.openxmlformats.org/drawingml/2006/table">
            <a:tbl>
              <a:tblPr>
                <a:noFill/>
                <a:tableStyleId>{73BB658B-42DE-442A-99D8-BBBD18C3A753}</a:tableStyleId>
              </a:tblPr>
              <a:tblGrid>
                <a:gridCol w="4466125"/>
                <a:gridCol w="4122650"/>
              </a:tblGrid>
              <a:tr h="438100">
                <a:tc>
                  <a:txBody>
                    <a:bodyPr/>
                    <a:lstStyle/>
                    <a:p>
                      <a:pPr indent="0" lvl="0" marL="0" marR="0" rtl="0" algn="l">
                        <a:spcBef>
                          <a:spcPts val="0"/>
                        </a:spcBef>
                        <a:spcAft>
                          <a:spcPts val="0"/>
                        </a:spcAft>
                        <a:buNone/>
                      </a:pPr>
                      <a:r>
                        <a:rPr lang="en-US" sz="1200">
                          <a:solidFill>
                            <a:schemeClr val="dk1"/>
                          </a:solidFill>
                          <a:latin typeface="Times New Roman"/>
                          <a:ea typeface="Times New Roman"/>
                          <a:cs typeface="Times New Roman"/>
                          <a:sym typeface="Times New Roman"/>
                        </a:rPr>
                        <a:t>Total Scan Time</a:t>
                      </a:r>
                      <a:endParaRPr sz="1200" u="none" cap="none" strike="noStrike">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c>
                  <a:txBody>
                    <a:bodyPr/>
                    <a:lstStyle/>
                    <a:p>
                      <a:pPr indent="0" lvl="0" marL="0" marR="0" rtl="0" algn="l">
                        <a:spcBef>
                          <a:spcPts val="0"/>
                        </a:spcBef>
                        <a:spcAft>
                          <a:spcPts val="0"/>
                        </a:spcAft>
                        <a:buNone/>
                      </a:pPr>
                      <a:r>
                        <a:rPr lang="en-US" sz="1200">
                          <a:solidFill>
                            <a:schemeClr val="dk1"/>
                          </a:solidFill>
                          <a:latin typeface="Times New Roman"/>
                          <a:ea typeface="Times New Roman"/>
                          <a:cs typeface="Times New Roman"/>
                          <a:sym typeface="Times New Roman"/>
                        </a:rPr>
                        <a:t>44 seconds </a:t>
                      </a:r>
                      <a:endParaRPr sz="1200">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r>
              <a:tr h="438100">
                <a:tc>
                  <a:txBody>
                    <a:bodyPr/>
                    <a:lstStyle/>
                    <a:p>
                      <a:pPr indent="0" lvl="0" marL="0" marR="0" rtl="0" algn="l">
                        <a:spcBef>
                          <a:spcPts val="0"/>
                        </a:spcBef>
                        <a:spcAft>
                          <a:spcPts val="0"/>
                        </a:spcAft>
                        <a:buClr>
                          <a:srgbClr val="6E767C"/>
                        </a:buClr>
                        <a:buSzPts val="1050"/>
                        <a:buFont typeface="Calibri"/>
                        <a:buNone/>
                      </a:pPr>
                      <a:r>
                        <a:rPr lang="en-US" sz="1200" u="none" cap="none" strike="noStrike">
                          <a:solidFill>
                            <a:schemeClr val="dk1"/>
                          </a:solidFill>
                          <a:latin typeface="Times New Roman"/>
                          <a:ea typeface="Times New Roman"/>
                          <a:cs typeface="Times New Roman"/>
                          <a:sym typeface="Times New Roman"/>
                        </a:rPr>
                        <a:t>TR, TE, </a:t>
                      </a:r>
                      <a:r>
                        <a:rPr lang="en-US" sz="1200">
                          <a:solidFill>
                            <a:schemeClr val="dk1"/>
                          </a:solidFill>
                          <a:latin typeface="Times New Roman"/>
                          <a:ea typeface="Times New Roman"/>
                          <a:cs typeface="Times New Roman"/>
                          <a:sym typeface="Times New Roman"/>
                        </a:rPr>
                        <a:t>esp</a:t>
                      </a:r>
                      <a:endParaRPr sz="1200" u="none" cap="none" strike="noStrike">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c>
                  <a:txBody>
                    <a:bodyPr/>
                    <a:lstStyle/>
                    <a:p>
                      <a:pPr indent="0" lvl="0" marL="0" marR="0" rtl="0" algn="l">
                        <a:spcBef>
                          <a:spcPts val="0"/>
                        </a:spcBef>
                        <a:spcAft>
                          <a:spcPts val="0"/>
                        </a:spcAft>
                        <a:buClr>
                          <a:srgbClr val="D2691E"/>
                        </a:buClr>
                        <a:buSzPts val="1050"/>
                        <a:buFont typeface="Calibri"/>
                        <a:buNone/>
                      </a:pPr>
                      <a:r>
                        <a:rPr lang="en-US" sz="1200">
                          <a:solidFill>
                            <a:schemeClr val="dk1"/>
                          </a:solidFill>
                          <a:latin typeface="Times New Roman"/>
                          <a:ea typeface="Times New Roman"/>
                          <a:cs typeface="Times New Roman"/>
                          <a:sym typeface="Times New Roman"/>
                        </a:rPr>
                        <a:t>2000 ms / 54 ms / </a:t>
                      </a:r>
                      <a:r>
                        <a:rPr lang="en-US" sz="1200">
                          <a:solidFill>
                            <a:schemeClr val="dk1"/>
                          </a:solidFill>
                          <a:highlight>
                            <a:srgbClr val="FFFF00"/>
                          </a:highlight>
                          <a:latin typeface="Times New Roman"/>
                          <a:ea typeface="Times New Roman"/>
                          <a:cs typeface="Times New Roman"/>
                          <a:sym typeface="Times New Roman"/>
                        </a:rPr>
                        <a:t>14 ms</a:t>
                      </a:r>
                      <a:endParaRPr sz="1200" u="none" cap="none" strike="noStrike">
                        <a:solidFill>
                          <a:schemeClr val="dk1"/>
                        </a:solidFill>
                        <a:highlight>
                          <a:srgbClr val="FFFF00"/>
                        </a:highlight>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r>
              <a:tr h="438100">
                <a:tc>
                  <a:txBody>
                    <a:bodyPr/>
                    <a:lstStyle/>
                    <a:p>
                      <a:pPr indent="0" lvl="0" marL="0" marR="0" rtl="0" algn="l">
                        <a:spcBef>
                          <a:spcPts val="0"/>
                        </a:spcBef>
                        <a:spcAft>
                          <a:spcPts val="0"/>
                        </a:spcAft>
                        <a:buNone/>
                      </a:pPr>
                      <a:r>
                        <a:rPr lang="en-US" sz="1200">
                          <a:solidFill>
                            <a:schemeClr val="dk1"/>
                          </a:solidFill>
                          <a:latin typeface="Times New Roman"/>
                          <a:ea typeface="Times New Roman"/>
                          <a:cs typeface="Times New Roman"/>
                          <a:sym typeface="Times New Roman"/>
                        </a:rPr>
                        <a:t>PE_order</a:t>
                      </a:r>
                      <a:endParaRPr sz="1200" u="none" cap="none" strike="noStrike">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c>
                  <a:txBody>
                    <a:bodyPr/>
                    <a:lstStyle/>
                    <a:p>
                      <a:pPr indent="0" lvl="0" marL="0" marR="0" rtl="0" algn="l">
                        <a:spcBef>
                          <a:spcPts val="0"/>
                        </a:spcBef>
                        <a:spcAft>
                          <a:spcPts val="0"/>
                        </a:spcAft>
                        <a:buNone/>
                      </a:pPr>
                      <a:r>
                        <a:rPr lang="en-US" sz="1200">
                          <a:solidFill>
                            <a:schemeClr val="dk1"/>
                          </a:solidFill>
                          <a:highlight>
                            <a:srgbClr val="FFFF00"/>
                          </a:highlight>
                          <a:latin typeface="Times New Roman"/>
                          <a:ea typeface="Times New Roman"/>
                          <a:cs typeface="Times New Roman"/>
                          <a:sym typeface="Times New Roman"/>
                        </a:rPr>
                        <a:t>1</a:t>
                      </a:r>
                      <a:endParaRPr sz="1200">
                        <a:solidFill>
                          <a:schemeClr val="dk1"/>
                        </a:solidFill>
                        <a:highlight>
                          <a:srgbClr val="FFFF00"/>
                        </a:highlight>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r>
              <a:tr h="438100">
                <a:tc>
                  <a:txBody>
                    <a:bodyPr/>
                    <a:lstStyle/>
                    <a:p>
                      <a:pPr indent="0" lvl="0" marL="0" marR="0" rtl="0" algn="l">
                        <a:spcBef>
                          <a:spcPts val="0"/>
                        </a:spcBef>
                        <a:spcAft>
                          <a:spcPts val="0"/>
                        </a:spcAft>
                        <a:buClr>
                          <a:srgbClr val="6E767C"/>
                        </a:buClr>
                        <a:buSzPts val="1050"/>
                        <a:buFont typeface="Calibri"/>
                        <a:buNone/>
                      </a:pPr>
                      <a:r>
                        <a:rPr lang="en-US" sz="1200" u="none" cap="none" strike="noStrike">
                          <a:solidFill>
                            <a:schemeClr val="dk1"/>
                          </a:solidFill>
                          <a:latin typeface="Times New Roman"/>
                          <a:ea typeface="Times New Roman"/>
                          <a:cs typeface="Times New Roman"/>
                          <a:sym typeface="Times New Roman"/>
                        </a:rPr>
                        <a:t>ETL / </a:t>
                      </a:r>
                      <a:r>
                        <a:rPr lang="en-US" sz="1200">
                          <a:solidFill>
                            <a:schemeClr val="dk1"/>
                          </a:solidFill>
                          <a:latin typeface="Times New Roman"/>
                          <a:ea typeface="Times New Roman"/>
                          <a:cs typeface="Times New Roman"/>
                          <a:sym typeface="Times New Roman"/>
                        </a:rPr>
                        <a:t>A</a:t>
                      </a:r>
                      <a:r>
                        <a:rPr lang="en-US" sz="1200" u="none" cap="none" strike="noStrike">
                          <a:solidFill>
                            <a:schemeClr val="dk1"/>
                          </a:solidFill>
                          <a:latin typeface="Times New Roman"/>
                          <a:ea typeface="Times New Roman"/>
                          <a:cs typeface="Times New Roman"/>
                          <a:sym typeface="Times New Roman"/>
                        </a:rPr>
                        <a:t>verages</a:t>
                      </a:r>
                      <a:endParaRPr sz="1200" u="none" cap="none" strike="noStrike">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c>
                  <a:txBody>
                    <a:bodyPr/>
                    <a:lstStyle/>
                    <a:p>
                      <a:pPr indent="0" lvl="0" marL="0" marR="0" rtl="0" algn="l">
                        <a:spcBef>
                          <a:spcPts val="0"/>
                        </a:spcBef>
                        <a:spcAft>
                          <a:spcPts val="0"/>
                        </a:spcAft>
                        <a:buClr>
                          <a:srgbClr val="22282B"/>
                        </a:buClr>
                        <a:buSzPts val="1050"/>
                        <a:buFont typeface="Calibri"/>
                        <a:buNone/>
                      </a:pPr>
                      <a:r>
                        <a:rPr lang="en-US" sz="1200">
                          <a:solidFill>
                            <a:schemeClr val="dk1"/>
                          </a:solidFill>
                          <a:latin typeface="Times New Roman"/>
                          <a:ea typeface="Times New Roman"/>
                          <a:cs typeface="Times New Roman"/>
                          <a:sym typeface="Times New Roman"/>
                        </a:rPr>
                        <a:t>16 / 1</a:t>
                      </a:r>
                      <a:endParaRPr sz="1200" u="none" cap="none" strike="noStrike">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r>
              <a:tr h="438100">
                <a:tc>
                  <a:txBody>
                    <a:bodyPr/>
                    <a:lstStyle/>
                    <a:p>
                      <a:pPr indent="0" lvl="0" marL="0" marR="0" rtl="0" algn="l">
                        <a:spcBef>
                          <a:spcPts val="0"/>
                        </a:spcBef>
                        <a:spcAft>
                          <a:spcPts val="0"/>
                        </a:spcAft>
                        <a:buNone/>
                      </a:pPr>
                      <a:r>
                        <a:rPr lang="en-US" sz="1200">
                          <a:solidFill>
                            <a:schemeClr val="dk1"/>
                          </a:solidFill>
                          <a:latin typeface="Times New Roman"/>
                          <a:ea typeface="Times New Roman"/>
                          <a:cs typeface="Times New Roman"/>
                          <a:sym typeface="Times New Roman"/>
                        </a:rPr>
                        <a:t>FOV</a:t>
                      </a:r>
                      <a:endParaRPr sz="1200" u="none" cap="none" strike="noStrike">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c>
                  <a:txBody>
                    <a:bodyPr/>
                    <a:lstStyle/>
                    <a:p>
                      <a:pPr indent="0" lvl="0" marL="0" marR="0" rtl="0" algn="l">
                        <a:spcBef>
                          <a:spcPts val="0"/>
                        </a:spcBef>
                        <a:spcAft>
                          <a:spcPts val="0"/>
                        </a:spcAft>
                        <a:buNone/>
                      </a:pPr>
                      <a:r>
                        <a:rPr lang="en-US" sz="1200">
                          <a:solidFill>
                            <a:schemeClr val="dk1"/>
                          </a:solidFill>
                          <a:latin typeface="Times New Roman"/>
                          <a:ea typeface="Times New Roman"/>
                          <a:cs typeface="Times New Roman"/>
                          <a:sym typeface="Times New Roman"/>
                        </a:rPr>
                        <a:t>35</a:t>
                      </a:r>
                      <a:endParaRPr sz="1200">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r>
              <a:tr h="438100">
                <a:tc>
                  <a:txBody>
                    <a:bodyPr/>
                    <a:lstStyle/>
                    <a:p>
                      <a:pPr indent="0" lvl="0" marL="0" marR="0" rtl="0" algn="l">
                        <a:spcBef>
                          <a:spcPts val="0"/>
                        </a:spcBef>
                        <a:spcAft>
                          <a:spcPts val="0"/>
                        </a:spcAft>
                        <a:buClr>
                          <a:srgbClr val="6E767C"/>
                        </a:buClr>
                        <a:buSzPts val="1050"/>
                        <a:buFont typeface="Calibri"/>
                        <a:buNone/>
                      </a:pPr>
                      <a:r>
                        <a:rPr lang="en-US" sz="1200" u="none" cap="none" strike="noStrike">
                          <a:solidFill>
                            <a:schemeClr val="dk1"/>
                          </a:solidFill>
                          <a:latin typeface="Times New Roman"/>
                          <a:ea typeface="Times New Roman"/>
                          <a:cs typeface="Times New Roman"/>
                          <a:sym typeface="Times New Roman"/>
                        </a:rPr>
                        <a:t>b-valu</a:t>
                      </a:r>
                      <a:r>
                        <a:rPr lang="en-US" sz="1200">
                          <a:solidFill>
                            <a:schemeClr val="dk1"/>
                          </a:solidFill>
                          <a:latin typeface="Times New Roman"/>
                          <a:ea typeface="Times New Roman"/>
                          <a:cs typeface="Times New Roman"/>
                          <a:sym typeface="Times New Roman"/>
                        </a:rPr>
                        <a:t>es</a:t>
                      </a:r>
                      <a:endParaRPr sz="1200" u="none" cap="none" strike="noStrike">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c>
                  <a:txBody>
                    <a:bodyPr/>
                    <a:lstStyle/>
                    <a:p>
                      <a:pPr indent="0" lvl="0" marL="0" marR="0" rtl="0" algn="l">
                        <a:spcBef>
                          <a:spcPts val="0"/>
                        </a:spcBef>
                        <a:spcAft>
                          <a:spcPts val="0"/>
                        </a:spcAft>
                        <a:buClr>
                          <a:srgbClr val="22282B"/>
                        </a:buClr>
                        <a:buSzPts val="1050"/>
                        <a:buFont typeface="Calibri"/>
                        <a:buNone/>
                      </a:pPr>
                      <a:r>
                        <a:rPr lang="en-US" sz="1200">
                          <a:solidFill>
                            <a:schemeClr val="dk1"/>
                          </a:solidFill>
                          <a:latin typeface="Times New Roman"/>
                          <a:ea typeface="Times New Roman"/>
                          <a:cs typeface="Times New Roman"/>
                          <a:sym typeface="Times New Roman"/>
                        </a:rPr>
                        <a:t>0, 6000</a:t>
                      </a:r>
                      <a:r>
                        <a:rPr lang="en-US" sz="1200" u="none" cap="none" strike="noStrike">
                          <a:solidFill>
                            <a:schemeClr val="dk1"/>
                          </a:solidFill>
                          <a:latin typeface="Times New Roman"/>
                          <a:ea typeface="Times New Roman"/>
                          <a:cs typeface="Times New Roman"/>
                          <a:sym typeface="Times New Roman"/>
                        </a:rPr>
                        <a:t> s/mm²</a:t>
                      </a:r>
                      <a:endParaRPr sz="1200" u="none" cap="none" strike="noStrike">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r>
              <a:tr h="438100">
                <a:tc>
                  <a:txBody>
                    <a:bodyPr/>
                    <a:lstStyle/>
                    <a:p>
                      <a:pPr indent="0" lvl="0" marL="0" marR="0" rtl="0" algn="l">
                        <a:spcBef>
                          <a:spcPts val="0"/>
                        </a:spcBef>
                        <a:spcAft>
                          <a:spcPts val="0"/>
                        </a:spcAft>
                        <a:buNone/>
                      </a:pPr>
                      <a:r>
                        <a:rPr lang="en-US" sz="1200">
                          <a:solidFill>
                            <a:schemeClr val="dk1"/>
                          </a:solidFill>
                          <a:latin typeface="Times New Roman"/>
                          <a:ea typeface="Times New Roman"/>
                          <a:cs typeface="Times New Roman"/>
                          <a:sym typeface="Times New Roman"/>
                        </a:rPr>
                        <a:t>Diffusion Directions</a:t>
                      </a:r>
                      <a:endParaRPr sz="1200" u="none" cap="none" strike="noStrike">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c>
                  <a:txBody>
                    <a:bodyPr/>
                    <a:lstStyle/>
                    <a:p>
                      <a:pPr indent="0" lvl="0" marL="0" marR="0" rtl="0" algn="l">
                        <a:spcBef>
                          <a:spcPts val="0"/>
                        </a:spcBef>
                        <a:spcAft>
                          <a:spcPts val="0"/>
                        </a:spcAft>
                        <a:buNone/>
                      </a:pPr>
                      <a:r>
                        <a:rPr lang="en-US" sz="1200">
                          <a:solidFill>
                            <a:schemeClr val="dk1"/>
                          </a:solidFill>
                          <a:latin typeface="Times New Roman"/>
                          <a:ea typeface="Times New Roman"/>
                          <a:cs typeface="Times New Roman"/>
                          <a:sym typeface="Times New Roman"/>
                        </a:rPr>
                        <a:t>1 (x-axis)</a:t>
                      </a:r>
                      <a:endParaRPr sz="1200">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r>
              <a:tr h="438100">
                <a:tc>
                  <a:txBody>
                    <a:bodyPr/>
                    <a:lstStyle/>
                    <a:p>
                      <a:pPr indent="0" lvl="0" marL="0" marR="0" rtl="0" algn="l">
                        <a:spcBef>
                          <a:spcPts val="0"/>
                        </a:spcBef>
                        <a:spcAft>
                          <a:spcPts val="0"/>
                        </a:spcAft>
                        <a:buNone/>
                      </a:pPr>
                      <a:r>
                        <a:rPr lang="en-US" sz="1200">
                          <a:solidFill>
                            <a:srgbClr val="000000"/>
                          </a:solidFill>
                          <a:latin typeface="Times New Roman"/>
                          <a:ea typeface="Times New Roman"/>
                          <a:cs typeface="Times New Roman"/>
                          <a:sym typeface="Times New Roman"/>
                        </a:rPr>
                        <a:t>Small</a:t>
                      </a:r>
                      <a:r>
                        <a:rPr lang="en-US" sz="1200">
                          <a:latin typeface="Times New Roman"/>
                          <a:ea typeface="Times New Roman"/>
                          <a:cs typeface="Times New Roman"/>
                          <a:sym typeface="Times New Roman"/>
                        </a:rPr>
                        <a:t> / Big Delta</a:t>
                      </a:r>
                      <a:endParaRPr sz="1200" u="none" cap="none" strike="noStrike">
                        <a:solidFill>
                          <a:srgbClr val="000000"/>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c>
                  <a:txBody>
                    <a:bodyPr/>
                    <a:lstStyle/>
                    <a:p>
                      <a:pPr indent="0" lvl="0" marL="0" marR="0" rtl="0" algn="l">
                        <a:spcBef>
                          <a:spcPts val="0"/>
                        </a:spcBef>
                        <a:spcAft>
                          <a:spcPts val="0"/>
                        </a:spcAft>
                        <a:buNone/>
                      </a:pPr>
                      <a:r>
                        <a:rPr lang="en-US" sz="1200">
                          <a:solidFill>
                            <a:srgbClr val="000000"/>
                          </a:solidFill>
                          <a:latin typeface="Times New Roman"/>
                          <a:ea typeface="Times New Roman"/>
                          <a:cs typeface="Times New Roman"/>
                          <a:sym typeface="Times New Roman"/>
                        </a:rPr>
                        <a:t>4 ms / </a:t>
                      </a:r>
                      <a:r>
                        <a:rPr lang="en-US" sz="1200">
                          <a:latin typeface="Times New Roman"/>
                          <a:ea typeface="Times New Roman"/>
                          <a:cs typeface="Times New Roman"/>
                          <a:sym typeface="Times New Roman"/>
                        </a:rPr>
                        <a:t>4</a:t>
                      </a:r>
                      <a:r>
                        <a:rPr lang="en-US" sz="1200">
                          <a:solidFill>
                            <a:srgbClr val="000000"/>
                          </a:solidFill>
                          <a:latin typeface="Times New Roman"/>
                          <a:ea typeface="Times New Roman"/>
                          <a:cs typeface="Times New Roman"/>
                          <a:sym typeface="Times New Roman"/>
                        </a:rPr>
                        <a:t>0 ms</a:t>
                      </a:r>
                      <a:endParaRPr sz="1200">
                        <a:solidFill>
                          <a:srgbClr val="000000"/>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r>
              <a:tr h="438100">
                <a:tc>
                  <a:txBody>
                    <a:bodyPr/>
                    <a:lstStyle/>
                    <a:p>
                      <a:pPr indent="0" lvl="0" marL="0" marR="0" rtl="0" algn="l">
                        <a:spcBef>
                          <a:spcPts val="0"/>
                        </a:spcBef>
                        <a:spcAft>
                          <a:spcPts val="0"/>
                        </a:spcAft>
                        <a:buClr>
                          <a:srgbClr val="6E767C"/>
                        </a:buClr>
                        <a:buSzPts val="1050"/>
                        <a:buFont typeface="Calibri"/>
                        <a:buNone/>
                      </a:pPr>
                      <a:r>
                        <a:rPr lang="en-US" sz="1200">
                          <a:solidFill>
                            <a:schemeClr val="dk1"/>
                          </a:solidFill>
                          <a:latin typeface="Times New Roman"/>
                          <a:ea typeface="Times New Roman"/>
                          <a:cs typeface="Times New Roman"/>
                          <a:sym typeface="Times New Roman"/>
                        </a:rPr>
                        <a:t>diff_tcrush / t</a:t>
                      </a:r>
                      <a:r>
                        <a:rPr lang="en-US" sz="1200">
                          <a:solidFill>
                            <a:schemeClr val="dk1"/>
                          </a:solidFill>
                          <a:latin typeface="Times New Roman"/>
                          <a:ea typeface="Times New Roman"/>
                          <a:cs typeface="Times New Roman"/>
                          <a:sym typeface="Times New Roman"/>
                        </a:rPr>
                        <a:t>crush</a:t>
                      </a:r>
                      <a:endParaRPr sz="1200" u="none" cap="none" strike="noStrike">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c>
                  <a:txBody>
                    <a:bodyPr/>
                    <a:lstStyle/>
                    <a:p>
                      <a:pPr indent="0" lvl="0" marL="0" marR="0" rtl="0" algn="l">
                        <a:spcBef>
                          <a:spcPts val="0"/>
                        </a:spcBef>
                        <a:spcAft>
                          <a:spcPts val="0"/>
                        </a:spcAft>
                        <a:buClr>
                          <a:srgbClr val="22282B"/>
                        </a:buClr>
                        <a:buSzPts val="1050"/>
                        <a:buFont typeface="Calibri"/>
                        <a:buNone/>
                      </a:pPr>
                      <a:r>
                        <a:rPr lang="en-US" sz="1200">
                          <a:solidFill>
                            <a:schemeClr val="dk1"/>
                          </a:solidFill>
                          <a:latin typeface="Times New Roman"/>
                          <a:ea typeface="Times New Roman"/>
                          <a:cs typeface="Times New Roman"/>
                          <a:sym typeface="Times New Roman"/>
                        </a:rPr>
                        <a:t>2000 us / </a:t>
                      </a:r>
                      <a:r>
                        <a:rPr lang="en-US" sz="1200">
                          <a:solidFill>
                            <a:schemeClr val="dk1"/>
                          </a:solidFill>
                          <a:highlight>
                            <a:srgbClr val="FFFF00"/>
                          </a:highlight>
                          <a:latin typeface="Times New Roman"/>
                          <a:ea typeface="Times New Roman"/>
                          <a:cs typeface="Times New Roman"/>
                          <a:sym typeface="Times New Roman"/>
                        </a:rPr>
                        <a:t>1000 us</a:t>
                      </a:r>
                      <a:endParaRPr sz="1200" u="none" cap="none" strike="noStrike">
                        <a:solidFill>
                          <a:schemeClr val="dk1"/>
                        </a:solidFill>
                        <a:highlight>
                          <a:srgbClr val="FFFF00"/>
                        </a:highlight>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r>
              <a:tr h="438100">
                <a:tc>
                  <a:txBody>
                    <a:bodyPr/>
                    <a:lstStyle/>
                    <a:p>
                      <a:pPr indent="0" lvl="0" marL="0" marR="0" rtl="0" algn="l">
                        <a:spcBef>
                          <a:spcPts val="0"/>
                        </a:spcBef>
                        <a:spcAft>
                          <a:spcPts val="0"/>
                        </a:spcAft>
                        <a:buNone/>
                      </a:pPr>
                      <a:r>
                        <a:rPr lang="en-US" sz="1200">
                          <a:solidFill>
                            <a:schemeClr val="dk1"/>
                          </a:solidFill>
                          <a:latin typeface="Times New Roman"/>
                          <a:ea typeface="Times New Roman"/>
                          <a:cs typeface="Times New Roman"/>
                          <a:sym typeface="Times New Roman"/>
                        </a:rPr>
                        <a:t>diff_tcrush_amplitude / t_crush_amplitude</a:t>
                      </a:r>
                      <a:endParaRPr sz="1200">
                        <a:solidFill>
                          <a:schemeClr val="dk1"/>
                        </a:solidFill>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c>
                  <a:txBody>
                    <a:bodyPr/>
                    <a:lstStyle/>
                    <a:p>
                      <a:pPr indent="0" lvl="0" marL="0" marR="0" rtl="0" algn="l">
                        <a:spcBef>
                          <a:spcPts val="0"/>
                        </a:spcBef>
                        <a:spcAft>
                          <a:spcPts val="0"/>
                        </a:spcAft>
                        <a:buNone/>
                      </a:pPr>
                      <a:r>
                        <a:rPr lang="en-US" sz="1200">
                          <a:solidFill>
                            <a:schemeClr val="dk1"/>
                          </a:solidFill>
                          <a:latin typeface="Times New Roman"/>
                          <a:ea typeface="Times New Roman"/>
                          <a:cs typeface="Times New Roman"/>
                          <a:sym typeface="Times New Roman"/>
                        </a:rPr>
                        <a:t>2754 DAC units / </a:t>
                      </a:r>
                      <a:r>
                        <a:rPr lang="en-US" sz="1200">
                          <a:solidFill>
                            <a:schemeClr val="dk1"/>
                          </a:solidFill>
                          <a:highlight>
                            <a:srgbClr val="FFFF00"/>
                          </a:highlight>
                          <a:latin typeface="Times New Roman"/>
                          <a:ea typeface="Times New Roman"/>
                          <a:cs typeface="Times New Roman"/>
                          <a:sym typeface="Times New Roman"/>
                        </a:rPr>
                        <a:t>5508 DAC units </a:t>
                      </a:r>
                      <a:endParaRPr sz="1200">
                        <a:solidFill>
                          <a:schemeClr val="dk1"/>
                        </a:solidFill>
                        <a:highlight>
                          <a:srgbClr val="FFFF00"/>
                        </a:highlight>
                        <a:latin typeface="Times New Roman"/>
                        <a:ea typeface="Times New Roman"/>
                        <a:cs typeface="Times New Roman"/>
                        <a:sym typeface="Times New Roman"/>
                      </a:endParaRPr>
                    </a:p>
                  </a:txBody>
                  <a:tcPr marT="25400" marB="25400" marR="76200" marL="76200" anchor="ctr">
                    <a:lnL cap="flat" cmpd="sng" w="9525">
                      <a:solidFill>
                        <a:srgbClr val="22282B"/>
                      </a:solidFill>
                      <a:prstDash val="solid"/>
                      <a:round/>
                      <a:headEnd len="sm" w="sm" type="none"/>
                      <a:tailEnd len="sm" w="sm" type="none"/>
                    </a:lnL>
                    <a:lnR cap="flat" cmpd="sng" w="9525">
                      <a:solidFill>
                        <a:srgbClr val="22282B"/>
                      </a:solidFill>
                      <a:prstDash val="solid"/>
                      <a:round/>
                      <a:headEnd len="sm" w="sm" type="none"/>
                      <a:tailEnd len="sm" w="sm" type="none"/>
                    </a:lnR>
                    <a:lnT cap="flat" cmpd="sng" w="9525">
                      <a:solidFill>
                        <a:srgbClr val="22282B"/>
                      </a:solidFill>
                      <a:prstDash val="solid"/>
                      <a:round/>
                      <a:headEnd len="sm" w="sm" type="none"/>
                      <a:tailEnd len="sm" w="sm" type="none"/>
                    </a:lnT>
                    <a:lnB cap="flat" cmpd="sng" w="9525">
                      <a:solidFill>
                        <a:srgbClr val="22282B"/>
                      </a:solidFill>
                      <a:prstDash val="solid"/>
                      <a:round/>
                      <a:headEnd len="sm" w="sm" type="none"/>
                      <a:tailEnd len="sm" w="sm" type="none"/>
                    </a:lnB>
                  </a:tcPr>
                </a:tc>
              </a:tr>
            </a:tbl>
          </a:graphicData>
        </a:graphic>
      </p:graphicFrame>
      <p:sp>
        <p:nvSpPr>
          <p:cNvPr id="104" name="Google Shape;104;p12"/>
          <p:cNvSpPr txBox="1"/>
          <p:nvPr/>
        </p:nvSpPr>
        <p:spPr>
          <a:xfrm>
            <a:off x="301975" y="0"/>
            <a:ext cx="8588700" cy="310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600">
                <a:solidFill>
                  <a:schemeClr val="dk1"/>
                </a:solidFill>
                <a:latin typeface="Times New Roman"/>
                <a:ea typeface="Times New Roman"/>
                <a:cs typeface="Times New Roman"/>
                <a:sym typeface="Times New Roman"/>
              </a:rPr>
              <a:t>Test 1 </a:t>
            </a:r>
            <a:r>
              <a:rPr lang="en-US" sz="1600">
                <a:solidFill>
                  <a:schemeClr val="dk1"/>
                </a:solidFill>
                <a:highlight>
                  <a:srgbClr val="FFFF00"/>
                </a:highlight>
                <a:latin typeface="Times New Roman"/>
                <a:ea typeface="Times New Roman"/>
                <a:cs typeface="Times New Roman"/>
                <a:sym typeface="Times New Roman"/>
              </a:rPr>
              <a:t>Centric Interleaved</a:t>
            </a:r>
            <a:r>
              <a:rPr lang="en-US" sz="1600">
                <a:solidFill>
                  <a:schemeClr val="dk1"/>
                </a:solidFill>
                <a:latin typeface="Times New Roman"/>
                <a:ea typeface="Times New Roman"/>
                <a:cs typeface="Times New Roman"/>
                <a:sym typeface="Times New Roman"/>
              </a:rPr>
              <a:t>: FSE DWI w/ Surface Coil: In-vivo Rat Brain</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pic>
        <p:nvPicPr>
          <p:cNvPr id="110" name="Google Shape;110;p13"/>
          <p:cNvPicPr preferRelativeResize="0"/>
          <p:nvPr/>
        </p:nvPicPr>
        <p:blipFill>
          <a:blip r:embed="rId3">
            <a:alphaModFix/>
          </a:blip>
          <a:stretch>
            <a:fillRect/>
          </a:stretch>
        </p:blipFill>
        <p:spPr>
          <a:xfrm>
            <a:off x="0" y="0"/>
            <a:ext cx="9143991" cy="5143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