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4b6ecf886e401a" /><Relationship Type="http://schemas.openxmlformats.org/officeDocument/2006/relationships/extended-properties" Target="/docProps/app.xml" Id="R08d2b38054064105" /><Relationship Type="http://schemas.openxmlformats.org/officeDocument/2006/relationships/officeDocument" Target="/ppt/presentation.xml" Id="Rc04c20ea86b048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867d2555ee4fcb"/>
  </p:sldMasterIdLst>
  <p:notesMasterIdLst>
    <p:notesMasterId xmlns:r="http://schemas.openxmlformats.org/officeDocument/2006/relationships" r:id="Rabd85d032ce24e7d"/>
  </p:notesMasterIdLst>
  <p:sldIdLst>
    <p:sldId xmlns:r="http://schemas.openxmlformats.org/officeDocument/2006/relationships" id="256" r:id="R060f54645e024c8d"/>
    <p:sldId xmlns:r="http://schemas.openxmlformats.org/officeDocument/2006/relationships" id="257" r:id="Rfcbe3860cd8742be"/>
    <p:sldId xmlns:r="http://schemas.openxmlformats.org/officeDocument/2006/relationships" id="258" r:id="R53a90ee314a44fa1"/>
    <p:sldId xmlns:r="http://schemas.openxmlformats.org/officeDocument/2006/relationships" id="259" r:id="R00f973bfd1bc433d"/>
    <p:sldId xmlns:r="http://schemas.openxmlformats.org/officeDocument/2006/relationships" id="260" r:id="R7abc4461da5f4064"/>
    <p:sldId xmlns:r="http://schemas.openxmlformats.org/officeDocument/2006/relationships" id="261" r:id="R3fdbe777d09b4697"/>
    <p:sldId xmlns:r="http://schemas.openxmlformats.org/officeDocument/2006/relationships" id="262" r:id="R9e79a048b6bd49d9"/>
    <p:sldId xmlns:r="http://schemas.openxmlformats.org/officeDocument/2006/relationships" id="263" r:id="Ra8b344389c7544d3"/>
    <p:sldId xmlns:r="http://schemas.openxmlformats.org/officeDocument/2006/relationships" id="264" r:id="Rbeb15f1968124b82"/>
    <p:sldId xmlns:r="http://schemas.openxmlformats.org/officeDocument/2006/relationships" id="265" r:id="R9f8a615f61da4ade"/>
    <p:sldId xmlns:r="http://schemas.openxmlformats.org/officeDocument/2006/relationships" id="266" r:id="Rc9785484a1f9499a"/>
    <p:sldId xmlns:r="http://schemas.openxmlformats.org/officeDocument/2006/relationships" id="267" r:id="R02e9bbcacf154794"/>
    <p:sldId xmlns:r="http://schemas.openxmlformats.org/officeDocument/2006/relationships" id="268" r:id="R76e6fb67e96b4a6f"/>
    <p:sldId xmlns:r="http://schemas.openxmlformats.org/officeDocument/2006/relationships" id="269" r:id="Rd478bf1749744581"/>
    <p:sldId xmlns:r="http://schemas.openxmlformats.org/officeDocument/2006/relationships" id="270" r:id="R919bd20289d74036"/>
    <p:sldId xmlns:r="http://schemas.openxmlformats.org/officeDocument/2006/relationships" id="271" r:id="R018d02420acf4415"/>
    <p:sldId xmlns:r="http://schemas.openxmlformats.org/officeDocument/2006/relationships" id="272" r:id="R87e359b4f2fd4295"/>
    <p:sldId xmlns:r="http://schemas.openxmlformats.org/officeDocument/2006/relationships" id="273" r:id="R35e161471bee4d87"/>
    <p:sldId xmlns:r="http://schemas.openxmlformats.org/officeDocument/2006/relationships" id="274" r:id="R7bb3ebb665fc48f0"/>
    <p:sldId xmlns:r="http://schemas.openxmlformats.org/officeDocument/2006/relationships" id="275" r:id="R94fc64ab0ba74aa5"/>
    <p:sldId xmlns:r="http://schemas.openxmlformats.org/officeDocument/2006/relationships" id="276" r:id="R3496d95325824b10"/>
    <p:sldId xmlns:r="http://schemas.openxmlformats.org/officeDocument/2006/relationships" id="277" r:id="R1a0278eae6ab4d7b"/>
    <p:sldId xmlns:r="http://schemas.openxmlformats.org/officeDocument/2006/relationships" id="278" r:id="R3573577e5b294c6f"/>
    <p:sldId xmlns:r="http://schemas.openxmlformats.org/officeDocument/2006/relationships" id="279" r:id="R5e2041f3d53e4853"/>
    <p:sldId xmlns:r="http://schemas.openxmlformats.org/officeDocument/2006/relationships" id="280" r:id="R561f3f2a13b745e6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169d00f02a48e3" /><Relationship Type="http://schemas.openxmlformats.org/officeDocument/2006/relationships/slideMaster" Target="/ppt/slideMasters/slideMaster1.xml" Id="R8c867d2555ee4fcb" /><Relationship Type="http://schemas.openxmlformats.org/officeDocument/2006/relationships/notesMaster" Target="/ppt/notesMasters/notesMaster1.xml" Id="Rabd85d032ce24e7d" /><Relationship Type="http://schemas.openxmlformats.org/officeDocument/2006/relationships/presProps" Target="/ppt/presProps.xml" Id="R8b5408d606ce4146" /><Relationship Type="http://schemas.openxmlformats.org/officeDocument/2006/relationships/tableStyles" Target="/ppt/tableStyles.xml" Id="R54575744850e4b5a" /><Relationship Type="http://schemas.openxmlformats.org/officeDocument/2006/relationships/slide" Target="/ppt/slides/slide1.xml" Id="R060f54645e024c8d" /><Relationship Type="http://schemas.openxmlformats.org/officeDocument/2006/relationships/slide" Target="/ppt/slides/slide2.xml" Id="Rfcbe3860cd8742be" /><Relationship Type="http://schemas.openxmlformats.org/officeDocument/2006/relationships/slide" Target="/ppt/slides/slide3.xml" Id="R53a90ee314a44fa1" /><Relationship Type="http://schemas.openxmlformats.org/officeDocument/2006/relationships/slide" Target="/ppt/slides/slide4.xml" Id="R00f973bfd1bc433d" /><Relationship Type="http://schemas.openxmlformats.org/officeDocument/2006/relationships/slide" Target="/ppt/slides/slide5.xml" Id="R7abc4461da5f4064" /><Relationship Type="http://schemas.openxmlformats.org/officeDocument/2006/relationships/slide" Target="/ppt/slides/slide6.xml" Id="R3fdbe777d09b4697" /><Relationship Type="http://schemas.openxmlformats.org/officeDocument/2006/relationships/slide" Target="/ppt/slides/slide7.xml" Id="R9e79a048b6bd49d9" /><Relationship Type="http://schemas.openxmlformats.org/officeDocument/2006/relationships/slide" Target="/ppt/slides/slide8.xml" Id="Ra8b344389c7544d3" /><Relationship Type="http://schemas.openxmlformats.org/officeDocument/2006/relationships/slide" Target="/ppt/slides/slide9.xml" Id="Rbeb15f1968124b82" /><Relationship Type="http://schemas.openxmlformats.org/officeDocument/2006/relationships/slide" Target="/ppt/slides/slide10.xml" Id="R9f8a615f61da4ade" /><Relationship Type="http://schemas.openxmlformats.org/officeDocument/2006/relationships/slide" Target="/ppt/slides/slide11.xml" Id="Rc9785484a1f9499a" /><Relationship Type="http://schemas.openxmlformats.org/officeDocument/2006/relationships/slide" Target="/ppt/slides/slide12.xml" Id="R02e9bbcacf154794" /><Relationship Type="http://schemas.openxmlformats.org/officeDocument/2006/relationships/slide" Target="/ppt/slides/slide13.xml" Id="R76e6fb67e96b4a6f" /><Relationship Type="http://schemas.openxmlformats.org/officeDocument/2006/relationships/slide" Target="/ppt/slides/slide14.xml" Id="Rd478bf1749744581" /><Relationship Type="http://schemas.openxmlformats.org/officeDocument/2006/relationships/slide" Target="/ppt/slides/slide15.xml" Id="R919bd20289d74036" /><Relationship Type="http://schemas.openxmlformats.org/officeDocument/2006/relationships/slide" Target="/ppt/slides/slide16.xml" Id="R018d02420acf4415" /><Relationship Type="http://schemas.openxmlformats.org/officeDocument/2006/relationships/slide" Target="/ppt/slides/slide17.xml" Id="R87e359b4f2fd4295" /><Relationship Type="http://schemas.openxmlformats.org/officeDocument/2006/relationships/slide" Target="/ppt/slides/slide18.xml" Id="R35e161471bee4d87" /><Relationship Type="http://schemas.openxmlformats.org/officeDocument/2006/relationships/slide" Target="/ppt/slides/slide19.xml" Id="R7bb3ebb665fc48f0" /><Relationship Type="http://schemas.openxmlformats.org/officeDocument/2006/relationships/slide" Target="/ppt/slides/slide20.xml" Id="R94fc64ab0ba74aa5" /><Relationship Type="http://schemas.openxmlformats.org/officeDocument/2006/relationships/slide" Target="/ppt/slides/slide21.xml" Id="R3496d95325824b10" /><Relationship Type="http://schemas.openxmlformats.org/officeDocument/2006/relationships/slide" Target="/ppt/slides/slide22.xml" Id="R1a0278eae6ab4d7b" /><Relationship Type="http://schemas.openxmlformats.org/officeDocument/2006/relationships/slide" Target="/ppt/slides/slide23.xml" Id="R3573577e5b294c6f" /><Relationship Type="http://schemas.openxmlformats.org/officeDocument/2006/relationships/slide" Target="/ppt/slides/slide24.xml" Id="R5e2041f3d53e4853" /><Relationship Type="http://schemas.openxmlformats.org/officeDocument/2006/relationships/slide" Target="/ppt/slides/slide25.xml" Id="R561f3f2a13b745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e0862a8a5a4e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5f3a508bcb4f89" /><Relationship Type="http://schemas.openxmlformats.org/officeDocument/2006/relationships/notesMaster" Target="/ppt/notesMasters/notesMaster1.xml" Id="R956ddd8aa0d847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46ae76ff7f433c" /><Relationship Type="http://schemas.openxmlformats.org/officeDocument/2006/relationships/notesMaster" Target="/ppt/notesMasters/notesMaster1.xml" Id="R632927ae8fe24f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db35b2c2964be2" /><Relationship Type="http://schemas.openxmlformats.org/officeDocument/2006/relationships/notesMaster" Target="/ppt/notesMasters/notesMaster1.xml" Id="Rd465847b16c84a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7faf6a9d3f4c27" /><Relationship Type="http://schemas.openxmlformats.org/officeDocument/2006/relationships/notesMaster" Target="/ppt/notesMasters/notesMaster1.xml" Id="R4cb58f8502494b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80d5390e8c42e3" /><Relationship Type="http://schemas.openxmlformats.org/officeDocument/2006/relationships/notesMaster" Target="/ppt/notesMasters/notesMaster1.xml" Id="R6c29ad4d14a04d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5b94a1d19243bd" /><Relationship Type="http://schemas.openxmlformats.org/officeDocument/2006/relationships/notesMaster" Target="/ppt/notesMasters/notesMaster1.xml" Id="Rc1d692c1f8b041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b75edec0924248" /><Relationship Type="http://schemas.openxmlformats.org/officeDocument/2006/relationships/notesMaster" Target="/ppt/notesMasters/notesMaster1.xml" Id="R64cc3bbcd9514e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713b2c4e0343f8" /><Relationship Type="http://schemas.openxmlformats.org/officeDocument/2006/relationships/notesMaster" Target="/ppt/notesMasters/notesMaster1.xml" Id="R081dad14bb824d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b9f71005f0436a" /><Relationship Type="http://schemas.openxmlformats.org/officeDocument/2006/relationships/notesMaster" Target="/ppt/notesMasters/notesMaster1.xml" Id="Rd7c603ed50d846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7d3fcd8d3841c7" /><Relationship Type="http://schemas.openxmlformats.org/officeDocument/2006/relationships/notesMaster" Target="/ppt/notesMasters/notesMaster1.xml" Id="R9ba655eabb4940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812e00b33c4fcf" /><Relationship Type="http://schemas.openxmlformats.org/officeDocument/2006/relationships/notesMaster" Target="/ppt/notesMasters/notesMaster1.xml" Id="R0444d8e0092448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64c856423548c3" /><Relationship Type="http://schemas.openxmlformats.org/officeDocument/2006/relationships/notesMaster" Target="/ppt/notesMasters/notesMaster1.xml" Id="R5f2619140d4d42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11c8bcdd394941" /><Relationship Type="http://schemas.openxmlformats.org/officeDocument/2006/relationships/notesMaster" Target="/ppt/notesMasters/notesMaster1.xml" Id="Rc037b872f2d849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beed6a8db24855" /><Relationship Type="http://schemas.openxmlformats.org/officeDocument/2006/relationships/notesMaster" Target="/ppt/notesMasters/notesMaster1.xml" Id="R7de806b2a8d24d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7291dc27544e01" /><Relationship Type="http://schemas.openxmlformats.org/officeDocument/2006/relationships/notesMaster" Target="/ppt/notesMasters/notesMaster1.xml" Id="Raa3081d571be45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69a6ce697f426c" /><Relationship Type="http://schemas.openxmlformats.org/officeDocument/2006/relationships/notesMaster" Target="/ppt/notesMasters/notesMaster1.xml" Id="R6add22c88eb748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8b6874b1594f7f" /><Relationship Type="http://schemas.openxmlformats.org/officeDocument/2006/relationships/notesMaster" Target="/ppt/notesMasters/notesMaster1.xml" Id="R4df338139d4542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2b94075ae64dd6" /><Relationship Type="http://schemas.openxmlformats.org/officeDocument/2006/relationships/notesMaster" Target="/ppt/notesMasters/notesMaster1.xml" Id="Re69585a80ad74ba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8413f78bfd34de3" /><Relationship Type="http://schemas.openxmlformats.org/officeDocument/2006/relationships/notesMaster" Target="/ppt/notesMasters/notesMaster1.xml" Id="Re3f4713644d046e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a2a7fe5533d4cc7" /><Relationship Type="http://schemas.openxmlformats.org/officeDocument/2006/relationships/notesMaster" Target="/ppt/notesMasters/notesMaster1.xml" Id="R96656c5843054d3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74b2b1385f748c5" /><Relationship Type="http://schemas.openxmlformats.org/officeDocument/2006/relationships/notesMaster" Target="/ppt/notesMasters/notesMaster1.xml" Id="R3286cdefd36b48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063bd7d515f43fa" /><Relationship Type="http://schemas.openxmlformats.org/officeDocument/2006/relationships/notesMaster" Target="/ppt/notesMasters/notesMaster1.xml" Id="Rc4bb7aa902084a4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070040fe46f4950" /><Relationship Type="http://schemas.openxmlformats.org/officeDocument/2006/relationships/notesMaster" Target="/ppt/notesMasters/notesMaster1.xml" Id="R47ccf149de514c5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6e9d54bac7c4d4a" /><Relationship Type="http://schemas.openxmlformats.org/officeDocument/2006/relationships/notesMaster" Target="/ppt/notesMasters/notesMaster1.xml" Id="R454881ff4edb401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aaa1a5f44f04742" /><Relationship Type="http://schemas.openxmlformats.org/officeDocument/2006/relationships/notesMaster" Target="/ppt/notesMasters/notesMaster1.xml" Id="R725d670e355b4e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from the approved physical scanner report and figure set dated 12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docs/physical_scanner_experiments_2026-10-12.md and acquisition records. EPI reports vendor-processed 168 read samples; native EPI voxel convention is used for normalized SNR efficiency.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Central slices, common physical crop. Intensity windows vary by panel. Source figure: docs/figures/physical_scanner_2026-10-12/slide_exvivo_three_sequence.png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Central slices, common physical crop. Intensity windows vary by panel. Source figure: docs/figures/physical_scanner_2026-10-12/slide_invivo_three_sequence.png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b1000 panels show EPI +y and FSE +x, so this is not a direction-matched comparison. EPI direction labels are provisional. Source figure: docs/figures/physical_scanner_2026-10-12/slide_exvivo_epi_vs_v183.png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Central slices and common physical crop. EPI direction labels are provisional. Source figure: docs/figures/physical_scanner_2026-10-12/slide_invivo_epi_vs_v183.png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Audited single-acquisition ROI mean SNR. FSE baseline b10 and EPI baseline b0. R values use corrected acquisition geometry (*). Source: docs/data/oct12_quant_audit.json and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Audited single-acquisition ROI mean SNR. FSE baseline b10 and EPI baseline b0. Source: docs/data/oct12_quant_audit.json and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Brain ROI. EPI native voxel convention uses 168 read samples; alternate EPI 128-grid estimate is 54.17. R uses corrected geometry. Source: docs/data/oct12_quant_audit.json.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PBS ROI from the same acquisitions as the ex-vivo brain comparison. EPI native voxel convention uses 168 read samples. R uses corrected geometry. Source: docs/data/oct12_quant_audit.json.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EPI native voxel convention uses 168 read samples. Alternate EPI 128-grid estimate is 54.80. Acquisition-specific normalized comparison. Source: docs/data/oct12_quant_audit.json.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audited ADC means. FSE values use effective b; R values are geometry-scaled (*). EPI uses recorded nominal b and baseline b0. EPI test0 only acquired b1000 +y and b6000 +z; no b3000 or full directional shell, so the low estimate is a single-direction +y estimate and no high-interval mean exists. Near-noise-floor high-b PBS values are not reported. Direction-specific measurements and coverage are in docs/data/oct12_roi_results.json and docs/data/oct12_adc_quality.json.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Approved audited quality-masked 3-direction means. FSE values use effective b. EPI values use recorded nominal b. Baselines are FSE b10 and EPI b0, so baseline-to-1000 intervals have different baseline b-values. Direction-specific measurements and coverage are in docs/data/oct12_roi_results.json and docs/data/oct12_adc_quality.json.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x/y/z slopes; endpoints ≥5σ retained. Gray marks censored voxels. FSE uses effective b. Coverage reflects retained voxels under QC and is not an uncertainty estimate. Source figure: docs/figures/physical_scanner_2026-10-12/slide_adc_exvivo_brain_low.png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x/y/z slopes; endpoints ≥5σ retained. Gray marks censored voxels. FSE uses effective b. Coverage reflects retained voxels under QC and is not an uncertainty estimate. Source figure: docs/figures/physical_scanner_2026-10-12/slide_adc_exvivo_brain_high.png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x/y/z slopes; endpoints ≥5σ retained. Gray marks censored voxels. High interval retained 0% in both scans. Coverage reflects retained voxels under QC and is not an uncertainty estimate. Source figure: docs/figures/physical_scanner_2026-10-12/slide_adc_exvivo_pbs.png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x/y/z slopes; endpoints ≥5σ retained. Gray marks censored voxels. FSE uses effective b; EPI uses nominal b. Coverage reflects retained voxels under QC and is not an uncertainty estimate. Source figure: docs/figures/physical_scanner_2026-10-12/slide_adc_invivo_low.png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Mean x/y/z slopes; endpoints ≥5σ retained. Gray marks censored voxels. FSE uses effective b; EPI uses nominal b. Coverage reflects retained voxels under QC and is not an uncertainty estimate. Source figure: docs/figures/physical_scanner_2026-10-12/slide_adc_invivo_high.png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Scan N recorded 7 echoes / 119 views versus declared 9 / 153. R phase FOV is 31.1 mm versus 35 mm. This is an acquisition/layout limitation, not a recovered full navigator set. Source: docs/figures/physical_scanner_2026-10-12/nav_N_fixed_vs_M.png; report: docs/physical_scanner_experiments_2026-10-12.md.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 at +530 is closest among acquired candidates, with ±0.9° ramp and 5.7° / 8.7° alternate offset. It remains above the strict 5° criterion. +540 is an unacquired interpolated candidate. Source: docs/figures/physical_scanner_2026-10-12/phasecal_echo_phase_DEFG.png; report: docs/physical_scanner_experiments_2026-10-12.md.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A/B shift −0.05 read pixel and 0 PE, nominally −16 Hz; sign is uncalibrated. E and G retain large phase ramps. Source: docs/figures/physical_scanner_2026-10-12/phasecal_image_strips.png; report: docs/physical_scanner_experiments_2026-10-12.md.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ETL comparison. Refer to report for acquisition-specific limitations. Source: docs/figures/physical_scanner_2026-10-12/etl16_vs_etl8.png; report: docs/physical_scanner_experiments_2026-10-12.md.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spatial profile only; no 3D coil simulation or inferred universal depth effect. Source: docs/figures/physical_scanner_2026-10-12/ssmgot_lr.png; report: docs/physical_scanner_experiments_2026-10-12.md.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Simulation-only result. Do not interpret as measured B1 or scanner performance. Source: docs/figures/physical_scanner_2026-10-12/oct12_b1_targeted.png; report: docs/physical_scanner_experiments_2026-10-12.md.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points from the approved report. Follow up by verifying navigator echo and view counts and confirming a phase mode against the strict acceptance criterion. B1 content in this deck is simulation-only and does not establish measured B1 performance. Source: docs/physical_scanner_experiments_2026-10-12.md.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ee3c6dfbc34a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24f74e3dc4f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4317393b646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f233df7354e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d118564684b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4832440844e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D6E7A6-CD54-4D96-9E8B-DB2D5238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0E30A6-6B38-4397-BB67-08E1BE9FB2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84105D-B825-4808-AB9C-944F6C9F19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DE8C6D-39AB-4421-8230-92B107BB6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1C8113-332D-4322-A59A-641AF949BB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F3411A-B4A2-4347-876B-AFAFC01E28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F8305F-8917-4885-A092-534FA367F8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88ABA0-952A-466C-B1AB-4CFD195BCA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E8883C-9BC6-46A9-A61B-BA194B5D09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218158-007E-4B02-B6D4-D585963CBD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4e8dbff71e456e" /><Relationship Type="http://schemas.openxmlformats.org/officeDocument/2006/relationships/slideLayout" Target="/ppt/slideLayouts/slideLayout1.xml" Id="Rb4e2ab37c48a4e00" /><Relationship Type="http://schemas.openxmlformats.org/officeDocument/2006/relationships/slideLayout" Target="/ppt/slideLayouts/slideLayout2.xml" Id="R8c9f00f16837464e" /><Relationship Type="http://schemas.openxmlformats.org/officeDocument/2006/relationships/slideLayout" Target="/ppt/slideLayouts/slideLayout3.xml" Id="R45caf562d9fb43bb" /><Relationship Type="http://schemas.openxmlformats.org/officeDocument/2006/relationships/slideLayout" Target="/ppt/slideLayouts/slideLayout4.xml" Id="R0dcdce0e61b041d9" /><Relationship Type="http://schemas.openxmlformats.org/officeDocument/2006/relationships/slideLayout" Target="/ppt/slideLayouts/slideLayout5.xml" Id="R647f75842e654a4a" /><Relationship Type="http://schemas.openxmlformats.org/officeDocument/2006/relationships/slideLayout" Target="/ppt/slideLayouts/slideLayout6.xml" Id="R7264e24ee1594c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e2ab37c48a4e00"/>
    <p:sldLayoutId xmlns:r="http://schemas.openxmlformats.org/officeDocument/2006/relationships" id="2147483650" r:id="R8c9f00f16837464e"/>
    <p:sldLayoutId xmlns:r="http://schemas.openxmlformats.org/officeDocument/2006/relationships" id="2147483651" r:id="R45caf562d9fb43bb"/>
    <p:sldLayoutId xmlns:r="http://schemas.openxmlformats.org/officeDocument/2006/relationships" id="2147483652" r:id="R0dcdce0e61b041d9"/>
    <p:sldLayoutId xmlns:r="http://schemas.openxmlformats.org/officeDocument/2006/relationships" id="2147483653" r:id="R647f75842e654a4a"/>
    <p:sldLayoutId xmlns:r="http://schemas.openxmlformats.org/officeDocument/2006/relationships" id="2147483654" r:id="R7264e24ee1594c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b224e1995049fb" /><Relationship Type="http://schemas.openxmlformats.org/officeDocument/2006/relationships/notesSlide" Target="/ppt/notesSlides/notesSlide1.xml" Id="R4647e2c7414e47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3c1fd9c3a74c8a" /><Relationship Type="http://schemas.openxmlformats.org/officeDocument/2006/relationships/notesSlide" Target="/ppt/notesSlides/notesSlide2.xml" Id="R3eac1af84db746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b84f24b2642d2" /><Relationship Type="http://schemas.openxmlformats.org/officeDocument/2006/relationships/image" Target="/ppt/media/image.png" Id="Rd8a6b14e55144e5c" /><Relationship Type="http://schemas.openxmlformats.org/officeDocument/2006/relationships/notesSlide" Target="/ppt/notesSlides/notesSlide3.xml" Id="R24603f8878cf45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f54c2ea57b4fa5" /><Relationship Type="http://schemas.openxmlformats.org/officeDocument/2006/relationships/image" Target="/ppt/media/image2.png" Id="R092c542edd8f4480" /><Relationship Type="http://schemas.openxmlformats.org/officeDocument/2006/relationships/notesSlide" Target="/ppt/notesSlides/notesSlide4.xml" Id="R7215511ac2be4f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9cf1bacdcd4431" /><Relationship Type="http://schemas.openxmlformats.org/officeDocument/2006/relationships/image" Target="/ppt/media/image3.png" Id="R2b7169d77deb40ed" /><Relationship Type="http://schemas.openxmlformats.org/officeDocument/2006/relationships/notesSlide" Target="/ppt/notesSlides/notesSlide5.xml" Id="Ra33ca312caaa4f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19ea95adc4b48" /><Relationship Type="http://schemas.openxmlformats.org/officeDocument/2006/relationships/image" Target="/ppt/media/image4.png" Id="R555a667f8c33405e" /><Relationship Type="http://schemas.openxmlformats.org/officeDocument/2006/relationships/notesSlide" Target="/ppt/notesSlides/notesSlide6.xml" Id="Ra07e10612c5540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05f42f5c8842fa" /><Relationship Type="http://schemas.openxmlformats.org/officeDocument/2006/relationships/chart" Target="/ppt/slides/charts/chart1.xml" Id="R7f8a860984fe4414" /><Relationship Type="http://schemas.openxmlformats.org/officeDocument/2006/relationships/notesSlide" Target="/ppt/notesSlides/notesSlide7.xml" Id="R201daba3c81946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8001c122145d0" /><Relationship Type="http://schemas.openxmlformats.org/officeDocument/2006/relationships/chart" Target="/ppt/slides/charts/chart2.xml" Id="R2f96eaae2b0e46ca" /><Relationship Type="http://schemas.openxmlformats.org/officeDocument/2006/relationships/notesSlide" Target="/ppt/notesSlides/notesSlide8.xml" Id="Rcbb51f37fc204d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4955014dc34922" /><Relationship Type="http://schemas.openxmlformats.org/officeDocument/2006/relationships/chart" Target="/ppt/slides/charts/chart3.xml" Id="Rd710e081fb5e4619" /><Relationship Type="http://schemas.openxmlformats.org/officeDocument/2006/relationships/notesSlide" Target="/ppt/notesSlides/notesSlide9.xml" Id="R207e5f1b3bda4d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df3ab2450c4b85" /><Relationship Type="http://schemas.openxmlformats.org/officeDocument/2006/relationships/chart" Target="/ppt/slides/charts/chart4.xml" Id="Re49a477708544c11" /><Relationship Type="http://schemas.openxmlformats.org/officeDocument/2006/relationships/notesSlide" Target="/ppt/notesSlides/notesSlide10.xml" Id="R743efb7448454b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33bf38d62f4fe7" /><Relationship Type="http://schemas.openxmlformats.org/officeDocument/2006/relationships/chart" Target="/ppt/slides/charts/chart5.xml" Id="Rccf8e76819174f15" /><Relationship Type="http://schemas.openxmlformats.org/officeDocument/2006/relationships/notesSlide" Target="/ppt/notesSlides/notesSlide11.xml" Id="R09515fa2d6b240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3f0ae5a2e482b" /><Relationship Type="http://schemas.openxmlformats.org/officeDocument/2006/relationships/notesSlide" Target="/ppt/notesSlides/notesSlide12.xml" Id="R2cb9cb035b084b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0988dd9d304984" /><Relationship Type="http://schemas.openxmlformats.org/officeDocument/2006/relationships/notesSlide" Target="/ppt/notesSlides/notesSlide13.xml" Id="R001f1ed12ba443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8e093680846de" /><Relationship Type="http://schemas.openxmlformats.org/officeDocument/2006/relationships/image" Target="/ppt/media/image5.png" Id="R41e7d4ecff7d42db" /><Relationship Type="http://schemas.openxmlformats.org/officeDocument/2006/relationships/notesSlide" Target="/ppt/notesSlides/notesSlide14.xml" Id="R30337835673445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63d7de9ce14ff8" /><Relationship Type="http://schemas.openxmlformats.org/officeDocument/2006/relationships/image" Target="/ppt/media/image6.png" Id="Ra33ad7b497a34cab" /><Relationship Type="http://schemas.openxmlformats.org/officeDocument/2006/relationships/notesSlide" Target="/ppt/notesSlides/notesSlide15.xml" Id="R733092356c7c45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87f89e2a6b4d6f" /><Relationship Type="http://schemas.openxmlformats.org/officeDocument/2006/relationships/image" Target="/ppt/media/image7.png" Id="R0d039430740d4abd" /><Relationship Type="http://schemas.openxmlformats.org/officeDocument/2006/relationships/notesSlide" Target="/ppt/notesSlides/notesSlide16.xml" Id="R1fd4ae4807c447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9794730e64107" /><Relationship Type="http://schemas.openxmlformats.org/officeDocument/2006/relationships/image" Target="/ppt/media/image8.png" Id="R0de6e34e3f57452e" /><Relationship Type="http://schemas.openxmlformats.org/officeDocument/2006/relationships/notesSlide" Target="/ppt/notesSlides/notesSlide17.xml" Id="R09dce43bc1c74af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904f497fa94db9" /><Relationship Type="http://schemas.openxmlformats.org/officeDocument/2006/relationships/image" Target="/ppt/media/image9.png" Id="R8c386b3eca4e457a" /><Relationship Type="http://schemas.openxmlformats.org/officeDocument/2006/relationships/notesSlide" Target="/ppt/notesSlides/notesSlide18.xml" Id="Rbfe648ae9e064f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9e12d6a7d468e" /><Relationship Type="http://schemas.openxmlformats.org/officeDocument/2006/relationships/image" Target="/ppt/media/image10.png" Id="R3f0887ef5a5643d2" /><Relationship Type="http://schemas.openxmlformats.org/officeDocument/2006/relationships/notesSlide" Target="/ppt/notesSlides/notesSlide19.xml" Id="R72af41ac4d534a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cb23ffe46e4fec" /><Relationship Type="http://schemas.openxmlformats.org/officeDocument/2006/relationships/image" Target="/ppt/media/image11.png" Id="R71993893615342c3" /><Relationship Type="http://schemas.openxmlformats.org/officeDocument/2006/relationships/notesSlide" Target="/ppt/notesSlides/notesSlide20.xml" Id="R7b3d73cd01ed421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ca6634dd424355" /><Relationship Type="http://schemas.openxmlformats.org/officeDocument/2006/relationships/image" Target="/ppt/media/image12.png" Id="R88f1f7775a8a479f" /><Relationship Type="http://schemas.openxmlformats.org/officeDocument/2006/relationships/notesSlide" Target="/ppt/notesSlides/notesSlide21.xml" Id="R3e4c0126c24d46a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1f52eb35764516" /><Relationship Type="http://schemas.openxmlformats.org/officeDocument/2006/relationships/image" Target="/ppt/media/image13.png" Id="Rcc6e659588e040cc" /><Relationship Type="http://schemas.openxmlformats.org/officeDocument/2006/relationships/notesSlide" Target="/ppt/notesSlides/notesSlide22.xml" Id="R215c4c5db37d422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525678626e4eaf" /><Relationship Type="http://schemas.openxmlformats.org/officeDocument/2006/relationships/image" Target="/ppt/media/image14.png" Id="R6f5e8b4115e447f3" /><Relationship Type="http://schemas.openxmlformats.org/officeDocument/2006/relationships/notesSlide" Target="/ppt/notesSlides/notesSlide23.xml" Id="R84b2bd9381174f7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8d6c9509864e2a" /><Relationship Type="http://schemas.openxmlformats.org/officeDocument/2006/relationships/image" Target="/ppt/media/image15.png" Id="Rf847df3508cd4e12" /><Relationship Type="http://schemas.openxmlformats.org/officeDocument/2006/relationships/notesSlide" Target="/ppt/notesSlides/notesSlide24.xml" Id="Rb0ab719b95aa4c7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5d2aca41ef4017" /><Relationship Type="http://schemas.openxmlformats.org/officeDocument/2006/relationships/notesSlide" Target="/ppt/notesSlides/notesSlide25.xml" Id="R3fe897a9d6754a2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ROI mean SNR</c:v>
          </c:tx>
          <c:spPr>
            <a:solidFill xmlns:a="http://schemas.openxmlformats.org/drawingml/2006/main">
              <a:srgbClr val="4169A1"/>
            </a:solidFill>
          </c:spPr>
          <c:invertIfNegative val="0"/>
          <c:cat>
            <c:strLit>
              <c:ptCount val="6"/>
              <c:pt idx="0">
                <c:v>PBS · Q</c:v>
              </c:pt>
              <c:pt idx="1">
                <c:v>PBS · R*</c:v>
              </c:pt>
              <c:pt idx="2">
                <c:v>PBS · EPI</c:v>
              </c:pt>
              <c:pt idx="3">
                <c:v>Brain · Q</c:v>
              </c:pt>
              <c:pt idx="4">
                <c:v>Brain · R*</c:v>
              </c:pt>
              <c:pt idx="5">
                <c:v>Brain · EPI</c:v>
              </c:pt>
            </c:strLit>
          </c:cat>
          <c:val>
            <c:numLit>
              <c:formatCode>General</c:formatCode>
              <c:ptCount val="6"/>
              <c:pt idx="0">
                <c:v>117.6</c:v>
              </c:pt>
              <c:pt idx="1">
                <c:v>37.59</c:v>
              </c:pt>
              <c:pt idx="2">
                <c:v>111.33</c:v>
              </c:pt>
              <c:pt idx="3">
                <c:v>62.43</c:v>
              </c:pt>
              <c:pt idx="4">
                <c:v>17.02</c:v>
              </c:pt>
              <c:pt idx="5">
                <c:v>56.12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5B5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ROI mean SNR</c:v>
          </c:tx>
          <c:spPr>
            <a:solidFill xmlns:a="http://schemas.openxmlformats.org/drawingml/2006/main">
              <a:srgbClr val="4169A1"/>
            </a:solidFill>
          </c:spPr>
          <c:invertIfNegative val="0"/>
          <c:cat>
            <c:strLit>
              <c:ptCount val="3"/>
              <c:pt idx="0">
                <c:v>iA · v1.83</c:v>
              </c:pt>
              <c:pt idx="1">
                <c:v>iB · v1.912</c:v>
              </c:pt>
              <c:pt idx="2">
                <c:v>EPI · invivoA</c:v>
              </c:pt>
            </c:strLit>
          </c:cat>
          <c:val>
            <c:numLit>
              <c:formatCode>General</c:formatCode>
              <c:ptCount val="3"/>
              <c:pt idx="0">
                <c:v>46.8</c:v>
              </c:pt>
              <c:pt idx="1">
                <c:v>11.88</c:v>
              </c:pt>
              <c:pt idx="2">
                <c:v>56.78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5B5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SNR / √s / µL</c:v>
          </c:tx>
          <c:spPr>
            <a:solidFill xmlns:a="http://schemas.openxmlformats.org/drawingml/2006/main">
              <a:srgbClr val="4169A1"/>
            </a:solidFill>
          </c:spPr>
          <c:invertIfNegative val="0"/>
          <c:cat>
            <c:strLit>
              <c:ptCount val="3"/>
              <c:pt idx="0">
                <c:v>v1.83 · Q</c:v>
              </c:pt>
              <c:pt idx="1">
                <c:v>v1.912 · R*</c:v>
              </c:pt>
              <c:pt idx="2">
                <c:v>EPI · test0</c:v>
              </c:pt>
            </c:strLit>
          </c:cat>
          <c:val>
            <c:numLit>
              <c:formatCode>General</c:formatCode>
              <c:ptCount val="3"/>
              <c:pt idx="0">
                <c:v>143.21</c:v>
              </c:pt>
              <c:pt idx="1">
                <c:v>43.91</c:v>
              </c:pt>
              <c:pt idx="2">
                <c:v>71.1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5B5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SNR / √s / µL</c:v>
          </c:tx>
          <c:spPr>
            <a:solidFill xmlns:a="http://schemas.openxmlformats.org/drawingml/2006/main">
              <a:srgbClr val="4169A1"/>
            </a:solidFill>
          </c:spPr>
          <c:invertIfNegative val="0"/>
          <c:cat>
            <c:strLit>
              <c:ptCount val="3"/>
              <c:pt idx="0">
                <c:v>v1.83 · Q</c:v>
              </c:pt>
              <c:pt idx="1">
                <c:v>v1.912 · R*</c:v>
              </c:pt>
              <c:pt idx="2">
                <c:v>EPI · test0</c:v>
              </c:pt>
            </c:strLit>
          </c:cat>
          <c:val>
            <c:numLit>
              <c:formatCode>General</c:formatCode>
              <c:ptCount val="3"/>
              <c:pt idx="0">
                <c:v>269.75</c:v>
              </c:pt>
              <c:pt idx="1">
                <c:v>97</c:v>
              </c:pt>
              <c:pt idx="2">
                <c:v>141.04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5B5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SNR / √s / µL</c:v>
          </c:tx>
          <c:spPr>
            <a:solidFill xmlns:a="http://schemas.openxmlformats.org/drawingml/2006/main">
              <a:srgbClr val="4169A1"/>
            </a:solidFill>
          </c:spPr>
          <c:invertIfNegative val="0"/>
          <c:cat>
            <c:strLit>
              <c:ptCount val="3"/>
              <c:pt idx="0">
                <c:v>Brain · iA</c:v>
              </c:pt>
              <c:pt idx="1">
                <c:v>Brain · iB</c:v>
              </c:pt>
              <c:pt idx="2">
                <c:v>Brain · EPI</c:v>
              </c:pt>
            </c:strLit>
          </c:cat>
          <c:val>
            <c:numLit>
              <c:formatCode>General</c:formatCode>
              <c:ptCount val="3"/>
              <c:pt idx="0">
                <c:v>107.35</c:v>
              </c:pt>
              <c:pt idx="1">
                <c:v>27.24</c:v>
              </c:pt>
              <c:pt idx="2">
                <c:v>71.93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5B5B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C98C2-C21F-4825-9096-2A8FD011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8229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Physical scanner DWI-FSE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5A2BA-AD52-44B8-9F99-5AE40304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B5B5B"/>
                </a:solidFill>
              </a:defRPr>
            </a:pPr>
            <a:r>
              <a:rPr sz="1725" b="0">
                <a:solidFill>
                  <a:srgbClr val="5B5B5B"/>
                </a:solidFill>
              </a:rPr>
              <a:t>12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F06DB-5AF8-49A5-9A07-B06E0662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B5B5B"/>
                </a:solidFill>
              </a:defRPr>
            </a:pPr>
            <a:r>
              <a:rPr sz="1425" b="0">
                <a:solidFill>
                  <a:srgbClr val="5B5B5B"/>
                </a:solidFill>
              </a:rPr>
              <a:t>Ex-vivo and in-vivo sequence comparison</a:t>
            </a:r>
          </a:p>
        </p:txBody>
      </p:sp>
    </p:spTree>
    <p:extLst>
      <p:ext uri="{BB962C8B-B14F-4D97-AF65-F5344CB8AC3E}">
        <p14:creationId xmlns:p14="http://schemas.microsoft.com/office/powerpoint/2010/main" val="14421400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5C769-EED0-4890-9136-C8A3AF06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Acquisition protocols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A07E3-CFEF-4478-9EAF-C1E78FD6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Three acquisitions per comparison set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1FC20-4603-4A26-BF52-EBB861200CAE}"/>
              </a:ext>
            </a:extLst>
          </p:cNvPr>
          <p:cNvGraphicFramePr/>
          <p:nvPr/>
        </p:nvGraphicFramePr>
        <p:xfrm>
          <a:off xmlns:a="http://schemas.openxmlformats.org/drawingml/2006/main" x="457200" y="1028700"/>
          <a:ext xmlns:a="http://schemas.openxmlformats.org/drawingml/2006/main" cx="82296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40531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11111"/>
                          </a:solidFill>
                        </a:rPr>
                        <a:t/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11111"/>
                          </a:solidFill>
                        </a:rPr>
                        <a:t>v1.83 FSE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11111"/>
                          </a:solidFill>
                        </a:rPr>
                        <a:t>v1.912 ss-MGOT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11111"/>
                          </a:solidFill>
                        </a:rPr>
                        <a:t>Lab EPI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22222"/>
                          </a:solidFill>
                        </a:rPr>
                        <a:t>Ex / in vivo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Q / iA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R / iB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test0 / invivoA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22222"/>
                          </a:solidFill>
                        </a:rPr>
                        <a:t>Baseline b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10 s/mm²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10 s/mm²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0 s/mm²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22222"/>
                          </a:solidFill>
                        </a:rPr>
                        <a:t>TR / TE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2 s / 44 ms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2 s / 44 ms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3 s / 42 ms ex; 44 ms in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22222"/>
                          </a:solidFill>
                        </a:rPr>
                        <a:t>Slice thickness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1 mm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1 mm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2 mm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22222"/>
                          </a:solidFill>
                        </a:rPr>
                        <a:t>Sampling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128 PE lines; 16 shots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128 PE lines; 16 shots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Interleaved; 168 read samples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22222"/>
                          </a:solidFill>
                        </a:rPr>
                        <a:t>Scan time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34 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34 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48 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22222"/>
                          </a:solidFill>
                        </a:rPr>
                        <a:t>Readout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40 kHz; 128 samples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40 kHz; 128 samples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222222"/>
                          </a:solidFill>
                        </a:rPr>
                        <a:t>200 kHz; vendor processed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791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8A98C-1F7E-491A-B410-6326119E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Ex-vivo: three-sequence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A53CD-6BBD-4695-9676-4C9BB807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Q v1.83, R v1.912 and EPI test0 | baseline and b6000 +z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7CEAF-3BB1-4EA1-8921-162788E44B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6b14e55144e5c"/>
          <a:stretch xmlns:a="http://schemas.openxmlformats.org/drawingml/2006/main"/>
        </p:blipFill>
        <p:spPr>
          <a:xfrm xmlns:a="http://schemas.openxmlformats.org/drawingml/2006/main">
            <a:off x="873579" y="990600"/>
            <a:ext cx="7396843" cy="3848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54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1DC13-7CF6-444A-959F-33DF4CA9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In-vivo: three-sequence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CE802-44AD-4BAD-80D1-3613C75C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iA v1.83, iB v1.912 and EPI invivoA | baseline and b6000 +z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5E94A-3F13-4FAF-98B3-E981E11519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c542edd8f4480"/>
          <a:stretch xmlns:a="http://schemas.openxmlformats.org/drawingml/2006/main"/>
        </p:blipFill>
        <p:spPr>
          <a:xfrm xmlns:a="http://schemas.openxmlformats.org/drawingml/2006/main">
            <a:off x="1380829" y="990600"/>
            <a:ext cx="6382341" cy="3848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826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2F808-106C-4F97-8176-722DBFE0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Ex-vivo: EPI and v1.83 FSE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30C01-38E3-4A9D-B614-43055F78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EPI test0 above; M v1.83 below | b1000 directions differ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15BC1-7F2A-404E-9D8C-99F928832B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169d77deb40ed"/>
          <a:stretch xmlns:a="http://schemas.openxmlformats.org/drawingml/2006/main"/>
        </p:blipFill>
        <p:spPr>
          <a:xfrm xmlns:a="http://schemas.openxmlformats.org/drawingml/2006/main">
            <a:off x="873579" y="990600"/>
            <a:ext cx="7396843" cy="3848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00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5C7BB-D274-4F9A-A824-270B288B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In-vivo: EPI and v1.83 FSE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5CC56-E733-4E28-879B-63578F61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EPI invivoA above; iA v1.83 below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1761D-2E03-45BB-8068-6F54F2CF0A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a667f8c33405e"/>
          <a:stretch xmlns:a="http://schemas.openxmlformats.org/drawingml/2006/main"/>
        </p:blipFill>
        <p:spPr>
          <a:xfrm xmlns:a="http://schemas.openxmlformats.org/drawingml/2006/main">
            <a:off x="1380829" y="990600"/>
            <a:ext cx="6382341" cy="3848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013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75792-0BD3-4267-B7B8-30AD3EFD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Baseline SNR | ex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C4954-C4A6-410D-94C3-15DDC477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Single-acquisition comparison | FSE b10 and EPI b0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BAD23340-969E-43FE-9DCB-A9DD5BE1EAD9}"/>
              </a:ext>
            </a:extLst>
          </p:cNvPr>
          <p:cNvGraphicFramePr/>
          <p:nvPr/>
        </p:nvGraphicFramePr>
        <p:xfrm>
          <a:off xmlns:a="http://schemas.openxmlformats.org/drawingml/2006/main" x="952500" y="112395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8a860984fe4414"/>
          </a:graphicData>
        </a:graphic>
      </p:graphicFrame>
    </p:spTree>
    <p:extLst>
      <p:ext uri="{BB962C8B-B14F-4D97-AF65-F5344CB8AC3E}">
        <p14:creationId xmlns:p14="http://schemas.microsoft.com/office/powerpoint/2010/main" val="1075288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E449C-C2AE-441E-8ABB-A2E6E255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Baseline SNR | in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E9649-AAE7-4D3C-A01F-CAACBD01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Single-acquisition brain ROI | FSE b10 and EPI b0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BE09097-AEFA-45DE-A455-B2F74D751304}"/>
              </a:ext>
            </a:extLst>
          </p:cNvPr>
          <p:cNvGraphicFramePr/>
          <p:nvPr/>
        </p:nvGraphicFramePr>
        <p:xfrm>
          <a:off xmlns:a="http://schemas.openxmlformats.org/drawingml/2006/main" x="952500" y="112395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96eaae2b0e46ca"/>
          </a:graphicData>
        </a:graphic>
      </p:graphicFrame>
    </p:spTree>
    <p:extLst>
      <p:ext uri="{BB962C8B-B14F-4D97-AF65-F5344CB8AC3E}">
        <p14:creationId xmlns:p14="http://schemas.microsoft.com/office/powerpoint/2010/main" val="17573862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09A1A-7747-4143-86D2-6FC97AAB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Normalized SNR efficiency | ex-vivo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BE873-8934-4D5A-97EE-5DAC8908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SNR / √(volume time [s]) / voxel volume [µL] · EPI native grid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FD21F52-4F63-4001-95AA-898B1A4724AA}"/>
              </a:ext>
            </a:extLst>
          </p:cNvPr>
          <p:cNvGraphicFramePr/>
          <p:nvPr/>
        </p:nvGraphicFramePr>
        <p:xfrm>
          <a:off xmlns:a="http://schemas.openxmlformats.org/drawingml/2006/main" x="952500" y="112395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10e081fb5e461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5BA45-52FD-46FC-92C3-C9C50C1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R: 31.1-mm phase FOV</a:t>
            </a:r>
          </a:p>
        </p:txBody>
      </p:sp>
    </p:spTree>
    <p:extLst>
      <p:ext uri="{BB962C8B-B14F-4D97-AF65-F5344CB8AC3E}">
        <p14:creationId xmlns:p14="http://schemas.microsoft.com/office/powerpoint/2010/main" val="28086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E4CCC-F36E-43D6-999A-85BAF1FD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Normalized SNR efficiency | ex-vivo PBS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CA882-4B54-4EC2-99E7-61407563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SNR / √(volume time [s]) / voxel volume [µL] · EPI native grid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5F68DDFF-7218-4900-A6AA-34AC898C6072}"/>
              </a:ext>
            </a:extLst>
          </p:cNvPr>
          <p:cNvGraphicFramePr/>
          <p:nvPr/>
        </p:nvGraphicFramePr>
        <p:xfrm>
          <a:off xmlns:a="http://schemas.openxmlformats.org/drawingml/2006/main" x="952500" y="112395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9a477708544c1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AEAA9-81F4-411D-9B03-64F9B5F1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R: 31.1-mm phase FOV</a:t>
            </a:r>
          </a:p>
        </p:txBody>
      </p:sp>
    </p:spTree>
    <p:extLst>
      <p:ext uri="{BB962C8B-B14F-4D97-AF65-F5344CB8AC3E}">
        <p14:creationId xmlns:p14="http://schemas.microsoft.com/office/powerpoint/2010/main" val="114083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9A8C5-D31B-4136-8A1B-B1F26FB3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Normalized SNR efficiency | in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DD906-148E-4126-86FA-79F82148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SNR / √(volume time [s]) / voxel volume [µL] · EPI native grid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DC1B799-79E0-475B-8339-BBB09B7BA225}"/>
              </a:ext>
            </a:extLst>
          </p:cNvPr>
          <p:cNvGraphicFramePr/>
          <p:nvPr/>
        </p:nvGraphicFramePr>
        <p:xfrm>
          <a:off xmlns:a="http://schemas.openxmlformats.org/drawingml/2006/main" x="952500" y="112395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f8e76819174f15"/>
          </a:graphicData>
        </a:graphic>
      </p:graphicFrame>
    </p:spTree>
    <p:extLst>
      <p:ext uri="{BB962C8B-B14F-4D97-AF65-F5344CB8AC3E}">
        <p14:creationId xmlns:p14="http://schemas.microsoft.com/office/powerpoint/2010/main" val="7512441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B06CB-C61D-404D-B2DB-DE87AB31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ADC | ex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82616-BA2E-4775-BC15-F7FC1206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ROI ADC | whole-brain / PBS | ×10⁻³ mm²/s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8D329-A77C-4592-B630-E2B2331BBD5C}"/>
              </a:ext>
            </a:extLst>
          </p:cNvPr>
          <p:cNvGraphicFramePr/>
          <p:nvPr/>
        </p:nvGraphicFramePr>
        <p:xfrm>
          <a:off xmlns:a="http://schemas.openxmlformats.org/drawingml/2006/main" x="457200" y="1200150"/>
          <a:ext xmlns:a="http://schemas.openxmlformats.org/drawingml/2006/main" cx="82296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21821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111111"/>
                          </a:solidFill>
                        </a:rPr>
                        <a:t>Sample / sequence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</a:rPr>
                        <a:t>Baseline → 1000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111111"/>
                          </a:solidFill>
                        </a:rPr>
                        <a:t>1000 → 3000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22222"/>
                          </a:solidFill>
                        </a:rPr>
                        <a:t>Q brain · v1.83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22222"/>
                          </a:solidFill>
                        </a:rPr>
                        <a:t>0.325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22222"/>
                          </a:solidFill>
                        </a:rPr>
                        <a:t>0.233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22222"/>
                          </a:solidFill>
                        </a:rPr>
                        <a:t>R brain · v1.912*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22222"/>
                          </a:solidFill>
                        </a:rPr>
                        <a:t>0.373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22222"/>
                          </a:solidFill>
                        </a:rPr>
                        <a:t>0.231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22222"/>
                          </a:solidFill>
                        </a:rPr>
                        <a:t>Q PBS · v1.83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22222"/>
                          </a:solidFill>
                        </a:rPr>
                        <a:t>1.837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22222"/>
                          </a:solidFill>
                        </a:rPr>
                        <a:t>Not reported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22222"/>
                          </a:solidFill>
                        </a:rPr>
                        <a:t>R PBS · v1.912*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22222"/>
                          </a:solidFill>
                        </a:rPr>
                        <a:t>1.840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22222"/>
                          </a:solidFill>
                        </a:rPr>
                        <a:t>Not reported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22222"/>
                          </a:solidFill>
                        </a:rPr>
                        <a:t>EPI test0 brain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22222"/>
                          </a:solidFill>
                        </a:rPr>
                        <a:t>0.273 +y only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22222"/>
                          </a:solidFill>
                        </a:rPr>
                        <a:t>Not acquired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1821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222222"/>
                          </a:solidFill>
                        </a:rPr>
                        <a:t>EPI test0 PBS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22222"/>
                          </a:solidFill>
                        </a:rPr>
                        <a:t>1.792 +y only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222222"/>
                          </a:solidFill>
                        </a:rPr>
                        <a:t>Not acquired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17642-2B9F-4204-83D1-69ABFD41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R* = geometry-adjusted ROI. FSE effective b; EPI nominal b.</a:t>
            </a:r>
          </a:p>
        </p:txBody>
      </p:sp>
    </p:spTree>
    <p:extLst>
      <p:ext uri="{BB962C8B-B14F-4D97-AF65-F5344CB8AC3E}">
        <p14:creationId xmlns:p14="http://schemas.microsoft.com/office/powerpoint/2010/main" val="2193019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C22BF-594E-4333-ABD4-7803FF44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ADC | in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E906D-0F77-4371-A9E6-AABD6289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ROI ADC | ×10⁻³ mm²/s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86671-1FD6-4CCF-BAA4-6E1006759424}"/>
              </a:ext>
            </a:extLst>
          </p:cNvPr>
          <p:cNvGraphicFramePr/>
          <p:nvPr/>
        </p:nvGraphicFramePr>
        <p:xfrm>
          <a:off xmlns:a="http://schemas.openxmlformats.org/drawingml/2006/main" x="457200" y="1409700"/>
          <a:ext xmlns:a="http://schemas.openxmlformats.org/drawingml/2006/main" cx="82296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111111"/>
                          </a:solidFill>
                        </a:rPr>
                        <a:t>Sample / sequence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11111"/>
                          </a:solidFill>
                        </a:rPr>
                        <a:t>Baseline → 1000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11111"/>
                          </a:solidFill>
                        </a:rPr>
                        <a:t>1000 → 3000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T w="5715">
                      <a:solidFill>
                        <a:srgbClr val="D4D4D4"/>
                      </a:solidFill>
                      <a:prstDash val="solid"/>
                    </a:lnT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22222"/>
                          </a:solidFill>
                        </a:rPr>
                        <a:t>iA · v1.83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</a:rPr>
                        <a:t>0.689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</a:rPr>
                        <a:t>0.509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22222"/>
                          </a:solidFill>
                        </a:rPr>
                        <a:t>iB · v1.912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</a:rPr>
                        <a:t>0.679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</a:rPr>
                        <a:t>0.506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222222"/>
                          </a:solidFill>
                        </a:rPr>
                        <a:t>EPI · invivoA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4D4D4"/>
                      </a:solidFill>
                      <a:prstDash val="solid"/>
                    </a:lnL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</a:rPr>
                        <a:t>0.774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222222"/>
                          </a:solidFill>
                        </a:rPr>
                        <a:t>0.484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4D4D4"/>
                      </a:solidFill>
                      <a:prstDash val="solid"/>
                    </a:lnR>
                    <a:lnB w="5715">
                      <a:solidFill>
                        <a:srgbClr val="D4D4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370E4-CC1C-465D-9E7B-AF80011E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B5B5B"/>
                </a:solidFill>
              </a:defRPr>
            </a:pPr>
            <a:r>
              <a:rPr sz="1275" b="0">
                <a:solidFill>
                  <a:srgbClr val="5B5B5B"/>
                </a:solidFill>
              </a:rPr>
              <a:t>FSE uses effective b; EPI uses recorded nominal b.</a:t>
            </a:r>
          </a:p>
        </p:txBody>
      </p:sp>
    </p:spTree>
    <p:extLst>
      <p:ext uri="{BB962C8B-B14F-4D97-AF65-F5344CB8AC3E}">
        <p14:creationId xmlns:p14="http://schemas.microsoft.com/office/powerpoint/2010/main" val="4234351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2CF4A-4E8D-4A45-8520-F1915AC7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ADC maps | ex-vivo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1E7A1-6490-45CC-BE5C-3695A1FC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Q and R | baseline → 1000 | shared 0–0.6 scale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28028-8C9E-47FB-AF6D-C466FDFAD8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7d4ecff7d42db"/>
          <a:stretch xmlns:a="http://schemas.openxmlformats.org/drawingml/2006/main"/>
        </p:blipFill>
        <p:spPr>
          <a:xfrm xmlns:a="http://schemas.openxmlformats.org/drawingml/2006/main">
            <a:off x="457200" y="1233088"/>
            <a:ext cx="8229600" cy="336312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B49F3-D36A-4F09-A007-1E1A28D7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822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Mean x/y/z slopes · endpoints ≥5σ; gray = censored</a:t>
            </a:r>
          </a:p>
        </p:txBody>
      </p:sp>
    </p:spTree>
    <p:extLst>
      <p:ext uri="{BB962C8B-B14F-4D97-AF65-F5344CB8AC3E}">
        <p14:creationId xmlns:p14="http://schemas.microsoft.com/office/powerpoint/2010/main" val="13604691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0D033-7EEA-44F1-9A15-571D1F5D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ADC maps | ex-vivo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BA0D8-E73A-4583-B629-44515158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Q and R | 1000 → 3000 | shared 0–0.6 scale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2D776-E4A0-454C-8C70-774CE1B2F0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ad7b497a34cab"/>
          <a:stretch xmlns:a="http://schemas.openxmlformats.org/drawingml/2006/main"/>
        </p:blipFill>
        <p:spPr>
          <a:xfrm xmlns:a="http://schemas.openxmlformats.org/drawingml/2006/main">
            <a:off x="457200" y="1233088"/>
            <a:ext cx="8229600" cy="336312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D411C-0568-447B-A667-4437163D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822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Mean x/y/z slopes · endpoints ≥5σ; gray = censored</a:t>
            </a:r>
          </a:p>
        </p:txBody>
      </p:sp>
    </p:spTree>
    <p:extLst>
      <p:ext uri="{BB962C8B-B14F-4D97-AF65-F5344CB8AC3E}">
        <p14:creationId xmlns:p14="http://schemas.microsoft.com/office/powerpoint/2010/main" val="9070131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7A0FA-EEFB-4B2B-80A3-2A9494B1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ADC maps | ex-vivo PBS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AA593-4127-4242-9AF3-FBC3FCCE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Q and R | low interval shown; high interval excluded near noise floor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8B0A0-8F1F-44DE-82C7-2C7C846343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39430740d4abd"/>
          <a:stretch xmlns:a="http://schemas.openxmlformats.org/drawingml/2006/main"/>
        </p:blipFill>
        <p:spPr>
          <a:xfrm xmlns:a="http://schemas.openxmlformats.org/drawingml/2006/main">
            <a:off x="944922" y="1000125"/>
            <a:ext cx="7254156" cy="3829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FE864-46F4-48D1-A547-2348DDD7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822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Mean x/y/z slopes · endpoints ≥5σ; gray = censored</a:t>
            </a:r>
          </a:p>
        </p:txBody>
      </p:sp>
    </p:spTree>
    <p:extLst>
      <p:ext uri="{BB962C8B-B14F-4D97-AF65-F5344CB8AC3E}">
        <p14:creationId xmlns:p14="http://schemas.microsoft.com/office/powerpoint/2010/main" val="14031986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5F3C7-E632-4466-99CA-DE2EBEE2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ADC maps | in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183A2-F734-4CB9-9F63-C6F57D79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iA, iB and EPI | baseline → 1000 | shared 0–2 scale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D0B78-FA77-49AB-B7FC-F3B4CF066C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6e34e3f57452e"/>
          <a:stretch xmlns:a="http://schemas.openxmlformats.org/drawingml/2006/main"/>
        </p:blipFill>
        <p:spPr>
          <a:xfrm xmlns:a="http://schemas.openxmlformats.org/drawingml/2006/main">
            <a:off x="457200" y="1241450"/>
            <a:ext cx="8229600" cy="334640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EC045-9A09-4370-91AE-49F2B618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822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Mean x/y/z slopes · endpoints ≥5σ; gray = censored</a:t>
            </a:r>
          </a:p>
        </p:txBody>
      </p:sp>
    </p:spTree>
    <p:extLst>
      <p:ext uri="{BB962C8B-B14F-4D97-AF65-F5344CB8AC3E}">
        <p14:creationId xmlns:p14="http://schemas.microsoft.com/office/powerpoint/2010/main" val="5505971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9C70F-A3DE-4C88-B196-887911ED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ADC maps | in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E535C-936C-4ECE-8397-2FEB03C3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iA, iB and EPI | 1000 → 3000 | shared 0–2 scale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463D5-B8EF-4AD2-86EF-8CB159D566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86b3eca4e457a"/>
          <a:stretch xmlns:a="http://schemas.openxmlformats.org/drawingml/2006/main"/>
        </p:blipFill>
        <p:spPr>
          <a:xfrm xmlns:a="http://schemas.openxmlformats.org/drawingml/2006/main">
            <a:off x="457200" y="1241450"/>
            <a:ext cx="8229600" cy="334640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E5C4B-ADEB-462F-AE8A-3FB24D8A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822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B5B5B"/>
                </a:solidFill>
              </a:defRPr>
            </a:pPr>
            <a:r>
              <a:rPr sz="1050" b="0">
                <a:solidFill>
                  <a:srgbClr val="5B5B5B"/>
                </a:solidFill>
              </a:rPr>
              <a:t>Mean x/y/z slopes · endpoints ≥5σ; gray = censored</a:t>
            </a:r>
          </a:p>
        </p:txBody>
      </p:sp>
    </p:spTree>
    <p:extLst>
      <p:ext uri="{BB962C8B-B14F-4D97-AF65-F5344CB8AC3E}">
        <p14:creationId xmlns:p14="http://schemas.microsoft.com/office/powerpoint/2010/main" val="20395492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640E4-7333-4550-AA03-482CC72A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Navigator geometry | scan 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31C65-4287-43BE-96AD-28314923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Acquired echo coverage and corrected geometry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6BC0E-303E-4E83-AF25-9188264BF8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887ef5a5643d2"/>
          <a:stretch xmlns:a="http://schemas.openxmlformats.org/drawingml/2006/main"/>
        </p:blipFill>
        <p:spPr>
          <a:xfrm xmlns:a="http://schemas.openxmlformats.org/drawingml/2006/main">
            <a:off x="2126761" y="990600"/>
            <a:ext cx="4890478" cy="382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332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03A92-CF5F-4503-8FE8-F5E120A6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Phase calibration | echo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162E3-88EE-4D8A-8E3A-D4378AAE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D, E, F and G modes | echo phase and fitted ramp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E357F-FB2E-4610-AD0F-58E035191B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93893615342c3"/>
          <a:stretch xmlns:a="http://schemas.openxmlformats.org/drawingml/2006/main"/>
        </p:blipFill>
        <p:spPr>
          <a:xfrm xmlns:a="http://schemas.openxmlformats.org/drawingml/2006/main">
            <a:off x="457200" y="1791709"/>
            <a:ext cx="8229600" cy="2226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2113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06A86-D8EC-4AD3-88CF-F20A67B7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Phase calibration | image effects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6D27D-7060-483A-9A05-9E60D657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Acquired phase calibration comparison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3EF45-2E76-4DDE-A2A6-1FCECECB63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1f7775a8a479f"/>
          <a:stretch xmlns:a="http://schemas.openxmlformats.org/drawingml/2006/main"/>
        </p:blipFill>
        <p:spPr>
          <a:xfrm xmlns:a="http://schemas.openxmlformats.org/drawingml/2006/main">
            <a:off x="2637135" y="990600"/>
            <a:ext cx="3869730" cy="382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540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F99C1-CD02-474A-B1AF-A1086CF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Echo train length | 8 vs 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76D81-A511-49A5-820F-A14C8A31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Measured image / signal effects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279EB-6CB7-42FC-A53F-8B022A3137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e659588e040cc"/>
          <a:stretch xmlns:a="http://schemas.openxmlformats.org/drawingml/2006/main"/>
        </p:blipFill>
        <p:spPr>
          <a:xfrm xmlns:a="http://schemas.openxmlformats.org/drawingml/2006/main">
            <a:off x="1208645" y="990600"/>
            <a:ext cx="6726709" cy="382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9787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82F04-D369-4360-9AC6-6C5AE756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ss-MGOT | measured depth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8B45C-ED96-499E-AB6E-ECF6052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Measured left-right profile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4A6BC-39AE-483F-90CE-AA350D4158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e8b4115e447f3"/>
          <a:stretch xmlns:a="http://schemas.openxmlformats.org/drawingml/2006/main"/>
        </p:blipFill>
        <p:spPr>
          <a:xfrm xmlns:a="http://schemas.openxmlformats.org/drawingml/2006/main">
            <a:off x="1297155" y="990600"/>
            <a:ext cx="6549691" cy="382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107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57C7C-52CC-4F63-B84D-1C91829F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B1 | targeted simulation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A6BE9-915E-4040-B97D-F9764AC8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B5B5B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B5B5B"/>
                </a:solidFill>
              </a:defRPr>
            </a:pPr>
            <a:r>
              <a:rPr sz="1125" b="0">
                <a:solidFill>
                  <a:srgbClr val="5B5B5B"/>
                </a:solidFill>
              </a:rPr>
              <a:t>Modeled B1 sensitivity | simulation, not measured scanner data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23866-AD9E-46CD-845A-49933E70E1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7df3508cd4e12"/>
          <a:stretch xmlns:a="http://schemas.openxmlformats.org/drawingml/2006/main"/>
        </p:blipFill>
        <p:spPr>
          <a:xfrm xmlns:a="http://schemas.openxmlformats.org/drawingml/2006/main">
            <a:off x="1495085" y="990600"/>
            <a:ext cx="6153830" cy="3829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73979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A9A74-7732-44DC-9587-8586E993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Decision and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01648-2E9E-4C02-9749-998C176A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Ex vivo: v1.83 ETL8 is the current FSE choice.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50A30-FC55-41B7-9365-E1867EBB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In vivo: retain EPI; test v1.83 with CHESS at matched geometry.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D091D-6CAF-448C-A5CC-2B780BD1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11111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ss-MGOT: resolve B1 sensitivity and low high-b SNR before whole-brain use.</a:t>
            </a:r>
          </a:p>
        </p:txBody>
      </p:sp>
    </p:spTree>
    <p:extLst>
      <p:ext uri="{BB962C8B-B14F-4D97-AF65-F5344CB8AC3E}">
        <p14:creationId xmlns:p14="http://schemas.microsoft.com/office/powerpoint/2010/main" val="318720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2026-10-12T21:50:39.9240000Z</dcterms:created>
  <dcterms:modified xsi:type="dcterms:W3CDTF">2026-10-12T21:50:39.9240000Z</dcterms:modified>
</coreProperties>
</file>