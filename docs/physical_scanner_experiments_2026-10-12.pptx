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slides/charts/chart1.xml" ContentType="application/vnd.openxmlformats-officedocument.drawingml.chart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slides/charts/chart2.xml" ContentType="application/vnd.openxmlformats-officedocument.drawingml.chart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slides/charts/chart3.xml" ContentType="application/vnd.openxmlformats-officedocument.drawingml.chart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slides/charts/chart4.xml" ContentType="application/vnd.openxmlformats-officedocument.drawingml.chart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slides/charts/chart5.xml" ContentType="application/vnd.openxmlformats-officedocument.drawingml.chart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529db54034949ed" /><Relationship Type="http://schemas.openxmlformats.org/officeDocument/2006/relationships/extended-properties" Target="/docProps/app.xml" Id="R028fba85baa94d1e" /><Relationship Type="http://schemas.openxmlformats.org/officeDocument/2006/relationships/officeDocument" Target="/ppt/presentation.xml" Id="Ra319af63ae8e419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fcecd25a74d4580"/>
  </p:sldMasterIdLst>
  <p:notesMasterIdLst>
    <p:notesMasterId xmlns:r="http://schemas.openxmlformats.org/officeDocument/2006/relationships" r:id="Rc18c85770e2446ca"/>
  </p:notesMasterIdLst>
  <p:sldIdLst>
    <p:sldId xmlns:r="http://schemas.openxmlformats.org/officeDocument/2006/relationships" id="256" r:id="R1f9461c9a1c1488f"/>
    <p:sldId xmlns:r="http://schemas.openxmlformats.org/officeDocument/2006/relationships" id="257" r:id="R401e37a7f4244515"/>
    <p:sldId xmlns:r="http://schemas.openxmlformats.org/officeDocument/2006/relationships" id="258" r:id="Reac8672e83d34dbc"/>
    <p:sldId xmlns:r="http://schemas.openxmlformats.org/officeDocument/2006/relationships" id="259" r:id="R3ced18322eb9475e"/>
    <p:sldId xmlns:r="http://schemas.openxmlformats.org/officeDocument/2006/relationships" id="260" r:id="R452258741c114883"/>
    <p:sldId xmlns:r="http://schemas.openxmlformats.org/officeDocument/2006/relationships" id="261" r:id="R79a3ee12494a49a5"/>
    <p:sldId xmlns:r="http://schemas.openxmlformats.org/officeDocument/2006/relationships" id="262" r:id="R0a899f9e3ee0475a"/>
    <p:sldId xmlns:r="http://schemas.openxmlformats.org/officeDocument/2006/relationships" id="263" r:id="Rb2f9144833b04c3b"/>
    <p:sldId xmlns:r="http://schemas.openxmlformats.org/officeDocument/2006/relationships" id="264" r:id="R2d21433314b04139"/>
    <p:sldId xmlns:r="http://schemas.openxmlformats.org/officeDocument/2006/relationships" id="265" r:id="R3935f716c01f44b3"/>
    <p:sldId xmlns:r="http://schemas.openxmlformats.org/officeDocument/2006/relationships" id="266" r:id="R851fa86b6de14fec"/>
    <p:sldId xmlns:r="http://schemas.openxmlformats.org/officeDocument/2006/relationships" id="267" r:id="R9ba9ad95d25445f4"/>
    <p:sldId xmlns:r="http://schemas.openxmlformats.org/officeDocument/2006/relationships" id="268" r:id="Rd70c414e50a04f06"/>
    <p:sldId xmlns:r="http://schemas.openxmlformats.org/officeDocument/2006/relationships" id="269" r:id="Ra40609deb84b4bee"/>
    <p:sldId xmlns:r="http://schemas.openxmlformats.org/officeDocument/2006/relationships" id="270" r:id="R0b1db5d5ec854f4c"/>
    <p:sldId xmlns:r="http://schemas.openxmlformats.org/officeDocument/2006/relationships" id="271" r:id="R994a8f098d1141ce"/>
    <p:sldId xmlns:r="http://schemas.openxmlformats.org/officeDocument/2006/relationships" id="272" r:id="Rce0fb152ade34f09"/>
    <p:sldId xmlns:r="http://schemas.openxmlformats.org/officeDocument/2006/relationships" id="273" r:id="Ra946222015e240bf"/>
    <p:sldId xmlns:r="http://schemas.openxmlformats.org/officeDocument/2006/relationships" id="274" r:id="Rfdd9e452d4664d2e"/>
    <p:sldId xmlns:r="http://schemas.openxmlformats.org/officeDocument/2006/relationships" id="275" r:id="Rda4fe2f31d634f0d"/>
    <p:sldId xmlns:r="http://schemas.openxmlformats.org/officeDocument/2006/relationships" id="276" r:id="R1a07eb3753f340c2"/>
    <p:sldId xmlns:r="http://schemas.openxmlformats.org/officeDocument/2006/relationships" id="277" r:id="Rc1f45b88ad484026"/>
    <p:sldId xmlns:r="http://schemas.openxmlformats.org/officeDocument/2006/relationships" id="278" r:id="R5e88366dc00548b5"/>
    <p:sldId xmlns:r="http://schemas.openxmlformats.org/officeDocument/2006/relationships" id="279" r:id="Redaab751a4704a7e"/>
    <p:sldId xmlns:r="http://schemas.openxmlformats.org/officeDocument/2006/relationships" id="280" r:id="R46a75afee85d4bde"/>
    <p:sldId xmlns:r="http://schemas.openxmlformats.org/officeDocument/2006/relationships" id="281" r:id="Re2b52164726140eb"/>
    <p:sldId xmlns:r="http://schemas.openxmlformats.org/officeDocument/2006/relationships" id="282" r:id="R6bb07c435e3f4c02"/>
    <p:sldId xmlns:r="http://schemas.openxmlformats.org/officeDocument/2006/relationships" id="283" r:id="R497c52b06d4f402f"/>
    <p:sldId xmlns:r="http://schemas.openxmlformats.org/officeDocument/2006/relationships" id="284" r:id="R304fa44926414506"/>
    <p:sldId xmlns:r="http://schemas.openxmlformats.org/officeDocument/2006/relationships" id="285" r:id="R2111a2a86f514eac"/>
    <p:sldId xmlns:r="http://schemas.openxmlformats.org/officeDocument/2006/relationships" id="286" r:id="R6df51e7ba8524431"/>
  </p:sldIdLst>
  <p:sldSz cx="9144000" cy="5143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fb2e48d47e54e0c" /><Relationship Type="http://schemas.openxmlformats.org/officeDocument/2006/relationships/slideMaster" Target="/ppt/slideMasters/slideMaster1.xml" Id="R4fcecd25a74d4580" /><Relationship Type="http://schemas.openxmlformats.org/officeDocument/2006/relationships/notesMaster" Target="/ppt/notesMasters/notesMaster1.xml" Id="Rc18c85770e2446ca" /><Relationship Type="http://schemas.openxmlformats.org/officeDocument/2006/relationships/presProps" Target="/ppt/presProps.xml" Id="R758b3fc56d5540ea" /><Relationship Type="http://schemas.openxmlformats.org/officeDocument/2006/relationships/tableStyles" Target="/ppt/tableStyles.xml" Id="R202452e8fa4940dc" /><Relationship Type="http://schemas.openxmlformats.org/officeDocument/2006/relationships/slide" Target="/ppt/slides/slide1.xml" Id="R1f9461c9a1c1488f" /><Relationship Type="http://schemas.openxmlformats.org/officeDocument/2006/relationships/slide" Target="/ppt/slides/slide2.xml" Id="R401e37a7f4244515" /><Relationship Type="http://schemas.openxmlformats.org/officeDocument/2006/relationships/slide" Target="/ppt/slides/slide3.xml" Id="Reac8672e83d34dbc" /><Relationship Type="http://schemas.openxmlformats.org/officeDocument/2006/relationships/slide" Target="/ppt/slides/slide4.xml" Id="R3ced18322eb9475e" /><Relationship Type="http://schemas.openxmlformats.org/officeDocument/2006/relationships/slide" Target="/ppt/slides/slide5.xml" Id="R452258741c114883" /><Relationship Type="http://schemas.openxmlformats.org/officeDocument/2006/relationships/slide" Target="/ppt/slides/slide6.xml" Id="R79a3ee12494a49a5" /><Relationship Type="http://schemas.openxmlformats.org/officeDocument/2006/relationships/slide" Target="/ppt/slides/slide7.xml" Id="R0a899f9e3ee0475a" /><Relationship Type="http://schemas.openxmlformats.org/officeDocument/2006/relationships/slide" Target="/ppt/slides/slide8.xml" Id="Rb2f9144833b04c3b" /><Relationship Type="http://schemas.openxmlformats.org/officeDocument/2006/relationships/slide" Target="/ppt/slides/slide9.xml" Id="R2d21433314b04139" /><Relationship Type="http://schemas.openxmlformats.org/officeDocument/2006/relationships/slide" Target="/ppt/slides/slide10.xml" Id="R3935f716c01f44b3" /><Relationship Type="http://schemas.openxmlformats.org/officeDocument/2006/relationships/slide" Target="/ppt/slides/slide11.xml" Id="R851fa86b6de14fec" /><Relationship Type="http://schemas.openxmlformats.org/officeDocument/2006/relationships/slide" Target="/ppt/slides/slide12.xml" Id="R9ba9ad95d25445f4" /><Relationship Type="http://schemas.openxmlformats.org/officeDocument/2006/relationships/slide" Target="/ppt/slides/slide13.xml" Id="Rd70c414e50a04f06" /><Relationship Type="http://schemas.openxmlformats.org/officeDocument/2006/relationships/slide" Target="/ppt/slides/slide14.xml" Id="Ra40609deb84b4bee" /><Relationship Type="http://schemas.openxmlformats.org/officeDocument/2006/relationships/slide" Target="/ppt/slides/slide15.xml" Id="R0b1db5d5ec854f4c" /><Relationship Type="http://schemas.openxmlformats.org/officeDocument/2006/relationships/slide" Target="/ppt/slides/slide16.xml" Id="R994a8f098d1141ce" /><Relationship Type="http://schemas.openxmlformats.org/officeDocument/2006/relationships/slide" Target="/ppt/slides/slide17.xml" Id="Rce0fb152ade34f09" /><Relationship Type="http://schemas.openxmlformats.org/officeDocument/2006/relationships/slide" Target="/ppt/slides/slide18.xml" Id="Ra946222015e240bf" /><Relationship Type="http://schemas.openxmlformats.org/officeDocument/2006/relationships/slide" Target="/ppt/slides/slide19.xml" Id="Rfdd9e452d4664d2e" /><Relationship Type="http://schemas.openxmlformats.org/officeDocument/2006/relationships/slide" Target="/ppt/slides/slide20.xml" Id="Rda4fe2f31d634f0d" /><Relationship Type="http://schemas.openxmlformats.org/officeDocument/2006/relationships/slide" Target="/ppt/slides/slide21.xml" Id="R1a07eb3753f340c2" /><Relationship Type="http://schemas.openxmlformats.org/officeDocument/2006/relationships/slide" Target="/ppt/slides/slide22.xml" Id="Rc1f45b88ad484026" /><Relationship Type="http://schemas.openxmlformats.org/officeDocument/2006/relationships/slide" Target="/ppt/slides/slide23.xml" Id="R5e88366dc00548b5" /><Relationship Type="http://schemas.openxmlformats.org/officeDocument/2006/relationships/slide" Target="/ppt/slides/slide24.xml" Id="Redaab751a4704a7e" /><Relationship Type="http://schemas.openxmlformats.org/officeDocument/2006/relationships/slide" Target="/ppt/slides/slide25.xml" Id="R46a75afee85d4bde" /><Relationship Type="http://schemas.openxmlformats.org/officeDocument/2006/relationships/slide" Target="/ppt/slides/slide26.xml" Id="Re2b52164726140eb" /><Relationship Type="http://schemas.openxmlformats.org/officeDocument/2006/relationships/slide" Target="/ppt/slides/slide27.xml" Id="R6bb07c435e3f4c02" /><Relationship Type="http://schemas.openxmlformats.org/officeDocument/2006/relationships/slide" Target="/ppt/slides/slide28.xml" Id="R497c52b06d4f402f" /><Relationship Type="http://schemas.openxmlformats.org/officeDocument/2006/relationships/slide" Target="/ppt/slides/slide29.xml" Id="R304fa44926414506" /><Relationship Type="http://schemas.openxmlformats.org/officeDocument/2006/relationships/slide" Target="/ppt/slides/slide30.xml" Id="R2111a2a86f514eac" /><Relationship Type="http://schemas.openxmlformats.org/officeDocument/2006/relationships/slide" Target="/ppt/slides/slide31.xml" Id="R6df51e7ba852443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d0d3ee5d7b54f1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cb07040cf8e484a" /><Relationship Type="http://schemas.openxmlformats.org/officeDocument/2006/relationships/notesMaster" Target="/ppt/notesMasters/notesMaster1.xml" Id="Rf24b0fcb09b8470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0d605624a86476a" /><Relationship Type="http://schemas.openxmlformats.org/officeDocument/2006/relationships/notesMaster" Target="/ppt/notesMasters/notesMaster1.xml" Id="Rb018f3cd0931482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efe6f5d2e6a4fb8" /><Relationship Type="http://schemas.openxmlformats.org/officeDocument/2006/relationships/notesMaster" Target="/ppt/notesMasters/notesMaster1.xml" Id="R0369ab692baf4b3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2b71b2ab844405a" /><Relationship Type="http://schemas.openxmlformats.org/officeDocument/2006/relationships/notesMaster" Target="/ppt/notesMasters/notesMaster1.xml" Id="R9d87f9cbabbe4a3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dbd266c16854e41" /><Relationship Type="http://schemas.openxmlformats.org/officeDocument/2006/relationships/notesMaster" Target="/ppt/notesMasters/notesMaster1.xml" Id="R3140ad5e37e3445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f00d4dd53cc4333" /><Relationship Type="http://schemas.openxmlformats.org/officeDocument/2006/relationships/notesMaster" Target="/ppt/notesMasters/notesMaster1.xml" Id="Reee48466e28c406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dabe79895434e96" /><Relationship Type="http://schemas.openxmlformats.org/officeDocument/2006/relationships/notesMaster" Target="/ppt/notesMasters/notesMaster1.xml" Id="Raef518792a244d1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136bf26a95f4cfd" /><Relationship Type="http://schemas.openxmlformats.org/officeDocument/2006/relationships/notesMaster" Target="/ppt/notesMasters/notesMaster1.xml" Id="R6418d0e5534044a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24aa1f1cba34455" /><Relationship Type="http://schemas.openxmlformats.org/officeDocument/2006/relationships/notesMaster" Target="/ppt/notesMasters/notesMaster1.xml" Id="R42449fbebedb4fe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9bf8e0468e54b9a" /><Relationship Type="http://schemas.openxmlformats.org/officeDocument/2006/relationships/notesMaster" Target="/ppt/notesMasters/notesMaster1.xml" Id="R8223cefc5f8e4cf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488e8156fc34be5" /><Relationship Type="http://schemas.openxmlformats.org/officeDocument/2006/relationships/notesMaster" Target="/ppt/notesMasters/notesMaster1.xml" Id="R0f5188e8aee943c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ae8a3f792564772" /><Relationship Type="http://schemas.openxmlformats.org/officeDocument/2006/relationships/notesMaster" Target="/ppt/notesMasters/notesMaster1.xml" Id="Rf8eb1728b2b54cd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d88e63f0bd9495a" /><Relationship Type="http://schemas.openxmlformats.org/officeDocument/2006/relationships/notesMaster" Target="/ppt/notesMasters/notesMaster1.xml" Id="R97b8cea81e4049e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26e1886275b4883" /><Relationship Type="http://schemas.openxmlformats.org/officeDocument/2006/relationships/notesMaster" Target="/ppt/notesMasters/notesMaster1.xml" Id="R1e039c5538fc43c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b31a57fb9e14a15" /><Relationship Type="http://schemas.openxmlformats.org/officeDocument/2006/relationships/notesMaster" Target="/ppt/notesMasters/notesMaster1.xml" Id="R884d0f88007e488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bfb58f254b8d404f" /><Relationship Type="http://schemas.openxmlformats.org/officeDocument/2006/relationships/notesMaster" Target="/ppt/notesMasters/notesMaster1.xml" Id="R6ebdb8fada20422b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f8afa38aa4544ff4" /><Relationship Type="http://schemas.openxmlformats.org/officeDocument/2006/relationships/notesMaster" Target="/ppt/notesMasters/notesMaster1.xml" Id="Rcbd6dd9ab48b4b34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1225ac3d247c4941" /><Relationship Type="http://schemas.openxmlformats.org/officeDocument/2006/relationships/notesMaster" Target="/ppt/notesMasters/notesMaster1.xml" Id="Rc36174732b88444a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24d14f91abe44575" /><Relationship Type="http://schemas.openxmlformats.org/officeDocument/2006/relationships/notesMaster" Target="/ppt/notesMasters/notesMaster1.xml" Id="R022fab0e5ce34d95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a15c457f05fe4e6d" /><Relationship Type="http://schemas.openxmlformats.org/officeDocument/2006/relationships/notesMaster" Target="/ppt/notesMasters/notesMaster1.xml" Id="R0fb0b8ab124741fa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dcc155a4697f49c8" /><Relationship Type="http://schemas.openxmlformats.org/officeDocument/2006/relationships/notesMaster" Target="/ppt/notesMasters/notesMaster1.xml" Id="R556ddd7d23ae4069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0bba088f8a624f6e" /><Relationship Type="http://schemas.openxmlformats.org/officeDocument/2006/relationships/notesMaster" Target="/ppt/notesMasters/notesMaster1.xml" Id="R0f3e120a8c0f401a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a3d4c8a2511f4001" /><Relationship Type="http://schemas.openxmlformats.org/officeDocument/2006/relationships/notesMaster" Target="/ppt/notesMasters/notesMaster1.xml" Id="Raaf97065006e4b8c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1957171b8b3042c5" /><Relationship Type="http://schemas.openxmlformats.org/officeDocument/2006/relationships/notesMaster" Target="/ppt/notesMasters/notesMaster1.xml" Id="Ref64ef991c814ca9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3efe5c27c1fe4c75" /><Relationship Type="http://schemas.openxmlformats.org/officeDocument/2006/relationships/notesMaster" Target="/ppt/notesMasters/notesMaster1.xml" Id="Rfc06ca84bd9649ab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8db3ecf281dc4f86" /><Relationship Type="http://schemas.openxmlformats.org/officeDocument/2006/relationships/notesMaster" Target="/ppt/notesMasters/notesMaster1.xml" Id="R7b4692e1048b45b6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b7cb129cbfd84153" /><Relationship Type="http://schemas.openxmlformats.org/officeDocument/2006/relationships/notesMaster" Target="/ppt/notesMasters/notesMaster1.xml" Id="R3b175df38fb74424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63f985986f8a4af5" /><Relationship Type="http://schemas.openxmlformats.org/officeDocument/2006/relationships/notesMaster" Target="/ppt/notesMasters/notesMaster1.xml" Id="Ra6de047745d54b14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5c0fd5815bd2497d" /><Relationship Type="http://schemas.openxmlformats.org/officeDocument/2006/relationships/notesMaster" Target="/ppt/notesMasters/notesMaster1.xml" Id="Rdbda9e8aab9e4df8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0119cc263d2542f1" /><Relationship Type="http://schemas.openxmlformats.org/officeDocument/2006/relationships/notesMaster" Target="/ppt/notesMasters/notesMaster1.xml" Id="R50dfe41f2b704d6f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0d6b5d687ef349fb" /><Relationship Type="http://schemas.openxmlformats.org/officeDocument/2006/relationships/notesMaster" Target="/ppt/notesMasters/notesMaster1.xml" Id="R8779b148c3434e1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Prepared from the approved physical scanner report and figure set dated 12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docs/physical_scanner_experiments_2026-10-12.md and acquisition records. EPI reports vendor-processed 168 read samples; native EPI voxel convention is used for normalized SNR efficiency.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Ex-vivo central slices: M v1.83 volume 0 b10 +x, slice 1; O v1.912 ss-MGOT volume 0 b10 +x, slice 1; EPI test0 volume 0 b0 +x, slice 2. Each image is divided by σ = sqrt(mean(magnitude²)/2) from the established Oct 12 side-background ROI (rows 4:124 and scan-specific noise columns). Shared linear I/σ window 0–133.899. FSE baseline b10; EPI baseline b0. Source figure: docs/figures/physical_scanner_2026-10-12/revised_exvivo_baseline.png.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Ex-vivo central slices: M volume 3 b6000 +z, slice 1; O volume 3 b6000 +z, slice 1; EPI test0 volume 2 b6000 +z, slice 2. Each image is divided by σ = sqrt(mean(magnitude²)/2) from the established Oct 12 side-background ROI (rows 4:124 and scan-specific noise columns). Shared linear I/σ window 0–30.108. Source figure: docs/figures/physical_scanner_2026-10-12/revised_exvivo_b6000.png.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Actual complex k-space, ex vivo baseline: M volume 0 b10 +x slice 1; O volume 0 b10 +x slice 1; EPI test0 volume 0 b0 +x slice 2. Each panel is shown on native index axes with aspect preserved, normalized independently as 20 log10(|k|/peak) and clipped to −50…0 dB. FSE grids are actual PE-reordered complex MRD data; EPI is vendor-processed complex _o.MRD. Peak-normalized amplitudes are not comparable. Source figure: docs/figures/physical_scanner_2026-10-12/revised_exvivo_kspace_baseline.png.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Actual complex k-space, ex vivo b6000 +z: M volume 3 slice 1; O volume 3 slice 1; EPI test0 volume 2 slice 2. Each panel is shown on native index axes with aspect preserved, normalized independently as 20 log10(|k|/peak) and clipped to −50…0 dB. FSE grids are actual PE-reordered complex MRD data; EPI is vendor-processed complex _o.MRD. Peak-normalized amplitudes are not comparable. Source figure: docs/figures/physical_scanner_2026-10-12/revised_exvivo_kspace_b6000.png.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In-vivo central slices: iA v1.83 volume 0 b10 +x, slice 4; iB v1.912 ss-MGOT volume 0 b10 +x, slice 2; EPI invivoA volume 0 b0 +x, slice 2. Each image is divided by σ = sqrt(mean(magnitude²)/2) from the established Oct 12 side-background ROI (rows 4:124 and scan-specific noise columns). Shared linear I/σ window 0–95.162. FSE baseline b10; EPI baseline b0. Source figure: docs/figures/physical_scanner_2026-10-12/revised_invivo_baseline.png.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In-vivo central slices: iA volume 9 b6000 +z, slice 4; iB volume 9 b6000 +z, slice 2; EPI invivoA volume 9 b6000 +z, slice 2. Each image is divided by σ = sqrt(mean(magnitude²)/2) from the established Oct 12 side-background ROI (rows 4:124 and scan-specific noise columns). Shared linear I/σ window 0–9.312. Source figure: docs/figures/physical_scanner_2026-10-12/revised_invivo_b6000.png.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Actual complex k-space, in vivo baseline: iA volume 0 b10 +x slice 4; iB volume 0 b10 +x slice 2; EPI invivoA volume 0 b0 +x slice 2. Each panel is shown on native index axes with aspect preserved, normalized independently as 20 log10(|k|/peak) and clipped to −50…0 dB. FSE grids are actual PE-reordered complex MRD data; EPI is vendor-processed complex _o.MRD. Peak-normalized amplitudes are not comparable. Source figure: docs/figures/physical_scanner_2026-10-12/revised_invivo_kspace_baseline.png.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Actual complex k-space, in vivo b6000 +z: iA volume 9 slice 4; iB volume 9 slice 2; EPI invivoA volume 9 slice 2. Each panel is shown on native index axes with aspect preserved, normalized independently as 20 log10(|k|/peak) and clipped to −50…0 dB. FSE grids are actual PE-reordered complex MRD data; EPI is vendor-processed complex _o.MRD. Peak-normalized amplitudes are not comparable. Source figure: docs/figures/physical_scanner_2026-10-12/revised_invivo_kspace_b6000.png.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Ex-vivo central slice 2: Lab EPI test0 volumes 0/1/2 are b0 +x, b1000 +y, b6000 +z. v1.83 FSE scan M volumes 0/1/3 are b10 +x, b1000 +x, b6000 +z; central slice 1. Baseline protocols differ (EPI b0; FSE b10); b1000 is not direction-matched. Images divided by σ = sqrt(mean(magnitude²)/2) using the established Oct 12 side-background ROI (rows 4:124 and scan-specific noise columns); shared I/σ windows by b are 0–133.899, 0–72.371, and 0–30.108. EPI noise may be correlated.</a:t>
            </a:r>
          </a:p>
          <a:p xmlns:a="http://schemas.openxmlformats.org/drawingml/2006/main">
            <a:r>
              <a:t>Source image tile set: docs/figures/physical_scanner_2026-10-12/revised_exvivo_epi_fse_*.png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In-vivo central slices: Lab EPI invivoA volumes 0/3/9 are b0 +x, b1000 +z, b6000 +z on slice 2. v1.83 FSE scan iA volumes 0/3/9 are b10 +x, b1000 +z, b6000 +z on slice 4. Baseline protocols differ (EPI b0; FSE b10). Images divided by σ = sqrt(mean(magnitude²)/2) using the established Oct 12 side-background ROI (rows 4:124 and scan-specific noise columns); shared I/σ windows by b are 0–95.162, 0–47.136, and 0–9.312. EPI directions are provisional.</a:t>
            </a:r>
          </a:p>
          <a:p xmlns:a="http://schemas.openxmlformats.org/drawingml/2006/main">
            <a:r>
              <a:t>Source image tile set: docs/figures/physical_scanner_2026-10-12/revised_invivo_epi_fse_*.png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Audited single-acquisition ROI mean SNR. FSE baseline b10 and EPI baseline b0. R values use corrected acquisition geometry (*). Source: docs/data/oct12_quant_audit.json and report.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Audited single-acquisition ROI mean SNR. FSE baseline b10 and EPI baseline b0. Source: docs/data/oct12_quant_audit.json and report.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Brain ROI. EPI native voxel convention uses 168 read samples; alternate EPI 128-grid estimate is 54.17. R uses corrected geometry. Source: docs/data/oct12_quant_audit.json.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PBS ROI from the same acquisitions as the ex-vivo brain comparison. EPI native voxel convention uses 168 read samples. R uses corrected geometry. Source: docs/data/oct12_quant_audit.json.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EPI native voxel convention uses 168 read samples. Alternate EPI 128-grid estimate is 54.80. Acquisition-specific normalized comparison. Source: docs/data/oct12_quant_audit.json.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Approved audited ADC means. FSE values use effective b; R values are geometry-scaled (*). EPI uses recorded nominal b and baseline b0. EPI test0 only acquired b1000 +y and b6000 +z; no b3000 or full directional shell, so the low estimate is a single-direction +y estimate and no high-interval mean exists. Near-noise-floor high-b PBS values are not reported. Direction-specific measurements and coverage are in docs/data/oct12_roi_results.json and docs/data/oct12_adc_quality.json.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Approved audited quality-masked 3-direction means. FSE values use effective b. EPI values use recorded nominal b. Baselines are FSE b10 and EPI b0, so baseline-to-1000 intervals have different baseline b-values. Direction-specific measurements and coverage are in docs/data/oct12_roi_results.json and docs/data/oct12_adc_quality.json.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Mean x/y/z slopes; endpoints ≥5σ retained. Gray marks censored voxels. FSE uses effective b. Coverage reflects retained voxels under QC and is not an uncertainty estimate. Source figure: docs/figures/physical_scanner_2026-10-12/slide_adc_exvivo_brain_low.png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Mean x/y/z slopes; endpoints ≥5σ retained. Gray marks censored voxels. FSE uses effective b. Coverage reflects retained voxels under QC and is not an uncertainty estimate. Source figure: docs/figures/physical_scanner_2026-10-12/slide_adc_exvivo_brain_high.png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Mean x/y/z slopes; endpoints ≥5σ retained. Gray marks censored voxels. High interval retained 0% in both scans. Coverage reflects retained voxels under QC and is not an uncertainty estimate. Source figure: docs/figures/physical_scanner_2026-10-12/slide_adc_exvivo_pbs.png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Mean x/y/z slopes; endpoints ≥5σ retained. Gray marks censored voxels. FSE uses effective b; EPI uses nominal b. Coverage reflects retained voxels under QC and is not an uncertainty estimate. Source figure: docs/figures/physical_scanner_2026-10-12/slide_adc_invivo_low.png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Mean x/y/z slopes; endpoints ≥5σ retained. Gray marks censored voxels. FSE uses effective b; EPI uses nominal b. Coverage reflects retained voxels under QC and is not an uncertainty estimate. Source figure: docs/figures/physical_scanner_2026-10-12/slide_adc_invivo_high.png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Scan N recorded 7 echoes / 119 views versus declared 9 / 153. R phase FOV is 31.1 mm versus 35 mm. This is an acquisition/layout limitation, not a recovered full navigator set. Source: docs/figures/physical_scanner_2026-10-12/nav_N_fixed_vs_M.png; report: docs/physical_scanner_experiments_2026-10-12.md.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 at +530 is closest among acquired candidates, with ±0.9° ramp and 5.7° / 8.7° alternate offset. It remains above the strict 5° criterion. +540 is an unacquired interpolated candidate. Source: docs/figures/physical_scanner_2026-10-12/phasecal_echo_phase_DEFG.png; report: docs/physical_scanner_experiments_2026-10-12.md.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A/B shift −0.05 read pixel and 0 PE, nominally −16 Hz; sign is uncalibrated. E and G retain large phase ramps. Source: docs/figures/physical_scanner_2026-10-12/phasecal_image_strips.png; report: docs/physical_scanner_experiments_2026-10-12.md.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Measured ETL comparison. Refer to report for acquisition-specific limitations. Source: docs/figures/physical_scanner_2026-10-12/etl16_vs_etl8.png; report: docs/physical_scanner_experiments_2026-10-12.md.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Measured spatial profile only; no 3D coil simulation or inferred universal depth effect. Source: docs/figures/physical_scanner_2026-10-12/ssmgot_lr.png; report: docs/physical_scanner_experiments_2026-10-12.md.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Simulation-only result. Do not interpret as measured B1 or scanner performance. Source: docs/figures/physical_scanner_2026-10-12/oct12_b1_targeted.png; report: docs/physical_scanner_experiments_2026-10-12.md.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Decision points from the approved report. Follow up by verifying navigator echo and view counts and confirming a phase mode against the strict acceptance criterion. B1 content in this deck is simulation-only and does not establish measured B1 performance. Source: docs/physical_scanner_experiments_2026-10-12.md.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5152a48d1e84c2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9fdaff2082d4ec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3ec5e70b80141c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460a32d19ef427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f660bc2dff8444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1812e03809642c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3D6E7A6-CD54-4D96-9E8B-DB2D5238EA5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14400" y="1943100"/>
            <a:ext cx="73152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6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6C0E30A6-6B38-4397-BB67-08E1BE9FB23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2828925"/>
            <a:ext cx="6400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1784105D-B825-4808-AB9C-944F6C9F19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14400" y="2143125"/>
            <a:ext cx="731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1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CDE8C6D-39AB-4421-8230-92B107BB66B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14350" y="400050"/>
            <a:ext cx="8115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B41C8113-332D-4322-A59A-641AF949BB4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14350" y="1428750"/>
            <a:ext cx="8115300" cy="320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1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/>
            </a:lvl1pPr>
            <a:lvl2pPr marL="400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/>
            </a:lvl2pPr>
            <a:lvl3pPr marL="628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/>
            </a:lvl3pPr>
            <a:lvl4pPr marL="857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/>
            </a:lvl4pPr>
            <a:lvl5pPr marL="10858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/>
            </a:lvl5pPr>
            <a:lvl6pPr marL="1314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/>
            </a:lvl6pPr>
            <a:lvl7pPr marL="1543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/>
            </a:lvl7pPr>
            <a:lvl8pPr marL="1771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/>
            </a:lvl8pPr>
            <a:lvl9pPr marL="2000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5F3411A-B4A2-4347-876B-AFAFC01E28E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14350" y="400050"/>
            <a:ext cx="8115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BF8305F-8917-4885-A092-534FA367F83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14350" y="1428750"/>
            <a:ext cx="3771900" cy="320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1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/>
            </a:lvl1pPr>
            <a:lvl2pPr marL="400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/>
            </a:lvl2pPr>
            <a:lvl3pPr marL="628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/>
            </a:lvl3pPr>
            <a:lvl4pPr marL="857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/>
            </a:lvl4pPr>
            <a:lvl5pPr marL="10858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/>
            </a:lvl5pPr>
            <a:lvl6pPr marL="1314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/>
            </a:lvl6pPr>
            <a:lvl7pPr marL="1543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/>
            </a:lvl7pPr>
            <a:lvl8pPr marL="1771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/>
            </a:lvl8pPr>
            <a:lvl9pPr marL="2000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4A88ABA0-952A-466C-B1AB-4CFD195BCA2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857750" y="1428750"/>
            <a:ext cx="3771900" cy="320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1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/>
            </a:lvl1pPr>
            <a:lvl2pPr marL="400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/>
            </a:lvl2pPr>
            <a:lvl3pPr marL="628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/>
            </a:lvl3pPr>
            <a:lvl4pPr marL="857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/>
            </a:lvl4pPr>
            <a:lvl5pPr marL="10858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/>
            </a:lvl5pPr>
            <a:lvl6pPr marL="1314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/>
            </a:lvl6pPr>
            <a:lvl7pPr marL="1543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/>
            </a:lvl7pPr>
            <a:lvl8pPr marL="1771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/>
            </a:lvl8pPr>
            <a:lvl9pPr marL="2000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BE8883C-9BC6-46A9-A61B-BA194B5D097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14350" y="400050"/>
            <a:ext cx="8115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7218158-007E-4B02-B6D4-D585963CBD6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14350" y="1428750"/>
            <a:ext cx="3771900" cy="320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1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/>
            </a:lvl1pPr>
            <a:lvl2pPr marL="400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/>
            </a:lvl2pPr>
            <a:lvl3pPr marL="628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/>
            </a:lvl3pPr>
            <a:lvl4pPr marL="857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/>
            </a:lvl4pPr>
            <a:lvl5pPr marL="10858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/>
            </a:lvl5pPr>
            <a:lvl6pPr marL="1314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/>
            </a:lvl6pPr>
            <a:lvl7pPr marL="1543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/>
            </a:lvl7pPr>
            <a:lvl8pPr marL="1771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/>
            </a:lvl8pPr>
            <a:lvl9pPr marL="2000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c4cccf1522846cd" /><Relationship Type="http://schemas.openxmlformats.org/officeDocument/2006/relationships/slideLayout" Target="/ppt/slideLayouts/slideLayout1.xml" Id="R9543746b3d8b4fdd" /><Relationship Type="http://schemas.openxmlformats.org/officeDocument/2006/relationships/slideLayout" Target="/ppt/slideLayouts/slideLayout2.xml" Id="R7229cae449b442c0" /><Relationship Type="http://schemas.openxmlformats.org/officeDocument/2006/relationships/slideLayout" Target="/ppt/slideLayouts/slideLayout3.xml" Id="R92d795406ad947b9" /><Relationship Type="http://schemas.openxmlformats.org/officeDocument/2006/relationships/slideLayout" Target="/ppt/slideLayouts/slideLayout4.xml" Id="R1852e9a854894ec1" /><Relationship Type="http://schemas.openxmlformats.org/officeDocument/2006/relationships/slideLayout" Target="/ppt/slideLayouts/slideLayout5.xml" Id="Re33de1278f234912" /><Relationship Type="http://schemas.openxmlformats.org/officeDocument/2006/relationships/slideLayout" Target="/ppt/slideLayouts/slideLayout6.xml" Id="R69246af43354406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543746b3d8b4fdd"/>
    <p:sldLayoutId xmlns:r="http://schemas.openxmlformats.org/officeDocument/2006/relationships" id="2147483650" r:id="R7229cae449b442c0"/>
    <p:sldLayoutId xmlns:r="http://schemas.openxmlformats.org/officeDocument/2006/relationships" id="2147483651" r:id="R92d795406ad947b9"/>
    <p:sldLayoutId xmlns:r="http://schemas.openxmlformats.org/officeDocument/2006/relationships" id="2147483652" r:id="R1852e9a854894ec1"/>
    <p:sldLayoutId xmlns:r="http://schemas.openxmlformats.org/officeDocument/2006/relationships" id="2147483653" r:id="Re33de1278f234912"/>
    <p:sldLayoutId xmlns:r="http://schemas.openxmlformats.org/officeDocument/2006/relationships" id="2147483654" r:id="R69246af43354406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e916ede107a44ec" /><Relationship Type="http://schemas.openxmlformats.org/officeDocument/2006/relationships/notesSlide" Target="/ppt/notesSlides/notesSlide1.xml" Id="Rb7e0263694ab42b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e39149ab2ff4c45" /><Relationship Type="http://schemas.openxmlformats.org/officeDocument/2006/relationships/notesSlide" Target="/ppt/notesSlides/notesSlide2.xml" Id="R9e93bd9432fc453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f16b002bf14412d" /><Relationship Type="http://schemas.openxmlformats.org/officeDocument/2006/relationships/image" Target="/ppt/media/image.png" Id="R622aa1ed263443ad" /><Relationship Type="http://schemas.openxmlformats.org/officeDocument/2006/relationships/notesSlide" Target="/ppt/notesSlides/notesSlide3.xml" Id="Rc523559e96e04b3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8d87e519dd74344" /><Relationship Type="http://schemas.openxmlformats.org/officeDocument/2006/relationships/image" Target="/ppt/media/image2.png" Id="Re702527869274ace" /><Relationship Type="http://schemas.openxmlformats.org/officeDocument/2006/relationships/notesSlide" Target="/ppt/notesSlides/notesSlide4.xml" Id="R9aa702e7a452499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ee8bca932514b0c" /><Relationship Type="http://schemas.openxmlformats.org/officeDocument/2006/relationships/image" Target="/ppt/media/image3.png" Id="Rf03e986fdfab47df" /><Relationship Type="http://schemas.openxmlformats.org/officeDocument/2006/relationships/notesSlide" Target="/ppt/notesSlides/notesSlide5.xml" Id="R3203fe51d28c4da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62b885ca3414d64" /><Relationship Type="http://schemas.openxmlformats.org/officeDocument/2006/relationships/image" Target="/ppt/media/image4.png" Id="Re28530a47ec74869" /><Relationship Type="http://schemas.openxmlformats.org/officeDocument/2006/relationships/notesSlide" Target="/ppt/notesSlides/notesSlide6.xml" Id="R12f6978a0eb54c3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8f5e0395756486c" /><Relationship Type="http://schemas.openxmlformats.org/officeDocument/2006/relationships/image" Target="/ppt/media/image5.png" Id="Rf4a9667433b84863" /><Relationship Type="http://schemas.openxmlformats.org/officeDocument/2006/relationships/notesSlide" Target="/ppt/notesSlides/notesSlide7.xml" Id="Rfe95762974d24e6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aac96439da64e04" /><Relationship Type="http://schemas.openxmlformats.org/officeDocument/2006/relationships/image" Target="/ppt/media/image6.png" Id="Rcc4c3841388646b6" /><Relationship Type="http://schemas.openxmlformats.org/officeDocument/2006/relationships/notesSlide" Target="/ppt/notesSlides/notesSlide8.xml" Id="Ra5c6ad6585eb43d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6fe63216ebc4d88" /><Relationship Type="http://schemas.openxmlformats.org/officeDocument/2006/relationships/image" Target="/ppt/media/image7.png" Id="R5c6d6ecb2dfa4099" /><Relationship Type="http://schemas.openxmlformats.org/officeDocument/2006/relationships/notesSlide" Target="/ppt/notesSlides/notesSlide9.xml" Id="R22d8909d80d3487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c5dcbd35ae74c29" /><Relationship Type="http://schemas.openxmlformats.org/officeDocument/2006/relationships/image" Target="/ppt/media/image8.png" Id="Re70a935bddeb4aec" /><Relationship Type="http://schemas.openxmlformats.org/officeDocument/2006/relationships/notesSlide" Target="/ppt/notesSlides/notesSlide10.xml" Id="R7aa5d5c9d8a2482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93a4a1f66d74fcc" /><Relationship Type="http://schemas.openxmlformats.org/officeDocument/2006/relationships/image" Target="/ppt/media/image9.png" Id="R377f6756b2a74bf2" /><Relationship Type="http://schemas.openxmlformats.org/officeDocument/2006/relationships/image" Target="/ppt/media/image10.png" Id="R94c56854d2634edb" /><Relationship Type="http://schemas.openxmlformats.org/officeDocument/2006/relationships/image" Target="/ppt/media/image11.png" Id="R9382071d180343ae" /><Relationship Type="http://schemas.openxmlformats.org/officeDocument/2006/relationships/image" Target="/ppt/media/image12.png" Id="Rd3132e3f976b4dbf" /><Relationship Type="http://schemas.openxmlformats.org/officeDocument/2006/relationships/image" Target="/ppt/media/image13.png" Id="R61b9f0036da942f5" /><Relationship Type="http://schemas.openxmlformats.org/officeDocument/2006/relationships/image" Target="/ppt/media/image14.png" Id="Rb5c44ab19a00484e" /><Relationship Type="http://schemas.openxmlformats.org/officeDocument/2006/relationships/notesSlide" Target="/ppt/notesSlides/notesSlide11.xml" Id="R0d7974a9c687408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9e7ee3ca2404bad" /><Relationship Type="http://schemas.openxmlformats.org/officeDocument/2006/relationships/image" Target="/ppt/media/image15.png" Id="Rcea4d9567e0c469a" /><Relationship Type="http://schemas.openxmlformats.org/officeDocument/2006/relationships/image" Target="/ppt/media/image16.png" Id="R8fc56cb64710437c" /><Relationship Type="http://schemas.openxmlformats.org/officeDocument/2006/relationships/image" Target="/ppt/media/image17.png" Id="R6f1218c52dfb4fc8" /><Relationship Type="http://schemas.openxmlformats.org/officeDocument/2006/relationships/image" Target="/ppt/media/image18.png" Id="Rd0643a52deaa4893" /><Relationship Type="http://schemas.openxmlformats.org/officeDocument/2006/relationships/image" Target="/ppt/media/image19.png" Id="R9853f4abaf7d4f75" /><Relationship Type="http://schemas.openxmlformats.org/officeDocument/2006/relationships/image" Target="/ppt/media/image20.png" Id="R38758ae6af5d457c" /><Relationship Type="http://schemas.openxmlformats.org/officeDocument/2006/relationships/notesSlide" Target="/ppt/notesSlides/notesSlide12.xml" Id="R9a9ca76de61c48c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834786de15b498c" /><Relationship Type="http://schemas.openxmlformats.org/officeDocument/2006/relationships/chart" Target="/ppt/slides/charts/chart1.xml" Id="R0ea4eb367f41458c" /><Relationship Type="http://schemas.openxmlformats.org/officeDocument/2006/relationships/notesSlide" Target="/ppt/notesSlides/notesSlide13.xml" Id="R27b3363cae8f4de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5e302112b7a456b" /><Relationship Type="http://schemas.openxmlformats.org/officeDocument/2006/relationships/chart" Target="/ppt/slides/charts/chart2.xml" Id="R1160d8de2130484a" /><Relationship Type="http://schemas.openxmlformats.org/officeDocument/2006/relationships/notesSlide" Target="/ppt/notesSlides/notesSlide14.xml" Id="Raff1959ef1e449f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c193f068add4dba" /><Relationship Type="http://schemas.openxmlformats.org/officeDocument/2006/relationships/chart" Target="/ppt/slides/charts/chart3.xml" Id="R0ffd4dcf1049456b" /><Relationship Type="http://schemas.openxmlformats.org/officeDocument/2006/relationships/notesSlide" Target="/ppt/notesSlides/notesSlide15.xml" Id="R3985d1561ea04e5a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fcbfc2022d44a5f" /><Relationship Type="http://schemas.openxmlformats.org/officeDocument/2006/relationships/chart" Target="/ppt/slides/charts/chart4.xml" Id="R31f2be97a45e42df" /><Relationship Type="http://schemas.openxmlformats.org/officeDocument/2006/relationships/notesSlide" Target="/ppt/notesSlides/notesSlide16.xml" Id="R71eaa7d4af0d4182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94ef73e5cda45cb" /><Relationship Type="http://schemas.openxmlformats.org/officeDocument/2006/relationships/chart" Target="/ppt/slides/charts/chart5.xml" Id="Rb8967d52aa444e31" /><Relationship Type="http://schemas.openxmlformats.org/officeDocument/2006/relationships/notesSlide" Target="/ppt/notesSlides/notesSlide17.xml" Id="R33bd3c0eed5343f6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10b74c6a25449e3" /><Relationship Type="http://schemas.openxmlformats.org/officeDocument/2006/relationships/notesSlide" Target="/ppt/notesSlides/notesSlide18.xml" Id="Rb3a6e5639de3480d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ed6a3a68c0742d4" /><Relationship Type="http://schemas.openxmlformats.org/officeDocument/2006/relationships/notesSlide" Target="/ppt/notesSlides/notesSlide19.xml" Id="Rdbedad005dfb44b2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2ec457ac89145f0" /><Relationship Type="http://schemas.openxmlformats.org/officeDocument/2006/relationships/image" Target="/ppt/media/image21.png" Id="Rbd8f947a5e354aef" /><Relationship Type="http://schemas.openxmlformats.org/officeDocument/2006/relationships/notesSlide" Target="/ppt/notesSlides/notesSlide20.xml" Id="R0dc1b4454cbd4f37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6425dfa7dd94cbe" /><Relationship Type="http://schemas.openxmlformats.org/officeDocument/2006/relationships/image" Target="/ppt/media/image22.png" Id="R22beffdf5df14ed0" /><Relationship Type="http://schemas.openxmlformats.org/officeDocument/2006/relationships/notesSlide" Target="/ppt/notesSlides/notesSlide21.xml" Id="R9caa120f57f44c79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1dca3d079124f31" /><Relationship Type="http://schemas.openxmlformats.org/officeDocument/2006/relationships/image" Target="/ppt/media/image23.png" Id="R3eac1e11360042ec" /><Relationship Type="http://schemas.openxmlformats.org/officeDocument/2006/relationships/notesSlide" Target="/ppt/notesSlides/notesSlide22.xml" Id="Rc6b3f1fbc4b243a1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2dcb6f4d7934ad3" /><Relationship Type="http://schemas.openxmlformats.org/officeDocument/2006/relationships/image" Target="/ppt/media/image24.png" Id="R72d4833ff8c3487a" /><Relationship Type="http://schemas.openxmlformats.org/officeDocument/2006/relationships/notesSlide" Target="/ppt/notesSlides/notesSlide23.xml" Id="Rb5bb0a994ead4b1e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d57c33e9178426e" /><Relationship Type="http://schemas.openxmlformats.org/officeDocument/2006/relationships/image" Target="/ppt/media/image25.png" Id="R53f6f5b18a494cb3" /><Relationship Type="http://schemas.openxmlformats.org/officeDocument/2006/relationships/notesSlide" Target="/ppt/notesSlides/notesSlide24.xml" Id="Rbf1fcab03ff54f45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a69bed96cae4cdf" /><Relationship Type="http://schemas.openxmlformats.org/officeDocument/2006/relationships/image" Target="/ppt/media/image26.png" Id="Rd1867e11acec4363" /><Relationship Type="http://schemas.openxmlformats.org/officeDocument/2006/relationships/notesSlide" Target="/ppt/notesSlides/notesSlide25.xml" Id="R280b10c8a09c42c1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43c41d2e43240a4" /><Relationship Type="http://schemas.openxmlformats.org/officeDocument/2006/relationships/image" Target="/ppt/media/image27.png" Id="R43fceacc3e754b56" /><Relationship Type="http://schemas.openxmlformats.org/officeDocument/2006/relationships/notesSlide" Target="/ppt/notesSlides/notesSlide26.xml" Id="R801729c95fce4820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ce1114c81f543b3" /><Relationship Type="http://schemas.openxmlformats.org/officeDocument/2006/relationships/image" Target="/ppt/media/image28.png" Id="R01cff6b73f394e92" /><Relationship Type="http://schemas.openxmlformats.org/officeDocument/2006/relationships/notesSlide" Target="/ppt/notesSlides/notesSlide27.xml" Id="R59f67e00d01e4527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57c6942d15c4bbd" /><Relationship Type="http://schemas.openxmlformats.org/officeDocument/2006/relationships/image" Target="/ppt/media/image29.png" Id="Rdcc1ff8a12cb4697" /><Relationship Type="http://schemas.openxmlformats.org/officeDocument/2006/relationships/notesSlide" Target="/ppt/notesSlides/notesSlide28.xml" Id="R1ff15c9b456a4b42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686835e3a4248e0" /><Relationship Type="http://schemas.openxmlformats.org/officeDocument/2006/relationships/image" Target="/ppt/media/image30.png" Id="Re88721091a804217" /><Relationship Type="http://schemas.openxmlformats.org/officeDocument/2006/relationships/notesSlide" Target="/ppt/notesSlides/notesSlide29.xml" Id="R78320bd2314249be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d7e7d2ef9584fb7" /><Relationship Type="http://schemas.openxmlformats.org/officeDocument/2006/relationships/image" Target="/ppt/media/image31.png" Id="Rc5ce9562561044d5" /><Relationship Type="http://schemas.openxmlformats.org/officeDocument/2006/relationships/notesSlide" Target="/ppt/notesSlides/notesSlide30.xml" Id="R80480be5de5343e0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d09b1993bb14d67" /><Relationship Type="http://schemas.openxmlformats.org/officeDocument/2006/relationships/notesSlide" Target="/ppt/notesSlides/notesSlide31.xml" Id="Re76f948afec84639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ROI mean SNR</c:v>
          </c:tx>
          <c:spPr>
            <a:solidFill xmlns:a="http://schemas.openxmlformats.org/drawingml/2006/main">
              <a:srgbClr val="4169A1"/>
            </a:solidFill>
          </c:spPr>
          <c:invertIfNegative val="0"/>
          <c:cat>
            <c:strLit>
              <c:ptCount val="6"/>
              <c:pt idx="0">
                <c:v>PBS · Q</c:v>
              </c:pt>
              <c:pt idx="1">
                <c:v>PBS · R*</c:v>
              </c:pt>
              <c:pt idx="2">
                <c:v>PBS · EPI</c:v>
              </c:pt>
              <c:pt idx="3">
                <c:v>Brain · Q</c:v>
              </c:pt>
              <c:pt idx="4">
                <c:v>Brain · R*</c:v>
              </c:pt>
              <c:pt idx="5">
                <c:v>Brain · EPI</c:v>
              </c:pt>
            </c:strLit>
          </c:cat>
          <c:val>
            <c:numLit>
              <c:formatCode>General</c:formatCode>
              <c:ptCount val="6"/>
              <c:pt idx="0">
                <c:v>117.6</c:v>
              </c:pt>
              <c:pt idx="1">
                <c:v>37.59</c:v>
              </c:pt>
              <c:pt idx="2">
                <c:v>111.33</c:v>
              </c:pt>
              <c:pt idx="3">
                <c:v>62.43</c:v>
              </c:pt>
              <c:pt idx="4">
                <c:v>17.02</c:v>
              </c:pt>
              <c:pt idx="5">
                <c:v>56.12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>
                  <a:solidFill>
                    <a:srgbClr val="111111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11111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DDDDD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B5B5B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ROI mean SNR</c:v>
          </c:tx>
          <c:spPr>
            <a:solidFill xmlns:a="http://schemas.openxmlformats.org/drawingml/2006/main">
              <a:srgbClr val="4169A1"/>
            </a:solidFill>
          </c:spPr>
          <c:invertIfNegative val="0"/>
          <c:cat>
            <c:strLit>
              <c:ptCount val="3"/>
              <c:pt idx="0">
                <c:v>iA · v1.83</c:v>
              </c:pt>
              <c:pt idx="1">
                <c:v>iB · v1.912</c:v>
              </c:pt>
              <c:pt idx="2">
                <c:v>EPI · invivoA</c:v>
              </c:pt>
            </c:strLit>
          </c:cat>
          <c:val>
            <c:numLit>
              <c:formatCode>General</c:formatCode>
              <c:ptCount val="3"/>
              <c:pt idx="0">
                <c:v>46.8</c:v>
              </c:pt>
              <c:pt idx="1">
                <c:v>11.88</c:v>
              </c:pt>
              <c:pt idx="2">
                <c:v>56.78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>
                  <a:solidFill>
                    <a:srgbClr val="111111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11111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DDDDD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B5B5B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</c:chartSpace>
</file>

<file path=ppt/slides/charts/chart3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SNR / √s / µL</c:v>
          </c:tx>
          <c:spPr>
            <a:solidFill xmlns:a="http://schemas.openxmlformats.org/drawingml/2006/main">
              <a:srgbClr val="4169A1"/>
            </a:solidFill>
          </c:spPr>
          <c:invertIfNegative val="0"/>
          <c:cat>
            <c:strLit>
              <c:ptCount val="3"/>
              <c:pt idx="0">
                <c:v>v1.83 · Q</c:v>
              </c:pt>
              <c:pt idx="1">
                <c:v>v1.912 · R*</c:v>
              </c:pt>
              <c:pt idx="2">
                <c:v>EPI · test0</c:v>
              </c:pt>
            </c:strLit>
          </c:cat>
          <c:val>
            <c:numLit>
              <c:formatCode>General</c:formatCode>
              <c:ptCount val="3"/>
              <c:pt idx="0">
                <c:v>143.21</c:v>
              </c:pt>
              <c:pt idx="1">
                <c:v>43.91</c:v>
              </c:pt>
              <c:pt idx="2">
                <c:v>71.1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>
                  <a:solidFill>
                    <a:srgbClr val="111111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11111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DDDDD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B5B5B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</c:chartSpace>
</file>

<file path=ppt/slides/charts/chart4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SNR / √s / µL</c:v>
          </c:tx>
          <c:spPr>
            <a:solidFill xmlns:a="http://schemas.openxmlformats.org/drawingml/2006/main">
              <a:srgbClr val="4169A1"/>
            </a:solidFill>
          </c:spPr>
          <c:invertIfNegative val="0"/>
          <c:cat>
            <c:strLit>
              <c:ptCount val="3"/>
              <c:pt idx="0">
                <c:v>v1.83 · Q</c:v>
              </c:pt>
              <c:pt idx="1">
                <c:v>v1.912 · R*</c:v>
              </c:pt>
              <c:pt idx="2">
                <c:v>EPI · test0</c:v>
              </c:pt>
            </c:strLit>
          </c:cat>
          <c:val>
            <c:numLit>
              <c:formatCode>General</c:formatCode>
              <c:ptCount val="3"/>
              <c:pt idx="0">
                <c:v>269.75</c:v>
              </c:pt>
              <c:pt idx="1">
                <c:v>97</c:v>
              </c:pt>
              <c:pt idx="2">
                <c:v>141.04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>
                  <a:solidFill>
                    <a:srgbClr val="111111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11111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DDDDD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B5B5B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</c:chartSpace>
</file>

<file path=ppt/slides/charts/chart5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SNR / √s / µL</c:v>
          </c:tx>
          <c:spPr>
            <a:solidFill xmlns:a="http://schemas.openxmlformats.org/drawingml/2006/main">
              <a:srgbClr val="4169A1"/>
            </a:solidFill>
          </c:spPr>
          <c:invertIfNegative val="0"/>
          <c:cat>
            <c:strLit>
              <c:ptCount val="3"/>
              <c:pt idx="0">
                <c:v>Brain · iA</c:v>
              </c:pt>
              <c:pt idx="1">
                <c:v>Brain · iB</c:v>
              </c:pt>
              <c:pt idx="2">
                <c:v>Brain · EPI</c:v>
              </c:pt>
            </c:strLit>
          </c:cat>
          <c:val>
            <c:numLit>
              <c:formatCode>General</c:formatCode>
              <c:ptCount val="3"/>
              <c:pt idx="0">
                <c:v>107.35</c:v>
              </c:pt>
              <c:pt idx="1">
                <c:v>27.24</c:v>
              </c:pt>
              <c:pt idx="2">
                <c:v>71.93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>
                  <a:solidFill>
                    <a:srgbClr val="111111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11111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DDDDD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B5B5B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CC98C2-C21F-4825-9096-2A8FD0117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8229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850" b="1">
                <a:solidFill>
                  <a:srgbClr val="111111"/>
                </a:solidFill>
              </a:defRPr>
            </a:defPPr>
          </a:lstStyle>
          <a:p xmlns:a="http://schemas.openxmlformats.org/drawingml/2006/main">
            <a:pPr algn="l">
              <a:buNone/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Physical scanner DWI-FSE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95A2BA-AD52-44B8-9F99-5AE40304A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66950"/>
            <a:ext cx="822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0">
                <a:solidFill>
                  <a:srgbClr val="5B5B5B"/>
                </a:solidFill>
              </a:defRPr>
            </a:defPPr>
          </a:lstStyle>
          <a:p xmlns:a="http://schemas.openxmlformats.org/drawingml/2006/main">
            <a:pPr algn="l">
              <a:buNone/>
              <a:defRPr sz="1725" b="0">
                <a:solidFill>
                  <a:srgbClr val="5B5B5B"/>
                </a:solidFill>
              </a:defRPr>
            </a:pPr>
            <a:r>
              <a:rPr sz="1725" b="0">
                <a:solidFill>
                  <a:srgbClr val="5B5B5B"/>
                </a:solidFill>
              </a:rPr>
              <a:t>12 October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3F06DB-5AF8-49A5-9A07-B06E0662B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05100"/>
            <a:ext cx="822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0">
                <a:solidFill>
                  <a:srgbClr val="5B5B5B"/>
                </a:solidFill>
              </a:defRPr>
            </a:defPPr>
          </a:lstStyle>
          <a:p xmlns:a="http://schemas.openxmlformats.org/drawingml/2006/main">
            <a:pPr algn="l">
              <a:buNone/>
              <a:defRPr sz="1425" b="0">
                <a:solidFill>
                  <a:srgbClr val="5B5B5B"/>
                </a:solidFill>
              </a:defRPr>
            </a:pPr>
            <a:r>
              <a:rPr sz="1425" b="0">
                <a:solidFill>
                  <a:srgbClr val="5B5B5B"/>
                </a:solidFill>
              </a:rPr>
              <a:t>Ex-vivo and in-vivo sequence comparison</a:t>
            </a:r>
          </a:p>
        </p:txBody>
      </p:sp>
    </p:spTree>
    <p:extLst>
      <p:ext uri="{BB962C8B-B14F-4D97-AF65-F5344CB8AC3E}">
        <p14:creationId xmlns:p14="http://schemas.microsoft.com/office/powerpoint/2010/main" val="144214004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35C769-EED0-4890-9136-C8A3AF06D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822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1">
                <a:solidFill>
                  <a:srgbClr val="111111"/>
                </a:solidFill>
              </a:defRPr>
            </a:defPPr>
          </a:lstStyle>
          <a:p xmlns:a="http://schemas.openxmlformats.org/drawingml/2006/main">
            <a:pPr algn="l">
              <a:buNone/>
              <a:defRPr sz="2025" b="1">
                <a:solidFill>
                  <a:srgbClr val="111111"/>
                </a:solidFill>
              </a:defRPr>
            </a:pPr>
            <a:r>
              <a:rPr sz="2025" b="1">
                <a:solidFill>
                  <a:srgbClr val="111111"/>
                </a:solidFill>
              </a:rPr>
              <a:t>Acquisition protocols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4A07E3-CFEF-4478-9EAF-C1E78FD6B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822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5B5B5B"/>
                </a:solidFill>
              </a:defRPr>
            </a:defPPr>
          </a:lstStyle>
          <a:p xmlns:a="http://schemas.openxmlformats.org/drawingml/2006/main">
            <a:pPr algn="l">
              <a:buNone/>
              <a:defRPr sz="1125" b="0">
                <a:solidFill>
                  <a:srgbClr val="5B5B5B"/>
                </a:solidFill>
              </a:defRPr>
            </a:pPr>
            <a:r>
              <a:rPr sz="1125" b="0">
                <a:solidFill>
                  <a:srgbClr val="5B5B5B"/>
                </a:solidFill>
              </a:rPr>
              <a:t>Three acquisitions per comparison set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1E5310-18D9-4EF2-88BE-8C5D776BE3A8}"/>
              </a:ext>
            </a:extLst>
          </p:cNvPr>
          <p:cNvGraphicFramePr/>
          <p:nvPr/>
        </p:nvGraphicFramePr>
        <p:xfrm>
          <a:off xmlns:a="http://schemas.openxmlformats.org/drawingml/2006/main" x="457200" y="1028700"/>
          <a:ext xmlns:a="http://schemas.openxmlformats.org/drawingml/2006/main" cx="8229600" cy="3524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57400"/>
                <a:gridCol w="2057400"/>
                <a:gridCol w="2057400"/>
                <a:gridCol w="2057400"/>
              </a:tblGrid>
              <a:tr h="440531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11111"/>
                          </a:solidFill>
                        </a:rPr>
                        <a:t/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4D4D4"/>
                      </a:solidFill>
                      <a:prstDash val="solid"/>
                    </a:lnL>
                    <a:lnR w="5715">
                      <a:solidFill>
                        <a:srgbClr val="D4D4D4"/>
                      </a:solidFill>
                      <a:prstDash val="solid"/>
                    </a:lnR>
                    <a:lnT w="5715">
                      <a:solidFill>
                        <a:srgbClr val="D4D4D4"/>
                      </a:solidFill>
                      <a:prstDash val="solid"/>
                    </a:lnT>
                    <a:lnB w="5715">
                      <a:solidFill>
                        <a:srgbClr val="D4D4D4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</a:rPr>
                        <a:t>v1.83 FSE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4D4D4"/>
                      </a:solidFill>
                      <a:prstDash val="solid"/>
                    </a:lnR>
                    <a:lnT w="5715">
                      <a:solidFill>
                        <a:srgbClr val="D4D4D4"/>
                      </a:solidFill>
                      <a:prstDash val="solid"/>
                    </a:lnT>
                    <a:lnB w="5715">
                      <a:solidFill>
                        <a:srgbClr val="D4D4D4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</a:rPr>
                        <a:t>v1.912 ss-MGOT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4D4D4"/>
                      </a:solidFill>
                      <a:prstDash val="solid"/>
                    </a:lnR>
                    <a:lnT w="5715">
                      <a:solidFill>
                        <a:srgbClr val="D4D4D4"/>
                      </a:solidFill>
                      <a:prstDash val="solid"/>
                    </a:lnT>
                    <a:lnB w="5715">
                      <a:solidFill>
                        <a:srgbClr val="D4D4D4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</a:rPr>
                        <a:t>Lab EPI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4D4D4"/>
                      </a:solidFill>
                      <a:prstDash val="solid"/>
                    </a:lnR>
                    <a:lnT w="5715">
                      <a:solidFill>
                        <a:srgbClr val="D4D4D4"/>
                      </a:solidFill>
                      <a:prstDash val="solid"/>
                    </a:lnT>
                    <a:lnB w="5715">
                      <a:solidFill>
                        <a:srgbClr val="D4D4D4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</a:tr>
              <a:tr h="44053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75" b="0">
                          <a:solidFill>
                            <a:srgbClr val="222222"/>
                          </a:solidFill>
                        </a:rPr>
                        <a:t>Ex / in vivo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4D4D4"/>
                      </a:solidFill>
                      <a:prstDash val="solid"/>
                    </a:lnL>
                    <a:lnR w="5715">
                      <a:solidFill>
                        <a:srgbClr val="D4D4D4"/>
                      </a:solidFill>
                      <a:prstDash val="solid"/>
                    </a:lnR>
                    <a:lnB w="5715">
                      <a:solidFill>
                        <a:srgbClr val="D4D4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222222"/>
                          </a:solidFill>
                        </a:rPr>
                        <a:t>Q / iA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4D4D4"/>
                      </a:solidFill>
                      <a:prstDash val="solid"/>
                    </a:lnR>
                    <a:lnB w="5715">
                      <a:solidFill>
                        <a:srgbClr val="D4D4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222222"/>
                          </a:solidFill>
                        </a:rPr>
                        <a:t>R / iB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4D4D4"/>
                      </a:solidFill>
                      <a:prstDash val="solid"/>
                    </a:lnR>
                    <a:lnB w="5715">
                      <a:solidFill>
                        <a:srgbClr val="D4D4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222222"/>
                          </a:solidFill>
                        </a:rPr>
                        <a:t>test0 / invivoA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4D4D4"/>
                      </a:solidFill>
                      <a:prstDash val="solid"/>
                    </a:lnR>
                    <a:lnB w="5715">
                      <a:solidFill>
                        <a:srgbClr val="D4D4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4053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75" b="0">
                          <a:solidFill>
                            <a:srgbClr val="222222"/>
                          </a:solidFill>
                        </a:rPr>
                        <a:t>Baseline b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4D4D4"/>
                      </a:solidFill>
                      <a:prstDash val="solid"/>
                    </a:lnL>
                    <a:lnR w="5715">
                      <a:solidFill>
                        <a:srgbClr val="D4D4D4"/>
                      </a:solidFill>
                      <a:prstDash val="solid"/>
                    </a:lnR>
                    <a:lnB w="5715">
                      <a:solidFill>
                        <a:srgbClr val="D4D4D4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222222"/>
                          </a:solidFill>
                        </a:rPr>
                        <a:t>10 s/mm²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4D4D4"/>
                      </a:solidFill>
                      <a:prstDash val="solid"/>
                    </a:lnR>
                    <a:lnB w="5715">
                      <a:solidFill>
                        <a:srgbClr val="D4D4D4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222222"/>
                          </a:solidFill>
                        </a:rPr>
                        <a:t>10 s/mm²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4D4D4"/>
                      </a:solidFill>
                      <a:prstDash val="solid"/>
                    </a:lnR>
                    <a:lnB w="5715">
                      <a:solidFill>
                        <a:srgbClr val="D4D4D4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222222"/>
                          </a:solidFill>
                        </a:rPr>
                        <a:t>0 s/mm²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4D4D4"/>
                      </a:solidFill>
                      <a:prstDash val="solid"/>
                    </a:lnR>
                    <a:lnB w="5715">
                      <a:solidFill>
                        <a:srgbClr val="D4D4D4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</a:tr>
              <a:tr h="44053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75" b="0">
                          <a:solidFill>
                            <a:srgbClr val="222222"/>
                          </a:solidFill>
                        </a:rPr>
                        <a:t>TR / TE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4D4D4"/>
                      </a:solidFill>
                      <a:prstDash val="solid"/>
                    </a:lnL>
                    <a:lnR w="5715">
                      <a:solidFill>
                        <a:srgbClr val="D4D4D4"/>
                      </a:solidFill>
                      <a:prstDash val="solid"/>
                    </a:lnR>
                    <a:lnB w="5715">
                      <a:solidFill>
                        <a:srgbClr val="D4D4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222222"/>
                          </a:solidFill>
                        </a:rPr>
                        <a:t>2 s / 44 ms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4D4D4"/>
                      </a:solidFill>
                      <a:prstDash val="solid"/>
                    </a:lnR>
                    <a:lnB w="5715">
                      <a:solidFill>
                        <a:srgbClr val="D4D4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222222"/>
                          </a:solidFill>
                        </a:rPr>
                        <a:t>2 s / 44 ms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4D4D4"/>
                      </a:solidFill>
                      <a:prstDash val="solid"/>
                    </a:lnR>
                    <a:lnB w="5715">
                      <a:solidFill>
                        <a:srgbClr val="D4D4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222222"/>
                          </a:solidFill>
                        </a:rPr>
                        <a:t>3 s / 42 ms ex; 44 ms in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4D4D4"/>
                      </a:solidFill>
                      <a:prstDash val="solid"/>
                    </a:lnR>
                    <a:lnB w="5715">
                      <a:solidFill>
                        <a:srgbClr val="D4D4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4053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75" b="0">
                          <a:solidFill>
                            <a:srgbClr val="222222"/>
                          </a:solidFill>
                        </a:rPr>
                        <a:t>Slice thickness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4D4D4"/>
                      </a:solidFill>
                      <a:prstDash val="solid"/>
                    </a:lnL>
                    <a:lnR w="5715">
                      <a:solidFill>
                        <a:srgbClr val="D4D4D4"/>
                      </a:solidFill>
                      <a:prstDash val="solid"/>
                    </a:lnR>
                    <a:lnB w="5715">
                      <a:solidFill>
                        <a:srgbClr val="D4D4D4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222222"/>
                          </a:solidFill>
                        </a:rPr>
                        <a:t>1 mm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4D4D4"/>
                      </a:solidFill>
                      <a:prstDash val="solid"/>
                    </a:lnR>
                    <a:lnB w="5715">
                      <a:solidFill>
                        <a:srgbClr val="D4D4D4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222222"/>
                          </a:solidFill>
                        </a:rPr>
                        <a:t>1 mm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4D4D4"/>
                      </a:solidFill>
                      <a:prstDash val="solid"/>
                    </a:lnR>
                    <a:lnB w="5715">
                      <a:solidFill>
                        <a:srgbClr val="D4D4D4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222222"/>
                          </a:solidFill>
                        </a:rPr>
                        <a:t>2 mm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4D4D4"/>
                      </a:solidFill>
                      <a:prstDash val="solid"/>
                    </a:lnR>
                    <a:lnB w="5715">
                      <a:solidFill>
                        <a:srgbClr val="D4D4D4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</a:tr>
              <a:tr h="44053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75" b="0">
                          <a:solidFill>
                            <a:srgbClr val="222222"/>
                          </a:solidFill>
                        </a:rPr>
                        <a:t>Sampling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4D4D4"/>
                      </a:solidFill>
                      <a:prstDash val="solid"/>
                    </a:lnL>
                    <a:lnR w="5715">
                      <a:solidFill>
                        <a:srgbClr val="D4D4D4"/>
                      </a:solidFill>
                      <a:prstDash val="solid"/>
                    </a:lnR>
                    <a:lnB w="5715">
                      <a:solidFill>
                        <a:srgbClr val="D4D4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222222"/>
                          </a:solidFill>
                        </a:rPr>
                        <a:t>128 PE lines; 16 shots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4D4D4"/>
                      </a:solidFill>
                      <a:prstDash val="solid"/>
                    </a:lnR>
                    <a:lnB w="5715">
                      <a:solidFill>
                        <a:srgbClr val="D4D4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222222"/>
                          </a:solidFill>
                        </a:rPr>
                        <a:t>128 PE lines; 16 shots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4D4D4"/>
                      </a:solidFill>
                      <a:prstDash val="solid"/>
                    </a:lnR>
                    <a:lnB w="5715">
                      <a:solidFill>
                        <a:srgbClr val="D4D4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222222"/>
                          </a:solidFill>
                        </a:rPr>
                        <a:t>Interleaved; 168 read samples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4D4D4"/>
                      </a:solidFill>
                      <a:prstDash val="solid"/>
                    </a:lnR>
                    <a:lnB w="5715">
                      <a:solidFill>
                        <a:srgbClr val="D4D4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4053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75" b="0">
                          <a:solidFill>
                            <a:srgbClr val="222222"/>
                          </a:solidFill>
                        </a:rPr>
                        <a:t>Scan time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4D4D4"/>
                      </a:solidFill>
                      <a:prstDash val="solid"/>
                    </a:lnL>
                    <a:lnR w="5715">
                      <a:solidFill>
                        <a:srgbClr val="D4D4D4"/>
                      </a:solidFill>
                      <a:prstDash val="solid"/>
                    </a:lnR>
                    <a:lnB w="5715">
                      <a:solidFill>
                        <a:srgbClr val="D4D4D4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222222"/>
                          </a:solidFill>
                        </a:rPr>
                        <a:t>34 s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4D4D4"/>
                      </a:solidFill>
                      <a:prstDash val="solid"/>
                    </a:lnR>
                    <a:lnB w="5715">
                      <a:solidFill>
                        <a:srgbClr val="D4D4D4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222222"/>
                          </a:solidFill>
                        </a:rPr>
                        <a:t>34 s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4D4D4"/>
                      </a:solidFill>
                      <a:prstDash val="solid"/>
                    </a:lnR>
                    <a:lnB w="5715">
                      <a:solidFill>
                        <a:srgbClr val="D4D4D4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222222"/>
                          </a:solidFill>
                        </a:rPr>
                        <a:t>48 s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4D4D4"/>
                      </a:solidFill>
                      <a:prstDash val="solid"/>
                    </a:lnR>
                    <a:lnB w="5715">
                      <a:solidFill>
                        <a:srgbClr val="D4D4D4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</a:tr>
              <a:tr h="44053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75" b="0">
                          <a:solidFill>
                            <a:srgbClr val="222222"/>
                          </a:solidFill>
                        </a:rPr>
                        <a:t>Readout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4D4D4"/>
                      </a:solidFill>
                      <a:prstDash val="solid"/>
                    </a:lnL>
                    <a:lnR w="5715">
                      <a:solidFill>
                        <a:srgbClr val="D4D4D4"/>
                      </a:solidFill>
                      <a:prstDash val="solid"/>
                    </a:lnR>
                    <a:lnB w="5715">
                      <a:solidFill>
                        <a:srgbClr val="D4D4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222222"/>
                          </a:solidFill>
                        </a:rPr>
                        <a:t>40 kHz; 128 samples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4D4D4"/>
                      </a:solidFill>
                      <a:prstDash val="solid"/>
                    </a:lnR>
                    <a:lnB w="5715">
                      <a:solidFill>
                        <a:srgbClr val="D4D4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222222"/>
                          </a:solidFill>
                        </a:rPr>
                        <a:t>40 kHz; 128 samples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4D4D4"/>
                      </a:solidFill>
                      <a:prstDash val="solid"/>
                    </a:lnR>
                    <a:lnB w="5715">
                      <a:solidFill>
                        <a:srgbClr val="D4D4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222222"/>
                          </a:solidFill>
                        </a:rPr>
                        <a:t>200 kHz; vendor processed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4D4D4"/>
                      </a:solidFill>
                      <a:prstDash val="solid"/>
                    </a:lnR>
                    <a:lnB w="5715">
                      <a:solidFill>
                        <a:srgbClr val="D4D4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8079174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88A98C-1F7E-491A-B410-6326119EA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822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1">
                <a:solidFill>
                  <a:srgbClr val="111111"/>
                </a:solidFill>
              </a:defRPr>
            </a:defPPr>
          </a:lstStyle>
          <a:p xmlns:a="http://schemas.openxmlformats.org/drawingml/2006/main">
            <a:pPr algn="l">
              <a:buNone/>
              <a:defRPr sz="2025" b="1">
                <a:solidFill>
                  <a:srgbClr val="111111"/>
                </a:solidFill>
              </a:defRPr>
            </a:pPr>
            <a:r>
              <a:rPr sz="2025" b="1">
                <a:solidFill>
                  <a:srgbClr val="111111"/>
                </a:solidFill>
              </a:rPr>
              <a:t>Ex vivo | baseline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0A53CD-6BBD-4695-9676-4C9BB8079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822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5B5B5B"/>
                </a:solidFill>
              </a:defRPr>
            </a:defPPr>
          </a:lstStyle>
          <a:p xmlns:a="http://schemas.openxmlformats.org/drawingml/2006/main">
            <a:pPr algn="l">
              <a:buNone/>
              <a:defRPr sz="1125" b="0">
                <a:solidFill>
                  <a:srgbClr val="5B5B5B"/>
                </a:solidFill>
              </a:defRPr>
            </a:pPr>
            <a:r>
              <a:rPr sz="1125" b="0">
                <a:solidFill>
                  <a:srgbClr val="5B5B5B"/>
                </a:solidFill>
              </a:rPr>
              <a:t>FSE b10 · EPI b0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2FE4FB-DA1A-431C-B8B6-C4998E5D283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2aa1ed263443ad"/>
          <a:stretch xmlns:a="http://schemas.openxmlformats.org/drawingml/2006/main"/>
        </p:blipFill>
        <p:spPr>
          <a:xfrm xmlns:a="http://schemas.openxmlformats.org/drawingml/2006/main">
            <a:off x="457200" y="1350410"/>
            <a:ext cx="8229600" cy="3128481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935416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FF53F4-59AB-4C70-8B3E-934EBE4A6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822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Ex vivo | b6000 +z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7CF85A-01BE-4DFD-BB21-9B31FC858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822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>
                <a:solidFill>
                  <a:srgbClr val="5B5B5B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125">
                <a:solidFill>
                  <a:srgbClr val="5B5B5B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5B5B5B"/>
                </a:solidFill>
                <a:latin typeface="Aptos"/>
                <a:ea typeface="Aptos"/>
                <a:cs typeface="Aptos"/>
              </a:rPr>
              <a:t>M v1.83 · O v1.912 ss-MGOT · EPI test0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68DD4C-CF6A-4EA1-9E6C-748D5F792C5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02527869274ace"/>
          <a:stretch xmlns:a="http://schemas.openxmlformats.org/drawingml/2006/main"/>
        </p:blipFill>
        <p:spPr>
          <a:xfrm xmlns:a="http://schemas.openxmlformats.org/drawingml/2006/main">
            <a:off x="457200" y="1350410"/>
            <a:ext cx="8229600" cy="3128481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353068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B9D885-8A42-434F-8DA7-5DA97B6B9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822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Ex vivo | k-space baseline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A6BD81-F75D-4F71-9661-0AE0ED122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822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>
                <a:solidFill>
                  <a:srgbClr val="5B5B5B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125">
                <a:solidFill>
                  <a:srgbClr val="5B5B5B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5B5B5B"/>
                </a:solidFill>
                <a:latin typeface="Aptos"/>
                <a:ea typeface="Aptos"/>
                <a:cs typeface="Aptos"/>
              </a:rPr>
              <a:t>−50 to 0 dB · each panel normalized to its peak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4D7210-66A5-479E-8882-70AEBEE42AC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3e986fdfab47df"/>
          <a:stretch xmlns:a="http://schemas.openxmlformats.org/drawingml/2006/main"/>
        </p:blipFill>
        <p:spPr>
          <a:xfrm xmlns:a="http://schemas.openxmlformats.org/drawingml/2006/main">
            <a:off x="457200" y="1685727"/>
            <a:ext cx="8229600" cy="2457846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36272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7D31BA-F556-46FE-BD94-9FAC23AAE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822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Ex vivo | k-space b6000 +z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234EA3-EA9E-468A-B34C-45C05FE2C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822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>
                <a:solidFill>
                  <a:srgbClr val="5B5B5B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125">
                <a:solidFill>
                  <a:srgbClr val="5B5B5B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5B5B5B"/>
                </a:solidFill>
                <a:latin typeface="Aptos"/>
                <a:ea typeface="Aptos"/>
                <a:cs typeface="Aptos"/>
              </a:rPr>
              <a:t>−50 to 0 dB · each panel normalized to its peak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2ED45D-C488-4E46-9AC9-F2FA8DAD93D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8530a47ec74869"/>
          <a:stretch xmlns:a="http://schemas.openxmlformats.org/drawingml/2006/main"/>
        </p:blipFill>
        <p:spPr>
          <a:xfrm xmlns:a="http://schemas.openxmlformats.org/drawingml/2006/main">
            <a:off x="457200" y="1685727"/>
            <a:ext cx="8229600" cy="2457846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29190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61DC13-7CF6-444A-959F-33DF4CA90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822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1">
                <a:solidFill>
                  <a:srgbClr val="111111"/>
                </a:solidFill>
              </a:defRPr>
            </a:defPPr>
          </a:lstStyle>
          <a:p xmlns:a="http://schemas.openxmlformats.org/drawingml/2006/main">
            <a:pPr algn="l">
              <a:buNone/>
              <a:defRPr sz="2025" b="1">
                <a:solidFill>
                  <a:srgbClr val="111111"/>
                </a:solidFill>
              </a:defRPr>
            </a:pPr>
            <a:r>
              <a:rPr sz="2025" b="1">
                <a:solidFill>
                  <a:srgbClr val="111111"/>
                </a:solidFill>
              </a:rPr>
              <a:t>In vivo | baseline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7CE802-44AD-4BAD-80D1-3613C75C7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822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5B5B5B"/>
                </a:solidFill>
              </a:defRPr>
            </a:defPPr>
          </a:lstStyle>
          <a:p xmlns:a="http://schemas.openxmlformats.org/drawingml/2006/main">
            <a:pPr algn="l">
              <a:buNone/>
              <a:defRPr sz="1125" b="0">
                <a:solidFill>
                  <a:srgbClr val="5B5B5B"/>
                </a:solidFill>
              </a:defRPr>
            </a:pPr>
            <a:r>
              <a:rPr sz="1125" b="0">
                <a:solidFill>
                  <a:srgbClr val="5B5B5B"/>
                </a:solidFill>
              </a:rPr>
              <a:t>FSE b10 · EPI b0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ECB321-753F-4BBA-AF08-9C7BC78DBB3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a9667433b84863"/>
          <a:stretch xmlns:a="http://schemas.openxmlformats.org/drawingml/2006/main"/>
        </p:blipFill>
        <p:spPr>
          <a:xfrm xmlns:a="http://schemas.openxmlformats.org/drawingml/2006/main">
            <a:off x="457200" y="1350410"/>
            <a:ext cx="8229600" cy="3128481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682672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9939DC-8726-441D-973C-3B5FCEDEB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822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In vivo | b6000 +z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1CB2E0-DD82-47C8-A3B4-06E07E8DD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822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>
                <a:solidFill>
                  <a:srgbClr val="5B5B5B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125">
                <a:solidFill>
                  <a:srgbClr val="5B5B5B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5B5B5B"/>
                </a:solidFill>
                <a:latin typeface="Aptos"/>
                <a:ea typeface="Aptos"/>
                <a:cs typeface="Aptos"/>
              </a:rPr>
              <a:t>iA v1.83 · iB v1.912 ss-MGOT · EPI invivoA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3A843A-F344-4624-B964-209C569CFC5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4c3841388646b6"/>
          <a:stretch xmlns:a="http://schemas.openxmlformats.org/drawingml/2006/main"/>
        </p:blipFill>
        <p:spPr>
          <a:xfrm xmlns:a="http://schemas.openxmlformats.org/drawingml/2006/main">
            <a:off x="457200" y="1350410"/>
            <a:ext cx="8229600" cy="3128481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579431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AE9B78-C31B-443D-BC87-11390FF26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822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In vivo | k-space baseline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0E0B44-EED4-477D-87BB-E5FC6BA00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822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>
                <a:solidFill>
                  <a:srgbClr val="5B5B5B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125">
                <a:solidFill>
                  <a:srgbClr val="5B5B5B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5B5B5B"/>
                </a:solidFill>
                <a:latin typeface="Aptos"/>
                <a:ea typeface="Aptos"/>
                <a:cs typeface="Aptos"/>
              </a:rPr>
              <a:t>−50 to 0 dB · each panel normalized to its peak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9964A8-2481-489A-A804-6A89DC07AFF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6d6ecb2dfa4099"/>
          <a:stretch xmlns:a="http://schemas.openxmlformats.org/drawingml/2006/main"/>
        </p:blipFill>
        <p:spPr>
          <a:xfrm xmlns:a="http://schemas.openxmlformats.org/drawingml/2006/main">
            <a:off x="457200" y="1685727"/>
            <a:ext cx="8229600" cy="2457846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190547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6F4D75-5139-4F2D-BC3C-CAF19A120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822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In vivo | k-space b6000 +z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27B306-021D-46EC-84C3-4A56F5D8D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822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>
                <a:solidFill>
                  <a:srgbClr val="5B5B5B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125">
                <a:solidFill>
                  <a:srgbClr val="5B5B5B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5B5B5B"/>
                </a:solidFill>
                <a:latin typeface="Aptos"/>
                <a:ea typeface="Aptos"/>
                <a:cs typeface="Aptos"/>
              </a:rPr>
              <a:t>−50 to 0 dB · each panel normalized to its peak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C800D1-500D-41BE-BDA7-394D31B8548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0a935bddeb4aec"/>
          <a:stretch xmlns:a="http://schemas.openxmlformats.org/drawingml/2006/main"/>
        </p:blipFill>
        <p:spPr>
          <a:xfrm xmlns:a="http://schemas.openxmlformats.org/drawingml/2006/main">
            <a:off x="457200" y="1685727"/>
            <a:ext cx="8229600" cy="2457846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935539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32F808-106C-4F97-8176-722DBFE0A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822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1">
                <a:solidFill>
                  <a:srgbClr val="111111"/>
                </a:solidFill>
              </a:defRPr>
            </a:defPPr>
          </a:lstStyle>
          <a:p xmlns:a="http://schemas.openxmlformats.org/drawingml/2006/main">
            <a:pPr algn="l">
              <a:buNone/>
              <a:defRPr sz="2025" b="1">
                <a:solidFill>
                  <a:srgbClr val="111111"/>
                </a:solidFill>
              </a:defRPr>
            </a:pPr>
            <a:r>
              <a:rPr sz="2025" b="1">
                <a:solidFill>
                  <a:srgbClr val="111111"/>
                </a:solidFill>
              </a:rPr>
              <a:t>Ex-vivo: EPI and v1.83 FSE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330C01-38E3-4A9D-B614-43055F783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822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5B5B5B"/>
                </a:solidFill>
              </a:defRPr>
            </a:defPPr>
          </a:lstStyle>
          <a:p xmlns:a="http://schemas.openxmlformats.org/drawingml/2006/main">
            <a:pPr algn="l">
              <a:buNone/>
              <a:defRPr sz="1125" b="0">
                <a:solidFill>
                  <a:srgbClr val="5B5B5B"/>
                </a:solidFill>
              </a:defRPr>
            </a:pPr>
            <a:r>
              <a:rPr sz="1125" b="0">
                <a:solidFill>
                  <a:srgbClr val="5B5B5B"/>
                </a:solidFill>
              </a:rPr>
              <a:t>Baseline EPI b0 / FSE b10 · b1000 directions differ (+y / +x)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53CEAE-F402-4CD5-8213-1B96B4FAB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962025"/>
            <a:ext cx="2228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Baseline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D363DC-F920-4C6F-9E4B-58D10C6D9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962025"/>
            <a:ext cx="2228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b=1000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1AB880-3B01-4DFC-90F8-80DB897EE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962025"/>
            <a:ext cx="2228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b=6000 · +z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52961E-5385-47DD-9EB9-7737DA807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847850"/>
            <a:ext cx="76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Lab EPI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C5B0C2-965A-4A7D-B53F-D2EB954A4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3819525"/>
            <a:ext cx="76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v1.83 FSE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B55FA1-1C28-4A17-A0DB-456A2982FC9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7f6756b2a74bf2"/>
          <a:stretch xmlns:a="http://schemas.openxmlformats.org/drawingml/2006/main"/>
        </p:blipFill>
        <p:spPr>
          <a:xfrm xmlns:a="http://schemas.openxmlformats.org/drawingml/2006/main">
            <a:off x="1162050" y="1219200"/>
            <a:ext cx="2228850" cy="1857375"/>
          </a:xfrm>
          <a:prstGeom xmlns:a="http://schemas.openxmlformats.org/drawingml/2006/main" prst="rect">
            <a:avLst/>
          </a:prstGeom>
        </p:spPr>
      </p:pic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2AB2D6-27DC-4007-830A-8F406AC3DAD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c56854d2634edb"/>
          <a:stretch xmlns:a="http://schemas.openxmlformats.org/drawingml/2006/main"/>
        </p:blipFill>
        <p:spPr>
          <a:xfrm xmlns:a="http://schemas.openxmlformats.org/drawingml/2006/main">
            <a:off x="3657600" y="1219200"/>
            <a:ext cx="2228850" cy="1857375"/>
          </a:xfrm>
          <a:prstGeom xmlns:a="http://schemas.openxmlformats.org/drawingml/2006/main" prst="rect">
            <a:avLst/>
          </a:prstGeom>
        </p:spPr>
      </p:pic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DC7580-3E20-46B0-BBB7-3279F66B719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82071d180343ae"/>
          <a:stretch xmlns:a="http://schemas.openxmlformats.org/drawingml/2006/main"/>
        </p:blipFill>
        <p:spPr>
          <a:xfrm xmlns:a="http://schemas.openxmlformats.org/drawingml/2006/main">
            <a:off x="6153150" y="1219200"/>
            <a:ext cx="2228850" cy="1857375"/>
          </a:xfrm>
          <a:prstGeom xmlns:a="http://schemas.openxmlformats.org/drawingml/2006/main" prst="rect">
            <a:avLst/>
          </a:prstGeom>
        </p:spPr>
      </p:pic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F4DF2A-A020-4B14-AA7B-1933C1FB0E5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132e3f976b4dbf"/>
          <a:stretch xmlns:a="http://schemas.openxmlformats.org/drawingml/2006/main"/>
        </p:blipFill>
        <p:spPr>
          <a:xfrm xmlns:a="http://schemas.openxmlformats.org/drawingml/2006/main">
            <a:off x="1162050" y="3181350"/>
            <a:ext cx="2228850" cy="1857375"/>
          </a:xfrm>
          <a:prstGeom xmlns:a="http://schemas.openxmlformats.org/drawingml/2006/main" prst="rect">
            <a:avLst/>
          </a:prstGeom>
        </p:spPr>
      </p:pic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3C3DE0-4B97-40B7-AD15-206F41166E8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b9f0036da942f5"/>
          <a:stretch xmlns:a="http://schemas.openxmlformats.org/drawingml/2006/main"/>
        </p:blipFill>
        <p:spPr>
          <a:xfrm xmlns:a="http://schemas.openxmlformats.org/drawingml/2006/main">
            <a:off x="3657600" y="3181350"/>
            <a:ext cx="2228850" cy="1857375"/>
          </a:xfrm>
          <a:prstGeom xmlns:a="http://schemas.openxmlformats.org/drawingml/2006/main" prst="rect">
            <a:avLst/>
          </a:prstGeom>
        </p:spPr>
      </p:pic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BC09D9-43CB-4E26-B8C9-DB98B093E8A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c44ab19a00484e"/>
          <a:stretch xmlns:a="http://schemas.openxmlformats.org/drawingml/2006/main"/>
        </p:blipFill>
        <p:spPr>
          <a:xfrm xmlns:a="http://schemas.openxmlformats.org/drawingml/2006/main">
            <a:off x="6153150" y="3181350"/>
            <a:ext cx="2228850" cy="18573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270077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65C7BB-D274-4F9A-A824-270B288B3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822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1">
                <a:solidFill>
                  <a:srgbClr val="111111"/>
                </a:solidFill>
              </a:defRPr>
            </a:defPPr>
          </a:lstStyle>
          <a:p xmlns:a="http://schemas.openxmlformats.org/drawingml/2006/main">
            <a:pPr algn="l">
              <a:buNone/>
              <a:defRPr sz="2025" b="1">
                <a:solidFill>
                  <a:srgbClr val="111111"/>
                </a:solidFill>
              </a:defRPr>
            </a:pPr>
            <a:r>
              <a:rPr sz="2025" b="1">
                <a:solidFill>
                  <a:srgbClr val="111111"/>
                </a:solidFill>
              </a:rPr>
              <a:t>In-vivo: EPI and v1.83 FSE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85CC56-E733-4E28-879B-63578F611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822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5B5B5B"/>
                </a:solidFill>
              </a:defRPr>
            </a:defPPr>
          </a:lstStyle>
          <a:p xmlns:a="http://schemas.openxmlformats.org/drawingml/2006/main">
            <a:pPr algn="l">
              <a:buNone/>
              <a:defRPr sz="1125" b="0">
                <a:solidFill>
                  <a:srgbClr val="5B5B5B"/>
                </a:solidFill>
              </a:defRPr>
            </a:pPr>
            <a:r>
              <a:rPr sz="1125" b="0">
                <a:solidFill>
                  <a:srgbClr val="5B5B5B"/>
                </a:solidFill>
              </a:rPr>
              <a:t>Baseline EPI b0 / FSE b10 · EPI directions provisional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0DC70C-047B-4D16-8832-574C8737A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962025"/>
            <a:ext cx="2228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Baseline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69B67E-F850-4E4E-8011-01A378746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962025"/>
            <a:ext cx="2228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b=1000 · +z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D3A8DF-6F3B-4D97-B124-3AA91D9E1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962025"/>
            <a:ext cx="2228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b=6000 · +z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B08C1F-BE03-4F00-AB4F-6D1C962C8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847850"/>
            <a:ext cx="76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Lab EPI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19BD33-EDBA-41D9-B318-FC5561617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3819525"/>
            <a:ext cx="76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v1.83 FSE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FB3D9F-E0AA-4604-BECC-0A8489925F6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a4d9567e0c469a"/>
          <a:stretch xmlns:a="http://schemas.openxmlformats.org/drawingml/2006/main"/>
        </p:blipFill>
        <p:spPr>
          <a:xfrm xmlns:a="http://schemas.openxmlformats.org/drawingml/2006/main">
            <a:off x="1162050" y="1219200"/>
            <a:ext cx="2228850" cy="1857375"/>
          </a:xfrm>
          <a:prstGeom xmlns:a="http://schemas.openxmlformats.org/drawingml/2006/main" prst="rect">
            <a:avLst/>
          </a:prstGeom>
        </p:spPr>
      </p:pic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73C1FB-A5FB-4422-87D1-7AE7BF2907C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c56cb64710437c"/>
          <a:stretch xmlns:a="http://schemas.openxmlformats.org/drawingml/2006/main"/>
        </p:blipFill>
        <p:spPr>
          <a:xfrm xmlns:a="http://schemas.openxmlformats.org/drawingml/2006/main">
            <a:off x="3657600" y="1219200"/>
            <a:ext cx="2228850" cy="1857375"/>
          </a:xfrm>
          <a:prstGeom xmlns:a="http://schemas.openxmlformats.org/drawingml/2006/main" prst="rect">
            <a:avLst/>
          </a:prstGeom>
        </p:spPr>
      </p:pic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74E558-8D44-44BC-AA01-D8512BD68F0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1218c52dfb4fc8"/>
          <a:stretch xmlns:a="http://schemas.openxmlformats.org/drawingml/2006/main"/>
        </p:blipFill>
        <p:spPr>
          <a:xfrm xmlns:a="http://schemas.openxmlformats.org/drawingml/2006/main">
            <a:off x="6153150" y="1219200"/>
            <a:ext cx="2228850" cy="1857375"/>
          </a:xfrm>
          <a:prstGeom xmlns:a="http://schemas.openxmlformats.org/drawingml/2006/main" prst="rect">
            <a:avLst/>
          </a:prstGeom>
        </p:spPr>
      </p:pic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B9B707-FB44-4633-A102-F46E7E6CFAD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643a52deaa4893"/>
          <a:stretch xmlns:a="http://schemas.openxmlformats.org/drawingml/2006/main"/>
        </p:blipFill>
        <p:spPr>
          <a:xfrm xmlns:a="http://schemas.openxmlformats.org/drawingml/2006/main">
            <a:off x="1162050" y="3181350"/>
            <a:ext cx="2228850" cy="1857375"/>
          </a:xfrm>
          <a:prstGeom xmlns:a="http://schemas.openxmlformats.org/drawingml/2006/main" prst="rect">
            <a:avLst/>
          </a:prstGeom>
        </p:spPr>
      </p:pic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70B179-C20B-48AC-B7CF-675ED4405D9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53f4abaf7d4f75"/>
          <a:stretch xmlns:a="http://schemas.openxmlformats.org/drawingml/2006/main"/>
        </p:blipFill>
        <p:spPr>
          <a:xfrm xmlns:a="http://schemas.openxmlformats.org/drawingml/2006/main">
            <a:off x="3657600" y="3181350"/>
            <a:ext cx="2228850" cy="1857375"/>
          </a:xfrm>
          <a:prstGeom xmlns:a="http://schemas.openxmlformats.org/drawingml/2006/main" prst="rect">
            <a:avLst/>
          </a:prstGeom>
        </p:spPr>
      </p:pic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025FF7-DE1D-4222-82F0-D02506EA758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758ae6af5d457c"/>
          <a:stretch xmlns:a="http://schemas.openxmlformats.org/drawingml/2006/main"/>
        </p:blipFill>
        <p:spPr>
          <a:xfrm xmlns:a="http://schemas.openxmlformats.org/drawingml/2006/main">
            <a:off x="6153150" y="3181350"/>
            <a:ext cx="2228850" cy="18573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001369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C75792-0BD3-4267-B7B8-30AD3EFD7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822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1">
                <a:solidFill>
                  <a:srgbClr val="111111"/>
                </a:solidFill>
              </a:defRPr>
            </a:defPPr>
          </a:lstStyle>
          <a:p xmlns:a="http://schemas.openxmlformats.org/drawingml/2006/main">
            <a:pPr algn="l">
              <a:buNone/>
              <a:defRPr sz="2025" b="1">
                <a:solidFill>
                  <a:srgbClr val="111111"/>
                </a:solidFill>
              </a:defRPr>
            </a:pPr>
            <a:r>
              <a:rPr sz="2025" b="1">
                <a:solidFill>
                  <a:srgbClr val="111111"/>
                </a:solidFill>
              </a:rPr>
              <a:t>Baseline SNR | ex vivo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BC4954-C4A6-410D-94C3-15DDC4778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822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5B5B5B"/>
                </a:solidFill>
              </a:defRPr>
            </a:defPPr>
          </a:lstStyle>
          <a:p xmlns:a="http://schemas.openxmlformats.org/drawingml/2006/main">
            <a:pPr algn="l">
              <a:buNone/>
              <a:defRPr sz="1125" b="0">
                <a:solidFill>
                  <a:srgbClr val="5B5B5B"/>
                </a:solidFill>
              </a:defRPr>
            </a:pPr>
            <a:r>
              <a:rPr sz="1125" b="0">
                <a:solidFill>
                  <a:srgbClr val="5B5B5B"/>
                </a:solidFill>
              </a:rPr>
              <a:t>Single-acquisition comparison | FSE b10 and EPI b0</a:t>
            </a:r>
          </a:p>
        </p:txBody>
      </p:sp>
      <p:graphicFrame>
        <p:nvGraphicFramePr>
          <p:cNvPr id="3" name="Chart">
            <a:extLst xmlns:a="http://schemas.openxmlformats.org/drawingml/2006/main">
              <a:ext uri="{FF2B5EF4-FFF2-40B4-BE49-F238E27FC236}">
                <a16:creationId xmlns:a16="http://schemas.microsoft.com/office/drawing/2014/main" id="{051DBD52-6309-4ABC-AC3B-AD4A3680786C}"/>
              </a:ext>
            </a:extLst>
          </p:cNvPr>
          <p:cNvGraphicFramePr/>
          <p:nvPr/>
        </p:nvGraphicFramePr>
        <p:xfrm>
          <a:off xmlns:a="http://schemas.openxmlformats.org/drawingml/2006/main" x="952500" y="1123950"/>
          <a:ext xmlns:a="http://schemas.openxmlformats.org/drawingml/2006/main" cx="7239000" cy="3429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ea4eb367f41458c"/>
          </a:graphicData>
        </a:graphic>
      </p:graphicFrame>
    </p:spTree>
    <p:extLst>
      <p:ext uri="{BB962C8B-B14F-4D97-AF65-F5344CB8AC3E}">
        <p14:creationId xmlns:p14="http://schemas.microsoft.com/office/powerpoint/2010/main" val="107528882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3E449C-C2AE-441E-8ABB-A2E6E2559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822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1">
                <a:solidFill>
                  <a:srgbClr val="111111"/>
                </a:solidFill>
              </a:defRPr>
            </a:defPPr>
          </a:lstStyle>
          <a:p xmlns:a="http://schemas.openxmlformats.org/drawingml/2006/main">
            <a:pPr algn="l">
              <a:buNone/>
              <a:defRPr sz="2025" b="1">
                <a:solidFill>
                  <a:srgbClr val="111111"/>
                </a:solidFill>
              </a:defRPr>
            </a:pPr>
            <a:r>
              <a:rPr sz="2025" b="1">
                <a:solidFill>
                  <a:srgbClr val="111111"/>
                </a:solidFill>
              </a:rPr>
              <a:t>Baseline SNR | in vivo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7E9649-AAE7-4D3C-A01F-CAACBD012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822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5B5B5B"/>
                </a:solidFill>
              </a:defRPr>
            </a:defPPr>
          </a:lstStyle>
          <a:p xmlns:a="http://schemas.openxmlformats.org/drawingml/2006/main">
            <a:pPr algn="l">
              <a:buNone/>
              <a:defRPr sz="1125" b="0">
                <a:solidFill>
                  <a:srgbClr val="5B5B5B"/>
                </a:solidFill>
              </a:defRPr>
            </a:pPr>
            <a:r>
              <a:rPr sz="1125" b="0">
                <a:solidFill>
                  <a:srgbClr val="5B5B5B"/>
                </a:solidFill>
              </a:rPr>
              <a:t>Single-acquisition brain ROI | FSE b10 and EPI b0</a:t>
            </a:r>
          </a:p>
        </p:txBody>
      </p:sp>
      <p:graphicFrame>
        <p:nvGraphicFramePr>
          <p:cNvPr id="3" name="Chart">
            <a:extLst xmlns:a="http://schemas.openxmlformats.org/drawingml/2006/main">
              <a:ext uri="{FF2B5EF4-FFF2-40B4-BE49-F238E27FC236}">
                <a16:creationId xmlns:a16="http://schemas.microsoft.com/office/drawing/2014/main" id="{C658B35C-737A-4C09-8C8F-404A5C6F8CF9}"/>
              </a:ext>
            </a:extLst>
          </p:cNvPr>
          <p:cNvGraphicFramePr/>
          <p:nvPr/>
        </p:nvGraphicFramePr>
        <p:xfrm>
          <a:off xmlns:a="http://schemas.openxmlformats.org/drawingml/2006/main" x="952500" y="1123950"/>
          <a:ext xmlns:a="http://schemas.openxmlformats.org/drawingml/2006/main" cx="7239000" cy="3429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160d8de2130484a"/>
          </a:graphicData>
        </a:graphic>
      </p:graphicFrame>
    </p:spTree>
    <p:extLst>
      <p:ext uri="{BB962C8B-B14F-4D97-AF65-F5344CB8AC3E}">
        <p14:creationId xmlns:p14="http://schemas.microsoft.com/office/powerpoint/2010/main" val="175738626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709A1A-7747-4143-86D2-6FC97AABC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822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1">
                <a:solidFill>
                  <a:srgbClr val="111111"/>
                </a:solidFill>
              </a:defRPr>
            </a:defPPr>
          </a:lstStyle>
          <a:p xmlns:a="http://schemas.openxmlformats.org/drawingml/2006/main">
            <a:pPr algn="l">
              <a:buNone/>
              <a:defRPr sz="2025" b="1">
                <a:solidFill>
                  <a:srgbClr val="111111"/>
                </a:solidFill>
              </a:defRPr>
            </a:pPr>
            <a:r>
              <a:rPr sz="2025" b="1">
                <a:solidFill>
                  <a:srgbClr val="111111"/>
                </a:solidFill>
              </a:rPr>
              <a:t>Normalized SNR efficiency | ex-vivo brain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CBE873-8934-4D5A-97EE-5DAC89081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822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5B5B5B"/>
                </a:solidFill>
              </a:defRPr>
            </a:defPPr>
          </a:lstStyle>
          <a:p xmlns:a="http://schemas.openxmlformats.org/drawingml/2006/main">
            <a:pPr algn="l">
              <a:buNone/>
              <a:defRPr sz="1125" b="0">
                <a:solidFill>
                  <a:srgbClr val="5B5B5B"/>
                </a:solidFill>
              </a:defRPr>
            </a:pPr>
            <a:r>
              <a:rPr sz="1125" b="0">
                <a:solidFill>
                  <a:srgbClr val="5B5B5B"/>
                </a:solidFill>
              </a:rPr>
              <a:t>SNR / √(volume time [s]) / voxel volume [µL] · EPI native grid</a:t>
            </a:r>
          </a:p>
        </p:txBody>
      </p:sp>
      <p:graphicFrame>
        <p:nvGraphicFramePr>
          <p:cNvPr id="3" name="Chart">
            <a:extLst xmlns:a="http://schemas.openxmlformats.org/drawingml/2006/main">
              <a:ext uri="{FF2B5EF4-FFF2-40B4-BE49-F238E27FC236}">
                <a16:creationId xmlns:a16="http://schemas.microsoft.com/office/drawing/2014/main" id="{9660EB08-2F16-42FB-8DAB-C0A42853F4C7}"/>
              </a:ext>
            </a:extLst>
          </p:cNvPr>
          <p:cNvGraphicFramePr/>
          <p:nvPr/>
        </p:nvGraphicFramePr>
        <p:xfrm>
          <a:off xmlns:a="http://schemas.openxmlformats.org/drawingml/2006/main" x="952500" y="1123950"/>
          <a:ext xmlns:a="http://schemas.openxmlformats.org/drawingml/2006/main" cx="7239000" cy="3429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ffd4dcf1049456b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95BA45-52FD-46FC-92C3-C9C50C1B7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10100"/>
            <a:ext cx="822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B5B5B"/>
                </a:solidFill>
              </a:defRPr>
            </a:defPPr>
          </a:lstStyle>
          <a:p xmlns:a="http://schemas.openxmlformats.org/drawingml/2006/main">
            <a:pPr algn="l">
              <a:buNone/>
              <a:defRPr sz="1050" b="0">
                <a:solidFill>
                  <a:srgbClr val="5B5B5B"/>
                </a:solidFill>
              </a:defRPr>
            </a:pPr>
            <a:r>
              <a:rPr sz="1050" b="0">
                <a:solidFill>
                  <a:srgbClr val="5B5B5B"/>
                </a:solidFill>
              </a:rPr>
              <a:t>R: 31.1-mm phase FOV</a:t>
            </a:r>
          </a:p>
        </p:txBody>
      </p:sp>
    </p:spTree>
    <p:extLst>
      <p:ext uri="{BB962C8B-B14F-4D97-AF65-F5344CB8AC3E}">
        <p14:creationId xmlns:p14="http://schemas.microsoft.com/office/powerpoint/2010/main" val="280865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8E4CCC-F36E-43D6-999A-85BAF1FD9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822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1">
                <a:solidFill>
                  <a:srgbClr val="111111"/>
                </a:solidFill>
              </a:defRPr>
            </a:defPPr>
          </a:lstStyle>
          <a:p xmlns:a="http://schemas.openxmlformats.org/drawingml/2006/main">
            <a:pPr algn="l">
              <a:buNone/>
              <a:defRPr sz="2025" b="1">
                <a:solidFill>
                  <a:srgbClr val="111111"/>
                </a:solidFill>
              </a:defRPr>
            </a:pPr>
            <a:r>
              <a:rPr sz="2025" b="1">
                <a:solidFill>
                  <a:srgbClr val="111111"/>
                </a:solidFill>
              </a:rPr>
              <a:t>Normalized SNR efficiency | ex-vivo PBS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ECA882-4B54-4EC2-99E7-614075634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822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5B5B5B"/>
                </a:solidFill>
              </a:defRPr>
            </a:defPPr>
          </a:lstStyle>
          <a:p xmlns:a="http://schemas.openxmlformats.org/drawingml/2006/main">
            <a:pPr algn="l">
              <a:buNone/>
              <a:defRPr sz="1125" b="0">
                <a:solidFill>
                  <a:srgbClr val="5B5B5B"/>
                </a:solidFill>
              </a:defRPr>
            </a:pPr>
            <a:r>
              <a:rPr sz="1125" b="0">
                <a:solidFill>
                  <a:srgbClr val="5B5B5B"/>
                </a:solidFill>
              </a:rPr>
              <a:t>SNR / √(volume time [s]) / voxel volume [µL] · EPI native grid</a:t>
            </a:r>
          </a:p>
        </p:txBody>
      </p:sp>
      <p:graphicFrame>
        <p:nvGraphicFramePr>
          <p:cNvPr id="3" name="Chart">
            <a:extLst xmlns:a="http://schemas.openxmlformats.org/drawingml/2006/main">
              <a:ext uri="{FF2B5EF4-FFF2-40B4-BE49-F238E27FC236}">
                <a16:creationId xmlns:a16="http://schemas.microsoft.com/office/drawing/2014/main" id="{D3AF45D4-03DB-41A2-9DE7-814230A63812}"/>
              </a:ext>
            </a:extLst>
          </p:cNvPr>
          <p:cNvGraphicFramePr/>
          <p:nvPr/>
        </p:nvGraphicFramePr>
        <p:xfrm>
          <a:off xmlns:a="http://schemas.openxmlformats.org/drawingml/2006/main" x="952500" y="1123950"/>
          <a:ext xmlns:a="http://schemas.openxmlformats.org/drawingml/2006/main" cx="7239000" cy="3429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1f2be97a45e42df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2AEAA9-81F4-411D-9B03-64F9B5F1A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10100"/>
            <a:ext cx="822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B5B5B"/>
                </a:solidFill>
              </a:defRPr>
            </a:defPPr>
          </a:lstStyle>
          <a:p xmlns:a="http://schemas.openxmlformats.org/drawingml/2006/main">
            <a:pPr algn="l">
              <a:buNone/>
              <a:defRPr sz="1050" b="0">
                <a:solidFill>
                  <a:srgbClr val="5B5B5B"/>
                </a:solidFill>
              </a:defRPr>
            </a:pPr>
            <a:r>
              <a:rPr sz="1050" b="0">
                <a:solidFill>
                  <a:srgbClr val="5B5B5B"/>
                </a:solidFill>
              </a:rPr>
              <a:t>R: 31.1-mm phase FOV</a:t>
            </a:r>
          </a:p>
        </p:txBody>
      </p:sp>
    </p:spTree>
    <p:extLst>
      <p:ext uri="{BB962C8B-B14F-4D97-AF65-F5344CB8AC3E}">
        <p14:creationId xmlns:p14="http://schemas.microsoft.com/office/powerpoint/2010/main" val="1140833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99A8C5-D31B-4136-8A1B-B1F26FB3B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822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1">
                <a:solidFill>
                  <a:srgbClr val="111111"/>
                </a:solidFill>
              </a:defRPr>
            </a:defPPr>
          </a:lstStyle>
          <a:p xmlns:a="http://schemas.openxmlformats.org/drawingml/2006/main">
            <a:pPr algn="l">
              <a:buNone/>
              <a:defRPr sz="2025" b="1">
                <a:solidFill>
                  <a:srgbClr val="111111"/>
                </a:solidFill>
              </a:defRPr>
            </a:pPr>
            <a:r>
              <a:rPr sz="2025" b="1">
                <a:solidFill>
                  <a:srgbClr val="111111"/>
                </a:solidFill>
              </a:rPr>
              <a:t>Normalized SNR efficiency | in vivo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EDD906-148E-4126-86FA-79F82148C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822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5B5B5B"/>
                </a:solidFill>
              </a:defRPr>
            </a:defPPr>
          </a:lstStyle>
          <a:p xmlns:a="http://schemas.openxmlformats.org/drawingml/2006/main">
            <a:pPr algn="l">
              <a:buNone/>
              <a:defRPr sz="1125" b="0">
                <a:solidFill>
                  <a:srgbClr val="5B5B5B"/>
                </a:solidFill>
              </a:defRPr>
            </a:pPr>
            <a:r>
              <a:rPr sz="1125" b="0">
                <a:solidFill>
                  <a:srgbClr val="5B5B5B"/>
                </a:solidFill>
              </a:rPr>
              <a:t>SNR / √(volume time [s]) / voxel volume [µL] · EPI native grid</a:t>
            </a:r>
          </a:p>
        </p:txBody>
      </p:sp>
      <p:graphicFrame>
        <p:nvGraphicFramePr>
          <p:cNvPr id="3" name="Chart">
            <a:extLst xmlns:a="http://schemas.openxmlformats.org/drawingml/2006/main">
              <a:ext uri="{FF2B5EF4-FFF2-40B4-BE49-F238E27FC236}">
                <a16:creationId xmlns:a16="http://schemas.microsoft.com/office/drawing/2014/main" id="{D326E2E4-A0DF-4D9B-92BF-15B0C37090E2}"/>
              </a:ext>
            </a:extLst>
          </p:cNvPr>
          <p:cNvGraphicFramePr/>
          <p:nvPr/>
        </p:nvGraphicFramePr>
        <p:xfrm>
          <a:off xmlns:a="http://schemas.openxmlformats.org/drawingml/2006/main" x="952500" y="1123950"/>
          <a:ext xmlns:a="http://schemas.openxmlformats.org/drawingml/2006/main" cx="7239000" cy="3429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8967d52aa444e31"/>
          </a:graphicData>
        </a:graphic>
      </p:graphicFrame>
    </p:spTree>
    <p:extLst>
      <p:ext uri="{BB962C8B-B14F-4D97-AF65-F5344CB8AC3E}">
        <p14:creationId xmlns:p14="http://schemas.microsoft.com/office/powerpoint/2010/main" val="75124412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CB06CB-C61D-404D-B2DB-DE87AB311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822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1">
                <a:solidFill>
                  <a:srgbClr val="111111"/>
                </a:solidFill>
              </a:defRPr>
            </a:defPPr>
          </a:lstStyle>
          <a:p xmlns:a="http://schemas.openxmlformats.org/drawingml/2006/main">
            <a:pPr algn="l">
              <a:buNone/>
              <a:defRPr sz="2025" b="1">
                <a:solidFill>
                  <a:srgbClr val="111111"/>
                </a:solidFill>
              </a:defRPr>
            </a:pPr>
            <a:r>
              <a:rPr sz="2025" b="1">
                <a:solidFill>
                  <a:srgbClr val="111111"/>
                </a:solidFill>
              </a:rPr>
              <a:t>ADC | ex vivo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682616-BA2E-4775-BC15-F7FC1206B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822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5B5B5B"/>
                </a:solidFill>
              </a:defRPr>
            </a:defPPr>
          </a:lstStyle>
          <a:p xmlns:a="http://schemas.openxmlformats.org/drawingml/2006/main">
            <a:pPr algn="l">
              <a:buNone/>
              <a:defRPr sz="1125" b="0">
                <a:solidFill>
                  <a:srgbClr val="5B5B5B"/>
                </a:solidFill>
              </a:defRPr>
            </a:pPr>
            <a:r>
              <a:rPr sz="1125" b="0">
                <a:solidFill>
                  <a:srgbClr val="5B5B5B"/>
                </a:solidFill>
              </a:rPr>
              <a:t>ROI ADC | whole-brain / PBS | ×10⁻³ mm²/s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88EF32-A136-419B-AD9F-9CB16A990839}"/>
              </a:ext>
            </a:extLst>
          </p:cNvPr>
          <p:cNvGraphicFramePr/>
          <p:nvPr/>
        </p:nvGraphicFramePr>
        <p:xfrm>
          <a:off xmlns:a="http://schemas.openxmlformats.org/drawingml/2006/main" x="457200" y="1200150"/>
          <a:ext xmlns:a="http://schemas.openxmlformats.org/drawingml/2006/main" cx="8229600" cy="2952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42182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25" b="1">
                          <a:solidFill>
                            <a:srgbClr val="111111"/>
                          </a:solidFill>
                        </a:rPr>
                        <a:t>Sample / sequence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4D4D4"/>
                      </a:solidFill>
                      <a:prstDash val="solid"/>
                    </a:lnL>
                    <a:lnR w="5715">
                      <a:solidFill>
                        <a:srgbClr val="D4D4D4"/>
                      </a:solidFill>
                      <a:prstDash val="solid"/>
                    </a:lnR>
                    <a:lnT w="5715">
                      <a:solidFill>
                        <a:srgbClr val="D4D4D4"/>
                      </a:solidFill>
                      <a:prstDash val="solid"/>
                    </a:lnT>
                    <a:lnB w="5715">
                      <a:solidFill>
                        <a:srgbClr val="D4D4D4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1">
                          <a:solidFill>
                            <a:srgbClr val="111111"/>
                          </a:solidFill>
                        </a:rPr>
                        <a:t>Baseline → 1000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4D4D4"/>
                      </a:solidFill>
                      <a:prstDash val="solid"/>
                    </a:lnR>
                    <a:lnT w="5715">
                      <a:solidFill>
                        <a:srgbClr val="D4D4D4"/>
                      </a:solidFill>
                      <a:prstDash val="solid"/>
                    </a:lnT>
                    <a:lnB w="5715">
                      <a:solidFill>
                        <a:srgbClr val="D4D4D4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1">
                          <a:solidFill>
                            <a:srgbClr val="111111"/>
                          </a:solidFill>
                        </a:rPr>
                        <a:t>1000 → 3000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4D4D4"/>
                      </a:solidFill>
                      <a:prstDash val="solid"/>
                    </a:lnR>
                    <a:lnT w="5715">
                      <a:solidFill>
                        <a:srgbClr val="D4D4D4"/>
                      </a:solidFill>
                      <a:prstDash val="solid"/>
                    </a:lnT>
                    <a:lnB w="5715">
                      <a:solidFill>
                        <a:srgbClr val="D4D4D4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</a:tr>
              <a:tr h="42182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25" b="0">
                          <a:solidFill>
                            <a:srgbClr val="222222"/>
                          </a:solidFill>
                        </a:rPr>
                        <a:t>Q brain · v1.83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4D4D4"/>
                      </a:solidFill>
                      <a:prstDash val="solid"/>
                    </a:lnL>
                    <a:lnR w="5715">
                      <a:solidFill>
                        <a:srgbClr val="D4D4D4"/>
                      </a:solidFill>
                      <a:prstDash val="solid"/>
                    </a:lnR>
                    <a:lnB w="5715">
                      <a:solidFill>
                        <a:srgbClr val="D4D4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222222"/>
                          </a:solidFill>
                        </a:rPr>
                        <a:t>0.325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4D4D4"/>
                      </a:solidFill>
                      <a:prstDash val="solid"/>
                    </a:lnR>
                    <a:lnB w="5715">
                      <a:solidFill>
                        <a:srgbClr val="D4D4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222222"/>
                          </a:solidFill>
                        </a:rPr>
                        <a:t>0.233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4D4D4"/>
                      </a:solidFill>
                      <a:prstDash val="solid"/>
                    </a:lnR>
                    <a:lnB w="5715">
                      <a:solidFill>
                        <a:srgbClr val="D4D4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182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25" b="0">
                          <a:solidFill>
                            <a:srgbClr val="222222"/>
                          </a:solidFill>
                        </a:rPr>
                        <a:t>R brain · v1.912*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4D4D4"/>
                      </a:solidFill>
                      <a:prstDash val="solid"/>
                    </a:lnL>
                    <a:lnR w="5715">
                      <a:solidFill>
                        <a:srgbClr val="D4D4D4"/>
                      </a:solidFill>
                      <a:prstDash val="solid"/>
                    </a:lnR>
                    <a:lnB w="5715">
                      <a:solidFill>
                        <a:srgbClr val="D4D4D4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222222"/>
                          </a:solidFill>
                        </a:rPr>
                        <a:t>0.373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4D4D4"/>
                      </a:solidFill>
                      <a:prstDash val="solid"/>
                    </a:lnR>
                    <a:lnB w="5715">
                      <a:solidFill>
                        <a:srgbClr val="D4D4D4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222222"/>
                          </a:solidFill>
                        </a:rPr>
                        <a:t>0.231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4D4D4"/>
                      </a:solidFill>
                      <a:prstDash val="solid"/>
                    </a:lnR>
                    <a:lnB w="5715">
                      <a:solidFill>
                        <a:srgbClr val="D4D4D4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</a:tr>
              <a:tr h="42182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25" b="0">
                          <a:solidFill>
                            <a:srgbClr val="222222"/>
                          </a:solidFill>
                        </a:rPr>
                        <a:t>Q PBS · v1.83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4D4D4"/>
                      </a:solidFill>
                      <a:prstDash val="solid"/>
                    </a:lnL>
                    <a:lnR w="5715">
                      <a:solidFill>
                        <a:srgbClr val="D4D4D4"/>
                      </a:solidFill>
                      <a:prstDash val="solid"/>
                    </a:lnR>
                    <a:lnB w="5715">
                      <a:solidFill>
                        <a:srgbClr val="D4D4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222222"/>
                          </a:solidFill>
                        </a:rPr>
                        <a:t>1.837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4D4D4"/>
                      </a:solidFill>
                      <a:prstDash val="solid"/>
                    </a:lnR>
                    <a:lnB w="5715">
                      <a:solidFill>
                        <a:srgbClr val="D4D4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222222"/>
                          </a:solidFill>
                        </a:rPr>
                        <a:t>Not reported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4D4D4"/>
                      </a:solidFill>
                      <a:prstDash val="solid"/>
                    </a:lnR>
                    <a:lnB w="5715">
                      <a:solidFill>
                        <a:srgbClr val="D4D4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182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25" b="0">
                          <a:solidFill>
                            <a:srgbClr val="222222"/>
                          </a:solidFill>
                        </a:rPr>
                        <a:t>R PBS · v1.912*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4D4D4"/>
                      </a:solidFill>
                      <a:prstDash val="solid"/>
                    </a:lnL>
                    <a:lnR w="5715">
                      <a:solidFill>
                        <a:srgbClr val="D4D4D4"/>
                      </a:solidFill>
                      <a:prstDash val="solid"/>
                    </a:lnR>
                    <a:lnB w="5715">
                      <a:solidFill>
                        <a:srgbClr val="D4D4D4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222222"/>
                          </a:solidFill>
                        </a:rPr>
                        <a:t>1.840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4D4D4"/>
                      </a:solidFill>
                      <a:prstDash val="solid"/>
                    </a:lnR>
                    <a:lnB w="5715">
                      <a:solidFill>
                        <a:srgbClr val="D4D4D4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222222"/>
                          </a:solidFill>
                        </a:rPr>
                        <a:t>Not reported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4D4D4"/>
                      </a:solidFill>
                      <a:prstDash val="solid"/>
                    </a:lnR>
                    <a:lnB w="5715">
                      <a:solidFill>
                        <a:srgbClr val="D4D4D4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</a:tr>
              <a:tr h="42182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25" b="0">
                          <a:solidFill>
                            <a:srgbClr val="222222"/>
                          </a:solidFill>
                        </a:rPr>
                        <a:t>EPI test0 brain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4D4D4"/>
                      </a:solidFill>
                      <a:prstDash val="solid"/>
                    </a:lnL>
                    <a:lnR w="5715">
                      <a:solidFill>
                        <a:srgbClr val="D4D4D4"/>
                      </a:solidFill>
                      <a:prstDash val="solid"/>
                    </a:lnR>
                    <a:lnB w="5715">
                      <a:solidFill>
                        <a:srgbClr val="D4D4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222222"/>
                          </a:solidFill>
                        </a:rPr>
                        <a:t>0.273 +y only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4D4D4"/>
                      </a:solidFill>
                      <a:prstDash val="solid"/>
                    </a:lnR>
                    <a:lnB w="5715">
                      <a:solidFill>
                        <a:srgbClr val="D4D4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222222"/>
                          </a:solidFill>
                        </a:rPr>
                        <a:t>Not acquired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4D4D4"/>
                      </a:solidFill>
                      <a:prstDash val="solid"/>
                    </a:lnR>
                    <a:lnB w="5715">
                      <a:solidFill>
                        <a:srgbClr val="D4D4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182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25" b="0">
                          <a:solidFill>
                            <a:srgbClr val="222222"/>
                          </a:solidFill>
                        </a:rPr>
                        <a:t>EPI test0 PBS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4D4D4"/>
                      </a:solidFill>
                      <a:prstDash val="solid"/>
                    </a:lnL>
                    <a:lnR w="5715">
                      <a:solidFill>
                        <a:srgbClr val="D4D4D4"/>
                      </a:solidFill>
                      <a:prstDash val="solid"/>
                    </a:lnR>
                    <a:lnB w="5715">
                      <a:solidFill>
                        <a:srgbClr val="D4D4D4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222222"/>
                          </a:solidFill>
                        </a:rPr>
                        <a:t>1.792 +y only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4D4D4"/>
                      </a:solidFill>
                      <a:prstDash val="solid"/>
                    </a:lnR>
                    <a:lnB w="5715">
                      <a:solidFill>
                        <a:srgbClr val="D4D4D4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222222"/>
                          </a:solidFill>
                        </a:rPr>
                        <a:t>Not acquired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4D4D4"/>
                      </a:solidFill>
                      <a:prstDash val="solid"/>
                    </a:lnR>
                    <a:lnB w="5715">
                      <a:solidFill>
                        <a:srgbClr val="D4D4D4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417642-2B9F-4204-83D1-69ABFD41F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33875"/>
            <a:ext cx="822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5B5B5B"/>
                </a:solidFill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5B5B5B"/>
                </a:solidFill>
              </a:defRPr>
            </a:pPr>
            <a:r>
              <a:rPr sz="1275" b="0">
                <a:solidFill>
                  <a:srgbClr val="5B5B5B"/>
                </a:solidFill>
              </a:rPr>
              <a:t>R* = geometry-adjusted ROI. FSE effective b; EPI nominal b.</a:t>
            </a:r>
          </a:p>
        </p:txBody>
      </p:sp>
    </p:spTree>
    <p:extLst>
      <p:ext uri="{BB962C8B-B14F-4D97-AF65-F5344CB8AC3E}">
        <p14:creationId xmlns:p14="http://schemas.microsoft.com/office/powerpoint/2010/main" val="219301954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6C22BF-594E-4333-ABD4-7803FF449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822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1">
                <a:solidFill>
                  <a:srgbClr val="111111"/>
                </a:solidFill>
              </a:defRPr>
            </a:defPPr>
          </a:lstStyle>
          <a:p xmlns:a="http://schemas.openxmlformats.org/drawingml/2006/main">
            <a:pPr algn="l">
              <a:buNone/>
              <a:defRPr sz="2025" b="1">
                <a:solidFill>
                  <a:srgbClr val="111111"/>
                </a:solidFill>
              </a:defRPr>
            </a:pPr>
            <a:r>
              <a:rPr sz="2025" b="1">
                <a:solidFill>
                  <a:srgbClr val="111111"/>
                </a:solidFill>
              </a:rPr>
              <a:t>ADC | in vivo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DE906D-0F77-4371-A9E6-AABD6289F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822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5B5B5B"/>
                </a:solidFill>
              </a:defRPr>
            </a:defPPr>
          </a:lstStyle>
          <a:p xmlns:a="http://schemas.openxmlformats.org/drawingml/2006/main">
            <a:pPr algn="l">
              <a:buNone/>
              <a:defRPr sz="1125" b="0">
                <a:solidFill>
                  <a:srgbClr val="5B5B5B"/>
                </a:solidFill>
              </a:defRPr>
            </a:pPr>
            <a:r>
              <a:rPr sz="1125" b="0">
                <a:solidFill>
                  <a:srgbClr val="5B5B5B"/>
                </a:solidFill>
              </a:rPr>
              <a:t>ROI ADC | ×10⁻³ mm²/s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3221DD-351B-4D29-8496-6AB4875492B3}"/>
              </a:ext>
            </a:extLst>
          </p:cNvPr>
          <p:cNvGraphicFramePr/>
          <p:nvPr/>
        </p:nvGraphicFramePr>
        <p:xfrm>
          <a:off xmlns:a="http://schemas.openxmlformats.org/drawingml/2006/main" x="457200" y="1409700"/>
          <a:ext xmlns:a="http://schemas.openxmlformats.org/drawingml/2006/main" cx="8229600" cy="2095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5238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75" b="1">
                          <a:solidFill>
                            <a:srgbClr val="111111"/>
                          </a:solidFill>
                        </a:rPr>
                        <a:t>Sample / sequence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4D4D4"/>
                      </a:solidFill>
                      <a:prstDash val="solid"/>
                    </a:lnL>
                    <a:lnR w="5715">
                      <a:solidFill>
                        <a:srgbClr val="D4D4D4"/>
                      </a:solidFill>
                      <a:prstDash val="solid"/>
                    </a:lnR>
                    <a:lnT w="5715">
                      <a:solidFill>
                        <a:srgbClr val="D4D4D4"/>
                      </a:solidFill>
                      <a:prstDash val="solid"/>
                    </a:lnT>
                    <a:lnB w="5715">
                      <a:solidFill>
                        <a:srgbClr val="D4D4D4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75" b="1">
                          <a:solidFill>
                            <a:srgbClr val="111111"/>
                          </a:solidFill>
                        </a:rPr>
                        <a:t>Baseline → 1000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4D4D4"/>
                      </a:solidFill>
                      <a:prstDash val="solid"/>
                    </a:lnR>
                    <a:lnT w="5715">
                      <a:solidFill>
                        <a:srgbClr val="D4D4D4"/>
                      </a:solidFill>
                      <a:prstDash val="solid"/>
                    </a:lnT>
                    <a:lnB w="5715">
                      <a:solidFill>
                        <a:srgbClr val="D4D4D4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75" b="1">
                          <a:solidFill>
                            <a:srgbClr val="111111"/>
                          </a:solidFill>
                        </a:rPr>
                        <a:t>1000 → 3000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4D4D4"/>
                      </a:solidFill>
                      <a:prstDash val="solid"/>
                    </a:lnR>
                    <a:lnT w="5715">
                      <a:solidFill>
                        <a:srgbClr val="D4D4D4"/>
                      </a:solidFill>
                      <a:prstDash val="solid"/>
                    </a:lnT>
                    <a:lnB w="5715">
                      <a:solidFill>
                        <a:srgbClr val="D4D4D4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75" b="0">
                          <a:solidFill>
                            <a:srgbClr val="222222"/>
                          </a:solidFill>
                        </a:rPr>
                        <a:t>iA · v1.83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4D4D4"/>
                      </a:solidFill>
                      <a:prstDash val="solid"/>
                    </a:lnL>
                    <a:lnR w="5715">
                      <a:solidFill>
                        <a:srgbClr val="D4D4D4"/>
                      </a:solidFill>
                      <a:prstDash val="solid"/>
                    </a:lnR>
                    <a:lnB w="5715">
                      <a:solidFill>
                        <a:srgbClr val="D4D4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222222"/>
                          </a:solidFill>
                        </a:rPr>
                        <a:t>0.689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4D4D4"/>
                      </a:solidFill>
                      <a:prstDash val="solid"/>
                    </a:lnR>
                    <a:lnB w="5715">
                      <a:solidFill>
                        <a:srgbClr val="D4D4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222222"/>
                          </a:solidFill>
                        </a:rPr>
                        <a:t>0.509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4D4D4"/>
                      </a:solidFill>
                      <a:prstDash val="solid"/>
                    </a:lnR>
                    <a:lnB w="5715">
                      <a:solidFill>
                        <a:srgbClr val="D4D4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75" b="0">
                          <a:solidFill>
                            <a:srgbClr val="222222"/>
                          </a:solidFill>
                        </a:rPr>
                        <a:t>iB · v1.912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4D4D4"/>
                      </a:solidFill>
                      <a:prstDash val="solid"/>
                    </a:lnL>
                    <a:lnR w="5715">
                      <a:solidFill>
                        <a:srgbClr val="D4D4D4"/>
                      </a:solidFill>
                      <a:prstDash val="solid"/>
                    </a:lnR>
                    <a:lnB w="5715">
                      <a:solidFill>
                        <a:srgbClr val="D4D4D4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222222"/>
                          </a:solidFill>
                        </a:rPr>
                        <a:t>0.679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4D4D4"/>
                      </a:solidFill>
                      <a:prstDash val="solid"/>
                    </a:lnR>
                    <a:lnB w="5715">
                      <a:solidFill>
                        <a:srgbClr val="D4D4D4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222222"/>
                          </a:solidFill>
                        </a:rPr>
                        <a:t>0.506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4D4D4"/>
                      </a:solidFill>
                      <a:prstDash val="solid"/>
                    </a:lnR>
                    <a:lnB w="5715">
                      <a:solidFill>
                        <a:srgbClr val="D4D4D4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75" b="0">
                          <a:solidFill>
                            <a:srgbClr val="222222"/>
                          </a:solidFill>
                        </a:rPr>
                        <a:t>EPI · invivoA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4D4D4"/>
                      </a:solidFill>
                      <a:prstDash val="solid"/>
                    </a:lnL>
                    <a:lnR w="5715">
                      <a:solidFill>
                        <a:srgbClr val="D4D4D4"/>
                      </a:solidFill>
                      <a:prstDash val="solid"/>
                    </a:lnR>
                    <a:lnB w="5715">
                      <a:solidFill>
                        <a:srgbClr val="D4D4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222222"/>
                          </a:solidFill>
                        </a:rPr>
                        <a:t>0.774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4D4D4"/>
                      </a:solidFill>
                      <a:prstDash val="solid"/>
                    </a:lnR>
                    <a:lnB w="5715">
                      <a:solidFill>
                        <a:srgbClr val="D4D4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222222"/>
                          </a:solidFill>
                        </a:rPr>
                        <a:t>0.484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4D4D4"/>
                      </a:solidFill>
                      <a:prstDash val="solid"/>
                    </a:lnR>
                    <a:lnB w="5715">
                      <a:solidFill>
                        <a:srgbClr val="D4D4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0370E4-CC1C-465D-9E7B-AF80011E4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71900"/>
            <a:ext cx="822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5B5B5B"/>
                </a:solidFill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5B5B5B"/>
                </a:solidFill>
              </a:defRPr>
            </a:pPr>
            <a:r>
              <a:rPr sz="1275" b="0">
                <a:solidFill>
                  <a:srgbClr val="5B5B5B"/>
                </a:solidFill>
              </a:rPr>
              <a:t>FSE uses effective b; EPI uses recorded nominal b.</a:t>
            </a:r>
          </a:p>
        </p:txBody>
      </p:sp>
    </p:spTree>
    <p:extLst>
      <p:ext uri="{BB962C8B-B14F-4D97-AF65-F5344CB8AC3E}">
        <p14:creationId xmlns:p14="http://schemas.microsoft.com/office/powerpoint/2010/main" val="423435121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52CF4A-4E8D-4A45-8520-F1915AC73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822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1">
                <a:solidFill>
                  <a:srgbClr val="111111"/>
                </a:solidFill>
              </a:defRPr>
            </a:defPPr>
          </a:lstStyle>
          <a:p xmlns:a="http://schemas.openxmlformats.org/drawingml/2006/main">
            <a:pPr algn="l">
              <a:buNone/>
              <a:defRPr sz="2025" b="1">
                <a:solidFill>
                  <a:srgbClr val="111111"/>
                </a:solidFill>
              </a:defRPr>
            </a:pPr>
            <a:r>
              <a:rPr sz="2025" b="1">
                <a:solidFill>
                  <a:srgbClr val="111111"/>
                </a:solidFill>
              </a:rPr>
              <a:t>ADC maps | ex-vivo brain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11E7A1-6490-45CC-BE5C-3695A1FC2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822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5B5B5B"/>
                </a:solidFill>
              </a:defRPr>
            </a:defPPr>
          </a:lstStyle>
          <a:p xmlns:a="http://schemas.openxmlformats.org/drawingml/2006/main">
            <a:pPr algn="l">
              <a:buNone/>
              <a:defRPr sz="1125" b="0">
                <a:solidFill>
                  <a:srgbClr val="5B5B5B"/>
                </a:solidFill>
              </a:defRPr>
            </a:pPr>
            <a:r>
              <a:rPr sz="1125" b="0">
                <a:solidFill>
                  <a:srgbClr val="5B5B5B"/>
                </a:solidFill>
              </a:rPr>
              <a:t>Q and R | baseline → 1000 | shared 0–0.6 scale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B27F09-FADF-4FA8-B1A6-F353DA72F0B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8f947a5e354aef"/>
          <a:stretch xmlns:a="http://schemas.openxmlformats.org/drawingml/2006/main"/>
        </p:blipFill>
        <p:spPr>
          <a:xfrm xmlns:a="http://schemas.openxmlformats.org/drawingml/2006/main">
            <a:off x="457200" y="1233088"/>
            <a:ext cx="8229600" cy="3363124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FB49F3-D36A-4F09-A007-1E1A28D75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57725"/>
            <a:ext cx="822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B5B5B"/>
                </a:solidFill>
              </a:defRPr>
            </a:defPPr>
          </a:lstStyle>
          <a:p xmlns:a="http://schemas.openxmlformats.org/drawingml/2006/main">
            <a:pPr algn="l">
              <a:buNone/>
              <a:defRPr sz="1050" b="0">
                <a:solidFill>
                  <a:srgbClr val="5B5B5B"/>
                </a:solidFill>
              </a:defRPr>
            </a:pPr>
            <a:r>
              <a:rPr sz="1050" b="0">
                <a:solidFill>
                  <a:srgbClr val="5B5B5B"/>
                </a:solidFill>
              </a:rPr>
              <a:t>Mean x/y/z slopes · endpoints ≥5σ; gray = censored</a:t>
            </a:r>
          </a:p>
        </p:txBody>
      </p:sp>
    </p:spTree>
    <p:extLst>
      <p:ext uri="{BB962C8B-B14F-4D97-AF65-F5344CB8AC3E}">
        <p14:creationId xmlns:p14="http://schemas.microsoft.com/office/powerpoint/2010/main" val="1360469129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C0D033-7EEA-44F1-9A15-571D1F5DF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822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1">
                <a:solidFill>
                  <a:srgbClr val="111111"/>
                </a:solidFill>
              </a:defRPr>
            </a:defPPr>
          </a:lstStyle>
          <a:p xmlns:a="http://schemas.openxmlformats.org/drawingml/2006/main">
            <a:pPr algn="l">
              <a:buNone/>
              <a:defRPr sz="2025" b="1">
                <a:solidFill>
                  <a:srgbClr val="111111"/>
                </a:solidFill>
              </a:defRPr>
            </a:pPr>
            <a:r>
              <a:rPr sz="2025" b="1">
                <a:solidFill>
                  <a:srgbClr val="111111"/>
                </a:solidFill>
              </a:rPr>
              <a:t>ADC maps | ex-vivo brain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BBA0D8-E73A-4583-B629-44515158D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822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5B5B5B"/>
                </a:solidFill>
              </a:defRPr>
            </a:defPPr>
          </a:lstStyle>
          <a:p xmlns:a="http://schemas.openxmlformats.org/drawingml/2006/main">
            <a:pPr algn="l">
              <a:buNone/>
              <a:defRPr sz="1125" b="0">
                <a:solidFill>
                  <a:srgbClr val="5B5B5B"/>
                </a:solidFill>
              </a:defRPr>
            </a:pPr>
            <a:r>
              <a:rPr sz="1125" b="0">
                <a:solidFill>
                  <a:srgbClr val="5B5B5B"/>
                </a:solidFill>
              </a:rPr>
              <a:t>Q and R | 1000 → 3000 | shared 0–0.6 scale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A71F7F-E5A6-48F9-94AB-A9A7FDF756D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beffdf5df14ed0"/>
          <a:stretch xmlns:a="http://schemas.openxmlformats.org/drawingml/2006/main"/>
        </p:blipFill>
        <p:spPr>
          <a:xfrm xmlns:a="http://schemas.openxmlformats.org/drawingml/2006/main">
            <a:off x="457200" y="1233088"/>
            <a:ext cx="8229600" cy="3363124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AD411C-0568-447B-A667-4437163D1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57725"/>
            <a:ext cx="822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B5B5B"/>
                </a:solidFill>
              </a:defRPr>
            </a:defPPr>
          </a:lstStyle>
          <a:p xmlns:a="http://schemas.openxmlformats.org/drawingml/2006/main">
            <a:pPr algn="l">
              <a:buNone/>
              <a:defRPr sz="1050" b="0">
                <a:solidFill>
                  <a:srgbClr val="5B5B5B"/>
                </a:solidFill>
              </a:defRPr>
            </a:pPr>
            <a:r>
              <a:rPr sz="1050" b="0">
                <a:solidFill>
                  <a:srgbClr val="5B5B5B"/>
                </a:solidFill>
              </a:rPr>
              <a:t>Mean x/y/z slopes · endpoints ≥5σ; gray = censored</a:t>
            </a:r>
          </a:p>
        </p:txBody>
      </p:sp>
    </p:spTree>
    <p:extLst>
      <p:ext uri="{BB962C8B-B14F-4D97-AF65-F5344CB8AC3E}">
        <p14:creationId xmlns:p14="http://schemas.microsoft.com/office/powerpoint/2010/main" val="907013115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07A0FA-EEFB-4B2B-80A3-2A9494B13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822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1">
                <a:solidFill>
                  <a:srgbClr val="111111"/>
                </a:solidFill>
              </a:defRPr>
            </a:defPPr>
          </a:lstStyle>
          <a:p xmlns:a="http://schemas.openxmlformats.org/drawingml/2006/main">
            <a:pPr algn="l">
              <a:buNone/>
              <a:defRPr sz="2025" b="1">
                <a:solidFill>
                  <a:srgbClr val="111111"/>
                </a:solidFill>
              </a:defRPr>
            </a:pPr>
            <a:r>
              <a:rPr sz="2025" b="1">
                <a:solidFill>
                  <a:srgbClr val="111111"/>
                </a:solidFill>
              </a:rPr>
              <a:t>ADC maps | ex-vivo PBS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0AA593-4127-4242-9AF3-FBC3FCCE9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822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5B5B5B"/>
                </a:solidFill>
              </a:defRPr>
            </a:defPPr>
          </a:lstStyle>
          <a:p xmlns:a="http://schemas.openxmlformats.org/drawingml/2006/main">
            <a:pPr algn="l">
              <a:buNone/>
              <a:defRPr sz="1125" b="0">
                <a:solidFill>
                  <a:srgbClr val="5B5B5B"/>
                </a:solidFill>
              </a:defRPr>
            </a:pPr>
            <a:r>
              <a:rPr sz="1125" b="0">
                <a:solidFill>
                  <a:srgbClr val="5B5B5B"/>
                </a:solidFill>
              </a:rPr>
              <a:t>Q and R | low interval shown; high interval excluded near noise floor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86D1C1-1BD3-4932-A056-D8AA341ACB8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ac1e11360042ec"/>
          <a:stretch xmlns:a="http://schemas.openxmlformats.org/drawingml/2006/main"/>
        </p:blipFill>
        <p:spPr>
          <a:xfrm xmlns:a="http://schemas.openxmlformats.org/drawingml/2006/main">
            <a:off x="944922" y="1000125"/>
            <a:ext cx="7254156" cy="38290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7FE864-46F4-48D1-A547-2348DDD76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57725"/>
            <a:ext cx="822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B5B5B"/>
                </a:solidFill>
              </a:defRPr>
            </a:defPPr>
          </a:lstStyle>
          <a:p xmlns:a="http://schemas.openxmlformats.org/drawingml/2006/main">
            <a:pPr algn="l">
              <a:buNone/>
              <a:defRPr sz="1050" b="0">
                <a:solidFill>
                  <a:srgbClr val="5B5B5B"/>
                </a:solidFill>
              </a:defRPr>
            </a:pPr>
            <a:r>
              <a:rPr sz="1050" b="0">
                <a:solidFill>
                  <a:srgbClr val="5B5B5B"/>
                </a:solidFill>
              </a:rPr>
              <a:t>Mean x/y/z slopes · endpoints ≥5σ; gray = censored</a:t>
            </a:r>
          </a:p>
        </p:txBody>
      </p:sp>
    </p:spTree>
    <p:extLst>
      <p:ext uri="{BB962C8B-B14F-4D97-AF65-F5344CB8AC3E}">
        <p14:creationId xmlns:p14="http://schemas.microsoft.com/office/powerpoint/2010/main" val="1403198650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55F3C7-E632-4466-99CA-DE2EBEE2B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822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1">
                <a:solidFill>
                  <a:srgbClr val="111111"/>
                </a:solidFill>
              </a:defRPr>
            </a:defPPr>
          </a:lstStyle>
          <a:p xmlns:a="http://schemas.openxmlformats.org/drawingml/2006/main">
            <a:pPr algn="l">
              <a:buNone/>
              <a:defRPr sz="2025" b="1">
                <a:solidFill>
                  <a:srgbClr val="111111"/>
                </a:solidFill>
              </a:defRPr>
            </a:pPr>
            <a:r>
              <a:rPr sz="2025" b="1">
                <a:solidFill>
                  <a:srgbClr val="111111"/>
                </a:solidFill>
              </a:rPr>
              <a:t>ADC maps | in vivo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8183A2-F734-4CB9-9F63-C6F57D790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822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5B5B5B"/>
                </a:solidFill>
              </a:defRPr>
            </a:defPPr>
          </a:lstStyle>
          <a:p xmlns:a="http://schemas.openxmlformats.org/drawingml/2006/main">
            <a:pPr algn="l">
              <a:buNone/>
              <a:defRPr sz="1125" b="0">
                <a:solidFill>
                  <a:srgbClr val="5B5B5B"/>
                </a:solidFill>
              </a:defRPr>
            </a:pPr>
            <a:r>
              <a:rPr sz="1125" b="0">
                <a:solidFill>
                  <a:srgbClr val="5B5B5B"/>
                </a:solidFill>
              </a:rPr>
              <a:t>iA, iB and EPI | baseline → 1000 | shared 0–2 scale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CE83CA-0471-4470-8FE9-4FAD1A22953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d4833ff8c3487a"/>
          <a:stretch xmlns:a="http://schemas.openxmlformats.org/drawingml/2006/main"/>
        </p:blipFill>
        <p:spPr>
          <a:xfrm xmlns:a="http://schemas.openxmlformats.org/drawingml/2006/main">
            <a:off x="457200" y="1241450"/>
            <a:ext cx="8229600" cy="3346401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9EC045-9A09-4370-91AE-49F2B618C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57725"/>
            <a:ext cx="822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B5B5B"/>
                </a:solidFill>
              </a:defRPr>
            </a:defPPr>
          </a:lstStyle>
          <a:p xmlns:a="http://schemas.openxmlformats.org/drawingml/2006/main">
            <a:pPr algn="l">
              <a:buNone/>
              <a:defRPr sz="1050" b="0">
                <a:solidFill>
                  <a:srgbClr val="5B5B5B"/>
                </a:solidFill>
              </a:defRPr>
            </a:pPr>
            <a:r>
              <a:rPr sz="1050" b="0">
                <a:solidFill>
                  <a:srgbClr val="5B5B5B"/>
                </a:solidFill>
              </a:rPr>
              <a:t>Mean x/y/z slopes · endpoints ≥5σ; gray = censored</a:t>
            </a:r>
          </a:p>
        </p:txBody>
      </p:sp>
    </p:spTree>
    <p:extLst>
      <p:ext uri="{BB962C8B-B14F-4D97-AF65-F5344CB8AC3E}">
        <p14:creationId xmlns:p14="http://schemas.microsoft.com/office/powerpoint/2010/main" val="550597152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E9C70F-A3DE-4C88-B196-887911EDF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822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1">
                <a:solidFill>
                  <a:srgbClr val="111111"/>
                </a:solidFill>
              </a:defRPr>
            </a:defPPr>
          </a:lstStyle>
          <a:p xmlns:a="http://schemas.openxmlformats.org/drawingml/2006/main">
            <a:pPr algn="l">
              <a:buNone/>
              <a:defRPr sz="2025" b="1">
                <a:solidFill>
                  <a:srgbClr val="111111"/>
                </a:solidFill>
              </a:defRPr>
            </a:pPr>
            <a:r>
              <a:rPr sz="2025" b="1">
                <a:solidFill>
                  <a:srgbClr val="111111"/>
                </a:solidFill>
              </a:rPr>
              <a:t>ADC maps | in vivo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8E535C-936C-4ECE-8397-2FEB03C3C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822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5B5B5B"/>
                </a:solidFill>
              </a:defRPr>
            </a:defPPr>
          </a:lstStyle>
          <a:p xmlns:a="http://schemas.openxmlformats.org/drawingml/2006/main">
            <a:pPr algn="l">
              <a:buNone/>
              <a:defRPr sz="1125" b="0">
                <a:solidFill>
                  <a:srgbClr val="5B5B5B"/>
                </a:solidFill>
              </a:defRPr>
            </a:pPr>
            <a:r>
              <a:rPr sz="1125" b="0">
                <a:solidFill>
                  <a:srgbClr val="5B5B5B"/>
                </a:solidFill>
              </a:rPr>
              <a:t>iA, iB and EPI | 1000 → 3000 | shared 0–2 scale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6CDF3E-4713-4B1D-844E-97957090956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f6f5b18a494cb3"/>
          <a:stretch xmlns:a="http://schemas.openxmlformats.org/drawingml/2006/main"/>
        </p:blipFill>
        <p:spPr>
          <a:xfrm xmlns:a="http://schemas.openxmlformats.org/drawingml/2006/main">
            <a:off x="457200" y="1241450"/>
            <a:ext cx="8229600" cy="3346401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6E5C4B-ADEB-462F-AE8A-3FB24D8A6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57725"/>
            <a:ext cx="822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B5B5B"/>
                </a:solidFill>
              </a:defRPr>
            </a:defPPr>
          </a:lstStyle>
          <a:p xmlns:a="http://schemas.openxmlformats.org/drawingml/2006/main">
            <a:pPr algn="l">
              <a:buNone/>
              <a:defRPr sz="1050" b="0">
                <a:solidFill>
                  <a:srgbClr val="5B5B5B"/>
                </a:solidFill>
              </a:defRPr>
            </a:pPr>
            <a:r>
              <a:rPr sz="1050" b="0">
                <a:solidFill>
                  <a:srgbClr val="5B5B5B"/>
                </a:solidFill>
              </a:rPr>
              <a:t>Mean x/y/z slopes · endpoints ≥5σ; gray = censored</a:t>
            </a:r>
          </a:p>
        </p:txBody>
      </p:sp>
    </p:spTree>
    <p:extLst>
      <p:ext uri="{BB962C8B-B14F-4D97-AF65-F5344CB8AC3E}">
        <p14:creationId xmlns:p14="http://schemas.microsoft.com/office/powerpoint/2010/main" val="2039549204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9640E4-7333-4550-AA03-482CC72AB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822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1">
                <a:solidFill>
                  <a:srgbClr val="111111"/>
                </a:solidFill>
              </a:defRPr>
            </a:defPPr>
          </a:lstStyle>
          <a:p xmlns:a="http://schemas.openxmlformats.org/drawingml/2006/main">
            <a:pPr algn="l">
              <a:buNone/>
              <a:defRPr sz="2025" b="1">
                <a:solidFill>
                  <a:srgbClr val="111111"/>
                </a:solidFill>
              </a:defRPr>
            </a:pPr>
            <a:r>
              <a:rPr sz="2025" b="1">
                <a:solidFill>
                  <a:srgbClr val="111111"/>
                </a:solidFill>
              </a:rPr>
              <a:t>Navigator geometry | scan 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D31C65-4287-43BE-96AD-283149236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822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5B5B5B"/>
                </a:solidFill>
              </a:defRPr>
            </a:defPPr>
          </a:lstStyle>
          <a:p xmlns:a="http://schemas.openxmlformats.org/drawingml/2006/main">
            <a:pPr algn="l">
              <a:buNone/>
              <a:defRPr sz="1125" b="0">
                <a:solidFill>
                  <a:srgbClr val="5B5B5B"/>
                </a:solidFill>
              </a:defRPr>
            </a:pPr>
            <a:r>
              <a:rPr sz="1125" b="0">
                <a:solidFill>
                  <a:srgbClr val="5B5B5B"/>
                </a:solidFill>
              </a:rPr>
              <a:t>Acquired echo coverage and corrected geometry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A5065A-A928-4516-B12B-778100B7D59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867e11acec4363"/>
          <a:stretch xmlns:a="http://schemas.openxmlformats.org/drawingml/2006/main"/>
        </p:blipFill>
        <p:spPr>
          <a:xfrm xmlns:a="http://schemas.openxmlformats.org/drawingml/2006/main">
            <a:off x="2126761" y="990600"/>
            <a:ext cx="4890478" cy="38290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9833240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103A92-CF5F-4503-8FE8-F5E120A67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822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1">
                <a:solidFill>
                  <a:srgbClr val="111111"/>
                </a:solidFill>
              </a:defRPr>
            </a:defPPr>
          </a:lstStyle>
          <a:p xmlns:a="http://schemas.openxmlformats.org/drawingml/2006/main">
            <a:pPr algn="l">
              <a:buNone/>
              <a:defRPr sz="2025" b="1">
                <a:solidFill>
                  <a:srgbClr val="111111"/>
                </a:solidFill>
              </a:defRPr>
            </a:pPr>
            <a:r>
              <a:rPr sz="2025" b="1">
                <a:solidFill>
                  <a:srgbClr val="111111"/>
                </a:solidFill>
              </a:rPr>
              <a:t>Phase calibration | echo phase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4162E3-88EE-4D8A-8E3A-D4378AAE5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822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5B5B5B"/>
                </a:solidFill>
              </a:defRPr>
            </a:defPPr>
          </a:lstStyle>
          <a:p xmlns:a="http://schemas.openxmlformats.org/drawingml/2006/main">
            <a:pPr algn="l">
              <a:buNone/>
              <a:defRPr sz="1125" b="0">
                <a:solidFill>
                  <a:srgbClr val="5B5B5B"/>
                </a:solidFill>
              </a:defRPr>
            </a:pPr>
            <a:r>
              <a:rPr sz="1125" b="0">
                <a:solidFill>
                  <a:srgbClr val="5B5B5B"/>
                </a:solidFill>
              </a:rPr>
              <a:t>D, E, F and G modes | echo phase and fitted ramp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D3C00B-B218-4859-9339-B645B65F614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fceacc3e754b56"/>
          <a:stretch xmlns:a="http://schemas.openxmlformats.org/drawingml/2006/main"/>
        </p:blipFill>
        <p:spPr>
          <a:xfrm xmlns:a="http://schemas.openxmlformats.org/drawingml/2006/main">
            <a:off x="457200" y="1791709"/>
            <a:ext cx="8229600" cy="222683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6211374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206A86-D8EC-4AD3-88CF-F20A67B75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822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1">
                <a:solidFill>
                  <a:srgbClr val="111111"/>
                </a:solidFill>
              </a:defRPr>
            </a:defPPr>
          </a:lstStyle>
          <a:p xmlns:a="http://schemas.openxmlformats.org/drawingml/2006/main">
            <a:pPr algn="l">
              <a:buNone/>
              <a:defRPr sz="2025" b="1">
                <a:solidFill>
                  <a:srgbClr val="111111"/>
                </a:solidFill>
              </a:defRPr>
            </a:pPr>
            <a:r>
              <a:rPr sz="2025" b="1">
                <a:solidFill>
                  <a:srgbClr val="111111"/>
                </a:solidFill>
              </a:rPr>
              <a:t>Phase calibration | image effects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B6D27D-7060-483A-9A05-9E60D6573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822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5B5B5B"/>
                </a:solidFill>
              </a:defRPr>
            </a:defPPr>
          </a:lstStyle>
          <a:p xmlns:a="http://schemas.openxmlformats.org/drawingml/2006/main">
            <a:pPr algn="l">
              <a:buNone/>
              <a:defRPr sz="1125" b="0">
                <a:solidFill>
                  <a:srgbClr val="5B5B5B"/>
                </a:solidFill>
              </a:defRPr>
            </a:pPr>
            <a:r>
              <a:rPr sz="1125" b="0">
                <a:solidFill>
                  <a:srgbClr val="5B5B5B"/>
                </a:solidFill>
              </a:rPr>
              <a:t>Acquired phase calibration comparison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A64657-DA62-4F3E-A256-D1B6A4E5FC0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cff6b73f394e92"/>
          <a:stretch xmlns:a="http://schemas.openxmlformats.org/drawingml/2006/main"/>
        </p:blipFill>
        <p:spPr>
          <a:xfrm xmlns:a="http://schemas.openxmlformats.org/drawingml/2006/main">
            <a:off x="2637135" y="990600"/>
            <a:ext cx="3869730" cy="38290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2854050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5F99C1-CD02-474A-B1AF-A1086CFE0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822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1">
                <a:solidFill>
                  <a:srgbClr val="111111"/>
                </a:solidFill>
              </a:defRPr>
            </a:defPPr>
          </a:lstStyle>
          <a:p xmlns:a="http://schemas.openxmlformats.org/drawingml/2006/main">
            <a:pPr algn="l">
              <a:buNone/>
              <a:defRPr sz="2025" b="1">
                <a:solidFill>
                  <a:srgbClr val="111111"/>
                </a:solidFill>
              </a:defRPr>
            </a:pPr>
            <a:r>
              <a:rPr sz="2025" b="1">
                <a:solidFill>
                  <a:srgbClr val="111111"/>
                </a:solidFill>
              </a:rPr>
              <a:t>Echo train length | 8 vs 16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176D81-A511-49A5-820F-A14C8A314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822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5B5B5B"/>
                </a:solidFill>
              </a:defRPr>
            </a:defPPr>
          </a:lstStyle>
          <a:p xmlns:a="http://schemas.openxmlformats.org/drawingml/2006/main">
            <a:pPr algn="l">
              <a:buNone/>
              <a:defRPr sz="1125" b="0">
                <a:solidFill>
                  <a:srgbClr val="5B5B5B"/>
                </a:solidFill>
              </a:defRPr>
            </a:pPr>
            <a:r>
              <a:rPr sz="1125" b="0">
                <a:solidFill>
                  <a:srgbClr val="5B5B5B"/>
                </a:solidFill>
              </a:rPr>
              <a:t>Measured image / signal effects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B43A76-AD90-4339-849C-C1467FAEB2E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c1ff8a12cb4697"/>
          <a:stretch xmlns:a="http://schemas.openxmlformats.org/drawingml/2006/main"/>
        </p:blipFill>
        <p:spPr>
          <a:xfrm xmlns:a="http://schemas.openxmlformats.org/drawingml/2006/main">
            <a:off x="1208645" y="990600"/>
            <a:ext cx="6726709" cy="38290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5978726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882F04-D369-4360-9AC6-6C5AE7565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822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1">
                <a:solidFill>
                  <a:srgbClr val="111111"/>
                </a:solidFill>
              </a:defRPr>
            </a:defPPr>
          </a:lstStyle>
          <a:p xmlns:a="http://schemas.openxmlformats.org/drawingml/2006/main">
            <a:pPr algn="l">
              <a:buNone/>
              <a:defRPr sz="2025" b="1">
                <a:solidFill>
                  <a:srgbClr val="111111"/>
                </a:solidFill>
              </a:defRPr>
            </a:pPr>
            <a:r>
              <a:rPr sz="2025" b="1">
                <a:solidFill>
                  <a:srgbClr val="111111"/>
                </a:solidFill>
              </a:rPr>
              <a:t>ss-MGOT | measured depth response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68B45C-ED96-499E-AB6E-ECF6052FA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822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5B5B5B"/>
                </a:solidFill>
              </a:defRPr>
            </a:defPPr>
          </a:lstStyle>
          <a:p xmlns:a="http://schemas.openxmlformats.org/drawingml/2006/main">
            <a:pPr algn="l">
              <a:buNone/>
              <a:defRPr sz="1125" b="0">
                <a:solidFill>
                  <a:srgbClr val="5B5B5B"/>
                </a:solidFill>
              </a:defRPr>
            </a:pPr>
            <a:r>
              <a:rPr sz="1125" b="0">
                <a:solidFill>
                  <a:srgbClr val="5B5B5B"/>
                </a:solidFill>
              </a:rPr>
              <a:t>Measured left-right profile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7FC630-EE2C-4682-B616-5F481C59A0F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8721091a804217"/>
          <a:stretch xmlns:a="http://schemas.openxmlformats.org/drawingml/2006/main"/>
        </p:blipFill>
        <p:spPr>
          <a:xfrm xmlns:a="http://schemas.openxmlformats.org/drawingml/2006/main">
            <a:off x="1297155" y="990600"/>
            <a:ext cx="6549691" cy="38290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8010713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157C7C-52CC-4F63-B84D-1C91829F9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822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1">
                <a:solidFill>
                  <a:srgbClr val="111111"/>
                </a:solidFill>
              </a:defRPr>
            </a:defPPr>
          </a:lstStyle>
          <a:p xmlns:a="http://schemas.openxmlformats.org/drawingml/2006/main">
            <a:pPr algn="l">
              <a:buNone/>
              <a:defRPr sz="2025" b="1">
                <a:solidFill>
                  <a:srgbClr val="111111"/>
                </a:solidFill>
              </a:defRPr>
            </a:pPr>
            <a:r>
              <a:rPr sz="2025" b="1">
                <a:solidFill>
                  <a:srgbClr val="111111"/>
                </a:solidFill>
              </a:rPr>
              <a:t>B1 | targeted simulation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2A6BE9-915E-4040-B97D-F9764AC8B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822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5B5B5B"/>
                </a:solidFill>
              </a:defRPr>
            </a:defPPr>
          </a:lstStyle>
          <a:p xmlns:a="http://schemas.openxmlformats.org/drawingml/2006/main">
            <a:pPr algn="l">
              <a:buNone/>
              <a:defRPr sz="1125" b="0">
                <a:solidFill>
                  <a:srgbClr val="5B5B5B"/>
                </a:solidFill>
              </a:defRPr>
            </a:pPr>
            <a:r>
              <a:rPr sz="1125" b="0">
                <a:solidFill>
                  <a:srgbClr val="5B5B5B"/>
                </a:solidFill>
              </a:rPr>
              <a:t>Modeled B1 sensitivity | simulation, not measured scanner data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6E7AE2-526C-4C25-905A-ACB99F8C4AC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ce9562561044d5"/>
          <a:stretch xmlns:a="http://schemas.openxmlformats.org/drawingml/2006/main"/>
        </p:blipFill>
        <p:spPr>
          <a:xfrm xmlns:a="http://schemas.openxmlformats.org/drawingml/2006/main">
            <a:off x="1495085" y="990600"/>
            <a:ext cx="6153830" cy="38290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8739791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FA9A74-7732-44DC-9587-8586E993B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822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1">
                <a:solidFill>
                  <a:srgbClr val="111111"/>
                </a:solidFill>
              </a:defRPr>
            </a:defPPr>
          </a:lstStyle>
          <a:p xmlns:a="http://schemas.openxmlformats.org/drawingml/2006/main">
            <a:pPr algn="l">
              <a:buNone/>
              <a:defRPr sz="2025" b="1">
                <a:solidFill>
                  <a:srgbClr val="111111"/>
                </a:solidFill>
              </a:defRPr>
            </a:pPr>
            <a:r>
              <a:rPr sz="2025" b="1">
                <a:solidFill>
                  <a:srgbClr val="111111"/>
                </a:solidFill>
              </a:rPr>
              <a:t>Decision and next experiment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401648-2E9E-4C02-9749-998C176AA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781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0">
                <a:solidFill>
                  <a:srgbClr val="111111"/>
                </a:solidFill>
              </a:defRPr>
            </a:defPPr>
          </a:lstStyle>
          <a:p xmlns:a="http://schemas.openxmlformats.org/drawingml/2006/main">
            <a:pPr algn="l">
              <a:buNone/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• Ex vivo: v1.83 ETL8 is the current FSE choice.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450A30-FC55-41B7-9365-E1867EBBC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85975"/>
            <a:ext cx="781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0">
                <a:solidFill>
                  <a:srgbClr val="111111"/>
                </a:solidFill>
              </a:defRPr>
            </a:defPPr>
          </a:lstStyle>
          <a:p xmlns:a="http://schemas.openxmlformats.org/drawingml/2006/main">
            <a:pPr algn="l">
              <a:buNone/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• In vivo: retain EPI; test v1.83 with CHESS at matched geometry.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5D091D-6CAF-448C-A5CC-2B780BD1F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62275"/>
            <a:ext cx="7810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0">
                <a:solidFill>
                  <a:srgbClr val="111111"/>
                </a:solidFill>
              </a:defRPr>
            </a:defPPr>
          </a:lstStyle>
          <a:p xmlns:a="http://schemas.openxmlformats.org/drawingml/2006/main">
            <a:pPr algn="l">
              <a:buNone/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• ss-MGOT: resolve B1 sensitivity and low high-b SNR before whole-brain use.</a:t>
            </a:r>
          </a:p>
        </p:txBody>
      </p:sp>
    </p:spTree>
    <p:extLst>
      <p:ext uri="{BB962C8B-B14F-4D97-AF65-F5344CB8AC3E}">
        <p14:creationId xmlns:p14="http://schemas.microsoft.com/office/powerpoint/2010/main" val="31872079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2026-10-12T22:13:49.5330000Z</dcterms:created>
  <dcterms:modified xsi:type="dcterms:W3CDTF">2026-10-12T22:13:49.5330000Z</dcterms:modified>
</coreProperties>
</file>