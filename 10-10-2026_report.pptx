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5"/>
  </p:sldMasterIdLst>
  <p:notesMasterIdLst>
    <p:notesMasterId r:id="rId6"/>
  </p:notesMasterIdLst>
  <p:sldIdLst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54B63845-327F-4A3D-BE83-BA200AEE6E98}">
  <a:tblStyle styleId="{54B63845-327F-4A3D-BE83-BA200AEE6E98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6.png"/><Relationship Id="rId3" Type="http://schemas.openxmlformats.org/officeDocument/2006/relationships/image" Target="../media/image7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8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9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image" Target="../media/image10.png"/><Relationship Id="rId3" Type="http://schemas.openxmlformats.org/officeDocument/2006/relationships/image" Target="../media/image11.png"/><Relationship Id="rId4" Type="http://schemas.openxmlformats.org/officeDocument/2006/relationships/image" Target="../media/image12.png"/><Relationship Id="rId5" Type="http://schemas.openxmlformats.org/officeDocument/2006/relationships/image" Target="../media/image13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14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15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aphicFrame>
        <p:nvGraphicFramePr>
          <p:cNvPr id="27" name="Google Shape;27;p4"/>
          <p:cNvGraphicFramePr/>
          <p:nvPr/>
        </p:nvGraphicFramePr>
        <p:xfrm>
          <a:off x="301942" y="528517"/>
          <a:ext cx="7498079" cy="3000000"/>
        </p:xfrm>
        <a:graphic>
          <a:graphicData uri="http://schemas.openxmlformats.org/drawingml/2006/table">
            <a:tbl>
              <a:tblPr>
                <a:noFill/>
                <a:tableStyleId>{73BB658B-42DE-442A-99D8-BBBD18C3A753}</a:tableStyleId>
              </a:tblPr>
              <a:tblGrid>
                <a:gridCol w="3291840"/>
                <a:gridCol w="4206240"/>
              </a:tblGrid>
              <a:tr h="4381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Total Scan Time</a:t>
                      </a:r>
                      <a:endParaRPr sz="1200" u="none" cap="none" strike="noStrik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25400" marB="25400" marR="76200" marL="76200" anchor="ctr">
                    <a:lnL cap="flat" cmpd="sng" w="9525">
                      <a:solidFill>
                        <a:srgbClr val="22282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2282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2282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2282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~4.5 minutes (7 b-values)</a:t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25400" marB="25400" marR="76200" marL="76200" anchor="ctr">
                    <a:lnL cap="flat" cmpd="sng" w="9525">
                      <a:solidFill>
                        <a:srgbClr val="22282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2282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2282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2282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381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6E767C"/>
                        </a:buClr>
                        <a:buSzPts val="1050"/>
                        <a:buFont typeface="Calibri"/>
                        <a:buNone/>
                      </a:pPr>
                      <a:r>
                        <a:rPr lang="en-US" sz="12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TR, TE, esp</a:t>
                      </a:r>
                      <a:endParaRPr sz="1200" u="none" cap="none" strike="noStrik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25400" marB="25400" marR="76200" marL="76200" anchor="ctr">
                    <a:lnL cap="flat" cmpd="sng" w="9525">
                      <a:solidFill>
                        <a:srgbClr val="22282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2282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2282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2282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D2691E"/>
                        </a:buClr>
                        <a:buSzPts val="1050"/>
                        <a:buFont typeface="Calibri"/>
                        <a:buNone/>
                      </a:pPr>
                      <a:r>
                        <a:rPr lang="en-US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2000 ms / 54 ms / 14 ms (v1.911: 13 ms)</a:t>
                      </a:r>
                      <a:endParaRPr sz="1200" u="none" cap="none" strike="noStrik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25400" marB="25400" marR="76200" marL="76200" anchor="ctr">
                    <a:lnL cap="flat" cmpd="sng" w="9525">
                      <a:solidFill>
                        <a:srgbClr val="22282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2282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2282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2282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381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6E767C"/>
                        </a:buClr>
                        <a:buSzPts val="1050"/>
                        <a:buFont typeface="Calibri"/>
                        <a:buNone/>
                      </a:pPr>
                      <a:r>
                        <a:rPr lang="en-US" sz="12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PE_order</a:t>
                      </a:r>
                      <a:endParaRPr sz="1200" u="none" cap="none" strike="noStrik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25400" marB="25400" marR="76200" marL="76200" anchor="ctr">
                    <a:lnL cap="flat" cmpd="sng" w="9525">
                      <a:solidFill>
                        <a:srgbClr val="22282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2282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2282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2282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D2691E"/>
                        </a:buClr>
                        <a:buSzPts val="1050"/>
                        <a:buFont typeface="Calibri"/>
                        <a:buNone/>
                      </a:pPr>
                      <a:r>
                        <a:rPr lang="en-US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sz="1200" u="none" cap="none" strike="noStrik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25400" marB="25400" marR="76200" marL="76200" anchor="ctr">
                    <a:lnL cap="flat" cmpd="sng" w="9525">
                      <a:solidFill>
                        <a:srgbClr val="22282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2282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2282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2282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381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6E767C"/>
                        </a:buClr>
                        <a:buSzPts val="1050"/>
                        <a:buFont typeface="Calibri"/>
                        <a:buNone/>
                      </a:pPr>
                      <a:r>
                        <a:rPr lang="en-US" sz="12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ETL / Averages</a:t>
                      </a:r>
                      <a:endParaRPr sz="1200" u="none" cap="none" strike="noStrik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25400" marB="25400" marR="76200" marL="76200" anchor="ctr">
                    <a:lnL cap="flat" cmpd="sng" w="9525">
                      <a:solidFill>
                        <a:srgbClr val="22282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2282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2282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2282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D2691E"/>
                        </a:buClr>
                        <a:buSzPts val="1050"/>
                        <a:buFont typeface="Calibri"/>
                        <a:buNone/>
                      </a:pPr>
                      <a:r>
                        <a:rPr lang="en-US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8 / 1</a:t>
                      </a:r>
                      <a:endParaRPr sz="1200" u="none" cap="none" strike="noStrik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25400" marB="25400" marR="76200" marL="76200" anchor="ctr">
                    <a:lnL cap="flat" cmpd="sng" w="9525">
                      <a:solidFill>
                        <a:srgbClr val="22282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2282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2282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2282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381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6E767C"/>
                        </a:buClr>
                        <a:buSzPts val="1050"/>
                        <a:buFont typeface="Calibri"/>
                        <a:buNone/>
                      </a:pPr>
                      <a:r>
                        <a:rPr lang="en-US" sz="12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FOV</a:t>
                      </a:r>
                      <a:endParaRPr sz="1200" u="none" cap="none" strike="noStrik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25400" marB="25400" marR="76200" marL="76200" anchor="ctr">
                    <a:lnL cap="flat" cmpd="sng" w="9525">
                      <a:solidFill>
                        <a:srgbClr val="22282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2282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2282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2282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D2691E"/>
                        </a:buClr>
                        <a:buSzPts val="1050"/>
                        <a:buFont typeface="Calibri"/>
                        <a:buNone/>
                      </a:pPr>
                      <a:r>
                        <a:rPr lang="en-US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35</a:t>
                      </a:r>
                      <a:endParaRPr sz="1200" u="none" cap="none" strike="noStrik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25400" marB="25400" marR="76200" marL="76200" anchor="ctr">
                    <a:lnL cap="flat" cmpd="sng" w="9525">
                      <a:solidFill>
                        <a:srgbClr val="22282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2282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2282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2282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381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6E767C"/>
                        </a:buClr>
                        <a:buSzPts val="1050"/>
                        <a:buFont typeface="Calibri"/>
                        <a:buNone/>
                      </a:pPr>
                      <a:r>
                        <a:rPr lang="en-US" sz="12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b-values</a:t>
                      </a:r>
                      <a:endParaRPr sz="1200" u="none" cap="none" strike="noStrik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25400" marB="25400" marR="76200" marL="76200" anchor="ctr">
                    <a:lnL cap="flat" cmpd="sng" w="9525">
                      <a:solidFill>
                        <a:srgbClr val="22282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2282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2282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2282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D2691E"/>
                        </a:buClr>
                        <a:buSzPts val="1050"/>
                        <a:buFont typeface="Calibri"/>
                        <a:buNone/>
                      </a:pPr>
                      <a:r>
                        <a:rPr lang="en-US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0, 100, 500, 1000, 2000, 3000, 6000 s/mm²</a:t>
                      </a:r>
                      <a:endParaRPr sz="1200" u="none" cap="none" strike="noStrik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25400" marB="25400" marR="76200" marL="76200" anchor="ctr">
                    <a:lnL cap="flat" cmpd="sng" w="9525">
                      <a:solidFill>
                        <a:srgbClr val="22282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2282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2282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2282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381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6E767C"/>
                        </a:buClr>
                        <a:buSzPts val="1050"/>
                        <a:buFont typeface="Calibri"/>
                        <a:buNone/>
                      </a:pPr>
                      <a:r>
                        <a:rPr lang="en-US" sz="12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Diffusion Directions</a:t>
                      </a:r>
                      <a:endParaRPr sz="1200" u="none" cap="none" strike="noStrik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25400" marB="25400" marR="76200" marL="76200" anchor="ctr">
                    <a:lnL cap="flat" cmpd="sng" w="9525">
                      <a:solidFill>
                        <a:srgbClr val="22282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2282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2282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2282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D2691E"/>
                        </a:buClr>
                        <a:buSzPts val="1050"/>
                        <a:buFont typeface="Calibri"/>
                        <a:buNone/>
                      </a:pPr>
                      <a:r>
                        <a:rPr lang="en-US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 (x-axis)</a:t>
                      </a:r>
                      <a:endParaRPr sz="1200" u="none" cap="none" strike="noStrik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25400" marB="25400" marR="76200" marL="76200" anchor="ctr">
                    <a:lnL cap="flat" cmpd="sng" w="9525">
                      <a:solidFill>
                        <a:srgbClr val="22282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2282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2282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2282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381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6E767C"/>
                        </a:buClr>
                        <a:buSzPts val="1050"/>
                        <a:buFont typeface="Calibri"/>
                        <a:buNone/>
                      </a:pPr>
                      <a:r>
                        <a:rPr lang="en-US" sz="12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Small / Big Delta</a:t>
                      </a:r>
                      <a:endParaRPr sz="1200" u="none" cap="none" strike="noStrik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25400" marB="25400" marR="76200" marL="76200" anchor="ctr">
                    <a:lnL cap="flat" cmpd="sng" w="9525">
                      <a:solidFill>
                        <a:srgbClr val="22282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2282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2282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2282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D2691E"/>
                        </a:buClr>
                        <a:buSzPts val="1050"/>
                        <a:buFont typeface="Calibri"/>
                        <a:buNone/>
                      </a:pPr>
                      <a:r>
                        <a:rPr lang="en-US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 ms / 40 ms</a:t>
                      </a:r>
                      <a:endParaRPr sz="1200" u="none" cap="none" strike="noStrik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25400" marB="25400" marR="76200" marL="76200" anchor="ctr">
                    <a:lnL cap="flat" cmpd="sng" w="9525">
                      <a:solidFill>
                        <a:srgbClr val="22282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2282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2282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2282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381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6E767C"/>
                        </a:buClr>
                        <a:buSzPts val="1050"/>
                        <a:buFont typeface="Calibri"/>
                        <a:buNone/>
                      </a:pPr>
                      <a:r>
                        <a:rPr lang="en-US" sz="12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diff_tcrush / tcrush</a:t>
                      </a:r>
                      <a:endParaRPr sz="1200" u="none" cap="none" strike="noStrik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25400" marB="25400" marR="76200" marL="76200" anchor="ctr">
                    <a:lnL cap="flat" cmpd="sng" w="9525">
                      <a:solidFill>
                        <a:srgbClr val="22282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2282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2282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2282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D2691E"/>
                        </a:buClr>
                        <a:buSzPts val="1050"/>
                        <a:buFont typeface="Calibri"/>
                        <a:buNone/>
                      </a:pPr>
                      <a:r>
                        <a:rPr lang="en-US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1000 us / 1000 us</a:t>
                      </a:r>
                      <a:endParaRPr sz="1200" u="none" cap="none" strike="noStrik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25400" marB="25400" marR="76200" marL="76200" anchor="ctr">
                    <a:lnL cap="flat" cmpd="sng" w="9525">
                      <a:solidFill>
                        <a:srgbClr val="22282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2282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2282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2282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381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6E767C"/>
                        </a:buClr>
                        <a:buSzPts val="1050"/>
                        <a:buFont typeface="Calibri"/>
                        <a:buNone/>
                      </a:pPr>
                      <a:r>
                        <a:rPr lang="en-US" sz="12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diff_tcrush_amplitude / t_crush_amplitude</a:t>
                      </a:r>
                      <a:endParaRPr sz="1200" u="none" cap="none" strike="noStrik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25400" marB="25400" marR="76200" marL="76200" anchor="ctr">
                    <a:lnL cap="flat" cmpd="sng" w="9525">
                      <a:solidFill>
                        <a:srgbClr val="22282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2282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2282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2282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D2691E"/>
                        </a:buClr>
                        <a:buSzPts val="1050"/>
                        <a:buFont typeface="Calibri"/>
                        <a:buNone/>
                      </a:pPr>
                      <a:r>
                        <a:rPr lang="en-US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-5482 DAC units / -8223 DAC units</a:t>
                      </a:r>
                      <a:endParaRPr sz="1200" u="none" cap="none" strike="noStrik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25400" marB="25400" marR="76200" marL="76200" anchor="ctr">
                    <a:lnL cap="flat" cmpd="sng" w="9525">
                      <a:solidFill>
                        <a:srgbClr val="22282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2282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2282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2282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28" name="Google Shape;28;p4"/>
          <p:cNvSpPr txBox="1"/>
          <p:nvPr/>
        </p:nvSpPr>
        <p:spPr>
          <a:xfrm>
            <a:off x="301975" y="0"/>
            <a:ext cx="8588700" cy="31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Test A / B </a:t>
            </a:r>
            <a:r>
              <a:rPr lang="en-US" sz="1600">
                <a:solidFill>
                  <a:schemeClr val="dk1"/>
                </a:solidFill>
                <a:highlight>
                  <a:srgbClr val="FFFF00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v1.81 vs v1.911</a:t>
            </a:r>
            <a:r>
              <a:rPr lang="en-US" sz="1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: FSE DWI: Water Phantom</a:t>
            </a:r>
            <a:endParaRPr sz="16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aphicFrame>
        <p:nvGraphicFramePr>
          <p:cNvPr id="59" name="Google Shape;59;p14"/>
          <p:cNvGraphicFramePr/>
          <p:nvPr/>
        </p:nvGraphicFramePr>
        <p:xfrm>
          <a:off x="788963" y="369050"/>
          <a:ext cx="7406640" cy="3000000"/>
        </p:xfrm>
        <a:graphic>
          <a:graphicData uri="http://schemas.openxmlformats.org/drawingml/2006/table">
            <a:tbl>
              <a:tblPr>
                <a:noFill/>
                <a:tableStyleId>{54B63845-327F-4A3D-BE83-BA200AEE6E98}</a:tableStyleId>
              </a:tblPr>
              <a:tblGrid>
                <a:gridCol w="1463040"/>
                <a:gridCol w="1554480"/>
                <a:gridCol w="1417320"/>
                <a:gridCol w="1554480"/>
                <a:gridCol w="1417320"/>
              </a:tblGrid>
              <a:tr h="5506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Direction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v1.81 ADC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v1.81 % diff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v1.911 ADC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v1.911 % diff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5506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Positive x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1.8235e-03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-2.35%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1.8646e-03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-0.32%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5506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Negative x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1.8396e-03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-1.49%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1.7836e-03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-4.65%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5506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Positive y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1.8434e-03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-1.29%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1.8357e-03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-1.87%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5506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Positive z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1.9634e-03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+5.14%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1.9987e-03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+6.85%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5506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Mean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1.8675e-03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0.00%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1.8706e-03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0.00%</a:t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it_v18_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5176" y="914400"/>
            <a:ext cx="4224528" cy="3168396"/>
          </a:xfrm>
          <a:prstGeom prst="rect">
            <a:avLst/>
          </a:prstGeom>
        </p:spPr>
      </p:pic>
      <p:pic>
        <p:nvPicPr>
          <p:cNvPr id="3" name="Picture 2" descr="fit_v181_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54296" y="914400"/>
            <a:ext cx="4224528" cy="3168396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apparent_adc_nomin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4672" y="155448"/>
            <a:ext cx="7543800" cy="4849586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aphicFrame>
        <p:nvGraphicFramePr>
          <p:cNvPr id="59" name="Google Shape;59;p14"/>
          <p:cNvGraphicFramePr/>
          <p:nvPr/>
        </p:nvGraphicFramePr>
        <p:xfrm>
          <a:off x="320040" y="822960"/>
          <a:ext cx="4480560" cy="3000000"/>
        </p:xfrm>
        <a:graphic>
          <a:graphicData uri="http://schemas.openxmlformats.org/drawingml/2006/table">
            <a:tbl>
              <a:tblPr>
                <a:noFill/>
                <a:tableStyleId>{54B63845-327F-4A3D-BE83-BA200AEE6E98}</a:tableStyleId>
              </a:tblPr>
              <a:tblGrid>
                <a:gridCol w="1143000"/>
                <a:gridCol w="1097280"/>
                <a:gridCol w="1097280"/>
                <a:gridCol w="1143000"/>
              </a:tblGrid>
              <a:tr h="5506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Nominal b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v1.8 (+x)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v1.8 (-x)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v1.81 (±x)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5506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12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12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4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5506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100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165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59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104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5506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1000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1176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842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1001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5506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6000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6398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5579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5981</a:t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graphicFrame>
        <p:nvGraphicFramePr>
          <p:cNvPr id="59" name="Google Shape;59;p14"/>
          <p:cNvGraphicFramePr/>
          <p:nvPr/>
        </p:nvGraphicFramePr>
        <p:xfrm>
          <a:off x="5257800" y="822960"/>
          <a:ext cx="3337560" cy="3000000"/>
        </p:xfrm>
        <a:graphic>
          <a:graphicData uri="http://schemas.openxmlformats.org/drawingml/2006/table">
            <a:tbl>
              <a:tblPr>
                <a:noFill/>
                <a:tableStyleId>{54B63845-327F-4A3D-BE83-BA200AEE6E98}</a:tableStyleId>
              </a:tblPr>
              <a:tblGrid>
                <a:gridCol w="1143000"/>
                <a:gridCol w="1097280"/>
                <a:gridCol w="1097280"/>
              </a:tblGrid>
              <a:tr h="5506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Sequence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Nominal b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Effective b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5506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v1.8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1.98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1.84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5506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v1.81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1.85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1.86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5506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v1.91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1.77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1.78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5506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v1.911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1.82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1.83</a:t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sp>
        <p:nvSpPr>
          <p:cNvPr id="36" name="Google Shape;36;p5"/>
          <p:cNvSpPr txBox="1"/>
          <p:nvPr/>
        </p:nvSpPr>
        <p:spPr>
          <a:xfrm>
            <a:off x="320040" y="411480"/>
            <a:ext cx="4480560" cy="26517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13700" spcFirstLastPara="1" rIns="1370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50" u="none" cap="none" strike="noStrike">
                <a:solidFill>
                  <a:srgbClr val="55555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Effective b-value (s/mm²)</a:t>
            </a:r>
            <a:endParaRPr/>
          </a:p>
        </p:txBody>
      </p:sp>
      <p:sp>
        <p:nvSpPr>
          <p:cNvPr id="36" name="Google Shape;36;p5"/>
          <p:cNvSpPr txBox="1"/>
          <p:nvPr/>
        </p:nvSpPr>
        <p:spPr>
          <a:xfrm>
            <a:off x="5257800" y="411480"/>
            <a:ext cx="3337560" cy="26517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13700" spcFirstLastPara="1" rIns="1370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50" u="none" cap="none" strike="noStrike">
                <a:solidFill>
                  <a:srgbClr val="55555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ADC (×10⁻³ mm²/s)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adc_nominal_vs_effectiv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731520"/>
            <a:ext cx="8778240" cy="366691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4" name="Google Shape;34;p5"/>
          <p:cNvSpPr txBox="1"/>
          <p:nvPr/>
        </p:nvSpPr>
        <p:spPr>
          <a:xfrm>
            <a:off x="429768" y="310896"/>
            <a:ext cx="1188720" cy="23774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13700" spcFirstLastPara="1" rIns="13700" wrap="square" tIns="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50" u="none" cap="none" strike="noStrike">
                <a:solidFill>
                  <a:srgbClr val="55555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v1.81</a:t>
            </a:r>
            <a:endParaRPr/>
          </a:p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50" u="none" cap="none" strike="noStrike">
                <a:solidFill>
                  <a:srgbClr val="55555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SNR 101 / 56</a:t>
            </a:r>
            <a:endParaRPr/>
          </a:p>
        </p:txBody>
      </p:sp>
      <p:sp>
        <p:nvSpPr>
          <p:cNvPr id="35" name="Google Shape;35;p5"/>
          <p:cNvSpPr txBox="1"/>
          <p:nvPr/>
        </p:nvSpPr>
        <p:spPr>
          <a:xfrm>
            <a:off x="429768" y="2743200"/>
            <a:ext cx="1188720" cy="23774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13700" spcFirstLastPara="1" rIns="13700" wrap="square" tIns="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50" u="none" cap="none" strike="noStrike">
                <a:solidFill>
                  <a:srgbClr val="55555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v1.911</a:t>
            </a:r>
            <a:endParaRPr/>
          </a:p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50" u="none" cap="none" strike="noStrike">
                <a:solidFill>
                  <a:srgbClr val="55555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SNR 92 / 22</a:t>
            </a:r>
            <a:endParaRPr/>
          </a:p>
        </p:txBody>
      </p:sp>
      <p:sp>
        <p:nvSpPr>
          <p:cNvPr id="36" name="Google Shape;36;p5"/>
          <p:cNvSpPr txBox="1"/>
          <p:nvPr/>
        </p:nvSpPr>
        <p:spPr>
          <a:xfrm>
            <a:off x="1673352" y="9144"/>
            <a:ext cx="2862072" cy="26517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13700" spcFirstLastPara="1" rIns="1370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50" u="none" cap="none" strike="noStrike">
                <a:solidFill>
                  <a:srgbClr val="55555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 = 0 s/mm²</a:t>
            </a:r>
            <a:endParaRPr/>
          </a:p>
        </p:txBody>
      </p:sp>
      <p:sp>
        <p:nvSpPr>
          <p:cNvPr id="39" name="Google Shape;39;p5"/>
          <p:cNvSpPr txBox="1"/>
          <p:nvPr/>
        </p:nvSpPr>
        <p:spPr>
          <a:xfrm>
            <a:off x="4608576" y="9144"/>
            <a:ext cx="2862072" cy="26517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13700" spcFirstLastPara="1" rIns="1370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50" u="none" cap="none" strike="noStrike">
                <a:solidFill>
                  <a:srgbClr val="55555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 = 1000 s/mm²</a:t>
            </a:r>
            <a:endParaRPr/>
          </a:p>
        </p:txBody>
      </p:sp>
      <p:pic>
        <p:nvPicPr>
          <p:cNvPr id="40" name="Picture 39" descr="img_A_b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73352" y="310896"/>
            <a:ext cx="2862072" cy="2377440"/>
          </a:xfrm>
          <a:prstGeom prst="rect">
            <a:avLst/>
          </a:prstGeom>
        </p:spPr>
      </p:pic>
      <p:pic>
        <p:nvPicPr>
          <p:cNvPr id="41" name="Picture 40" descr="img_A_b100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08576" y="310896"/>
            <a:ext cx="2862072" cy="2377440"/>
          </a:xfrm>
          <a:prstGeom prst="rect">
            <a:avLst/>
          </a:prstGeom>
        </p:spPr>
      </p:pic>
      <p:pic>
        <p:nvPicPr>
          <p:cNvPr id="42" name="Picture 41" descr="img_B_b0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73352" y="2743200"/>
            <a:ext cx="2862072" cy="2377440"/>
          </a:xfrm>
          <a:prstGeom prst="rect">
            <a:avLst/>
          </a:prstGeom>
        </p:spPr>
      </p:pic>
      <p:pic>
        <p:nvPicPr>
          <p:cNvPr id="43" name="Picture 42" descr="img_B_b1000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08576" y="2743200"/>
            <a:ext cx="2862072" cy="237744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aphicFrame>
        <p:nvGraphicFramePr>
          <p:cNvPr id="59" name="Google Shape;59;p14"/>
          <p:cNvGraphicFramePr/>
          <p:nvPr/>
        </p:nvGraphicFramePr>
        <p:xfrm>
          <a:off x="228600" y="777240"/>
          <a:ext cx="3246120" cy="3200400"/>
        </p:xfrm>
        <a:graphic>
          <a:graphicData uri="http://schemas.openxmlformats.org/drawingml/2006/table">
            <a:tbl>
              <a:tblPr>
                <a:noFill/>
                <a:tableStyleId>{54B63845-327F-4A3D-BE83-BA200AEE6E98}</a:tableStyleId>
              </a:tblPr>
              <a:tblGrid>
                <a:gridCol w="1417320"/>
                <a:gridCol w="777240"/>
                <a:gridCol w="1051560"/>
              </a:tblGrid>
              <a:tr h="4572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v1.81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v1.911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4572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ESP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14 ms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13 ms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4572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First echo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54 ms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72.7 ms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4572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b0 signal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1.00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0.37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4572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b1000 / b0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0.157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0.157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4572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ADC (×10⁻³ mm²/s)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1.86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1.83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4572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Slices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Multi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Single only</a:t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pic>
        <p:nvPicPr>
          <p:cNvPr id="60" name="Picture 59" descr="echo_trai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11880" y="731520"/>
            <a:ext cx="5349240" cy="3438797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equence_bot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91440"/>
            <a:ext cx="9144000" cy="493776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83" name="Google Shape;83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Next Steps</a:t>
            </a:r>
            <a:endParaRPr/>
          </a:p>
        </p:txBody>
      </p:sp>
      <p:sp>
        <p:nvSpPr>
          <p:cNvPr id="84" name="Google Shape;84;p1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Use b ≈ 10 instead of b = 0 on v1.81 (echo-1 s0 artifact)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Calibrate z-axis b-value (acquire ±z; z reads ~6% high)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Fix off-centre slice phase for multi-slice v1.81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Repeat on ex-vivo brain (v1.81 main, v1.911 comparison)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Motion test v1.81 vs v1.911 to choose the in-vivo sequence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